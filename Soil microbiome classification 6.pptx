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256" r:id="rId2"/>
    <p:sldId id="257" r:id="rId3"/>
    <p:sldId id="301" r:id="rId4"/>
    <p:sldId id="284" r:id="rId5"/>
    <p:sldId id="285" r:id="rId6"/>
    <p:sldId id="300" r:id="rId7"/>
    <p:sldId id="267" r:id="rId8"/>
    <p:sldId id="266" r:id="rId9"/>
    <p:sldId id="271" r:id="rId10"/>
    <p:sldId id="260" r:id="rId11"/>
    <p:sldId id="288" r:id="rId12"/>
    <p:sldId id="263" r:id="rId13"/>
    <p:sldId id="289" r:id="rId14"/>
    <p:sldId id="262" r:id="rId15"/>
    <p:sldId id="290" r:id="rId16"/>
    <p:sldId id="272" r:id="rId17"/>
    <p:sldId id="291" r:id="rId18"/>
    <p:sldId id="273" r:id="rId19"/>
    <p:sldId id="292" r:id="rId20"/>
    <p:sldId id="274" r:id="rId21"/>
    <p:sldId id="293" r:id="rId22"/>
    <p:sldId id="286" r:id="rId23"/>
    <p:sldId id="280" r:id="rId24"/>
    <p:sldId id="276" r:id="rId25"/>
    <p:sldId id="281" r:id="rId26"/>
    <p:sldId id="294" r:id="rId27"/>
    <p:sldId id="282" r:id="rId28"/>
    <p:sldId id="295" r:id="rId29"/>
    <p:sldId id="283" r:id="rId30"/>
    <p:sldId id="296" r:id="rId31"/>
    <p:sldId id="277" r:id="rId32"/>
    <p:sldId id="297" r:id="rId33"/>
    <p:sldId id="279" r:id="rId34"/>
    <p:sldId id="298" r:id="rId35"/>
    <p:sldId id="278" r:id="rId36"/>
    <p:sldId id="299" r:id="rId37"/>
    <p:sldId id="287" r:id="rId38"/>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7D"/>
    <a:srgbClr val="000000"/>
    <a:srgbClr val="664327"/>
    <a:srgbClr val="FFCCFF"/>
    <a:srgbClr val="4430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63" autoAdjust="0"/>
    <p:restoredTop sz="94660"/>
  </p:normalViewPr>
  <p:slideViewPr>
    <p:cSldViewPr>
      <p:cViewPr varScale="1">
        <p:scale>
          <a:sx n="73" d="100"/>
          <a:sy n="73" d="100"/>
        </p:scale>
        <p:origin x="1386" y="72"/>
      </p:cViewPr>
      <p:guideLst>
        <p:guide orient="horz" pos="2160"/>
        <p:guide pos="2880"/>
      </p:guideLst>
    </p:cSldViewPr>
  </p:slideViewPr>
  <p:notesTextViewPr>
    <p:cViewPr>
      <p:scale>
        <a:sx n="100" d="100"/>
        <a:sy n="100" d="100"/>
      </p:scale>
      <p:origin x="0" y="0"/>
    </p:cViewPr>
  </p:notesTextViewPr>
  <p:notesViewPr>
    <p:cSldViewPr>
      <p:cViewPr varScale="1">
        <p:scale>
          <a:sx n="73" d="100"/>
          <a:sy n="73" d="100"/>
        </p:scale>
        <p:origin x="-1548"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ru-RU"/>
          </a:p>
        </p:txBody>
      </p:sp>
      <p:sp>
        <p:nvSpPr>
          <p:cNvPr id="6963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ru-RU"/>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6963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noProof="0" smtClean="0"/>
              <a:t>Click to edit Master text styles</a:t>
            </a:r>
          </a:p>
          <a:p>
            <a:pPr lvl="1"/>
            <a:r>
              <a:rPr lang="ru-RU" noProof="0" smtClean="0"/>
              <a:t>Second level</a:t>
            </a:r>
          </a:p>
          <a:p>
            <a:pPr lvl="2"/>
            <a:r>
              <a:rPr lang="ru-RU" noProof="0" smtClean="0"/>
              <a:t>Third level</a:t>
            </a:r>
          </a:p>
          <a:p>
            <a:pPr lvl="3"/>
            <a:r>
              <a:rPr lang="ru-RU" noProof="0" smtClean="0"/>
              <a:t>Fourth level</a:t>
            </a:r>
          </a:p>
          <a:p>
            <a:pPr lvl="4"/>
            <a:r>
              <a:rPr lang="ru-RU" noProof="0" smtClean="0"/>
              <a:t>Fifth level</a:t>
            </a:r>
          </a:p>
        </p:txBody>
      </p:sp>
      <p:sp>
        <p:nvSpPr>
          <p:cNvPr id="6963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ru-RU"/>
          </a:p>
        </p:txBody>
      </p:sp>
      <p:sp>
        <p:nvSpPr>
          <p:cNvPr id="6963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34E98E11-1D3D-4A36-99D4-3B7EE6313730}" type="slidenum">
              <a:rPr lang="ru-RU"/>
              <a:pPr>
                <a:defRPr/>
              </a:pPr>
              <a:t>‹#›</a:t>
            </a:fld>
            <a:endParaRPr lang="ru-RU"/>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466725" y="981075"/>
            <a:ext cx="6913563" cy="893763"/>
          </a:xfrm>
        </p:spPr>
        <p:txBody>
          <a:bodyPr/>
          <a:lstStyle>
            <a:lvl1pPr>
              <a:defRPr sz="3200"/>
            </a:lvl1pPr>
          </a:lstStyle>
          <a:p>
            <a:pPr lvl="0"/>
            <a:r>
              <a:rPr lang="en-US" noProof="0" smtClean="0"/>
              <a:t>Click to edit Master title style</a:t>
            </a:r>
            <a:endParaRPr lang="ru-RU" noProof="0" smtClean="0"/>
          </a:p>
        </p:txBody>
      </p:sp>
      <p:sp>
        <p:nvSpPr>
          <p:cNvPr id="5123" name="Rectangle 3"/>
          <p:cNvSpPr>
            <a:spLocks noGrp="1" noChangeArrowheads="1"/>
          </p:cNvSpPr>
          <p:nvPr>
            <p:ph type="subTitle" idx="1"/>
          </p:nvPr>
        </p:nvSpPr>
        <p:spPr>
          <a:xfrm>
            <a:off x="466725" y="1773238"/>
            <a:ext cx="6913563" cy="503237"/>
          </a:xfrm>
          <a:effectLst>
            <a:outerShdw dist="17961" dir="2700000" algn="ctr" rotWithShape="0">
              <a:schemeClr val="bg2"/>
            </a:outerShdw>
          </a:effectLst>
        </p:spPr>
        <p:txBody>
          <a:bodyPr/>
          <a:lstStyle>
            <a:lvl1pPr marL="0" indent="0">
              <a:buFontTx/>
              <a:buNone/>
              <a:defRPr sz="2400" b="1">
                <a:solidFill>
                  <a:schemeClr val="bg1"/>
                </a:solidFill>
              </a:defRPr>
            </a:lvl1pPr>
          </a:lstStyle>
          <a:p>
            <a:pPr lvl="0"/>
            <a:r>
              <a:rPr lang="en-US" noProof="0" smtClean="0"/>
              <a:t>Click to edit Master subtitle style</a:t>
            </a:r>
            <a:endParaRPr lang="ru-RU"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Click to edit Master title style</a:t>
            </a:r>
            <a:endParaRPr lang="ru-RU"/>
          </a:p>
        </p:txBody>
      </p:sp>
      <p:sp>
        <p:nvSpPr>
          <p:cNvPr id="3" name="Объект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Click to edit Master title style</a:t>
            </a:r>
            <a:endParaRPr lang="ru-RU"/>
          </a:p>
        </p:txBody>
      </p:sp>
      <p:sp>
        <p:nvSpPr>
          <p:cNvPr id="3" name="Объект 2"/>
          <p:cNvSpPr>
            <a:spLocks noGrp="1"/>
          </p:cNvSpPr>
          <p:nvPr>
            <p:ph sz="half" idx="1"/>
          </p:nvPr>
        </p:nvSpPr>
        <p:spPr>
          <a:xfrm>
            <a:off x="1474788" y="1052513"/>
            <a:ext cx="3703637"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Объект 3"/>
          <p:cNvSpPr>
            <a:spLocks noGrp="1"/>
          </p:cNvSpPr>
          <p:nvPr>
            <p:ph sz="half" idx="2"/>
          </p:nvPr>
        </p:nvSpPr>
        <p:spPr>
          <a:xfrm>
            <a:off x="5330825" y="1052513"/>
            <a:ext cx="3705225"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Click to edit Master title style</a:t>
            </a:r>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ru-RU" noProof="0" smtClean="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smtClean="0"/>
              <a:t>Click to edit Master title style</a:t>
            </a:r>
            <a:endParaRPr lang="ru-RU"/>
          </a:p>
        </p:txBody>
      </p:sp>
      <p:sp>
        <p:nvSpPr>
          <p:cNvPr id="3" name="Вертикальный текст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46925" y="182563"/>
            <a:ext cx="1889125" cy="6559550"/>
          </a:xfrm>
        </p:spPr>
        <p:txBody>
          <a:bodyPr vert="eaVert"/>
          <a:lstStyle/>
          <a:p>
            <a:r>
              <a:rPr lang="en-US" smtClean="0"/>
              <a:t>Click to edit Master title style</a:t>
            </a:r>
            <a:endParaRPr lang="ru-RU"/>
          </a:p>
        </p:txBody>
      </p:sp>
      <p:sp>
        <p:nvSpPr>
          <p:cNvPr id="3" name="Вертикальный текст 2"/>
          <p:cNvSpPr>
            <a:spLocks noGrp="1"/>
          </p:cNvSpPr>
          <p:nvPr>
            <p:ph type="body" orient="vert" idx="1"/>
          </p:nvPr>
        </p:nvSpPr>
        <p:spPr>
          <a:xfrm>
            <a:off x="1474788" y="182563"/>
            <a:ext cx="5519737" cy="65595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76375" y="182563"/>
            <a:ext cx="7559675" cy="508000"/>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ru-RU" smtClean="0"/>
          </a:p>
        </p:txBody>
      </p:sp>
      <p:sp>
        <p:nvSpPr>
          <p:cNvPr id="1027" name="Rectangle 3"/>
          <p:cNvSpPr>
            <a:spLocks noGrp="1" noChangeArrowheads="1"/>
          </p:cNvSpPr>
          <p:nvPr>
            <p:ph type="body" idx="1"/>
          </p:nvPr>
        </p:nvSpPr>
        <p:spPr bwMode="auto">
          <a:xfrm>
            <a:off x="1474788" y="1052513"/>
            <a:ext cx="7561262" cy="5689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smtClean="0"/>
          </a:p>
        </p:txBody>
      </p:sp>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b="1">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28600" y="1371600"/>
            <a:ext cx="5638800" cy="793750"/>
          </a:xfrm>
          <a:noFill/>
        </p:spPr>
        <p:txBody>
          <a:bodyPr/>
          <a:lstStyle/>
          <a:p>
            <a:r>
              <a:rPr lang="it-IT" sz="2800" dirty="0" smtClean="0">
                <a:latin typeface="Times New Roman" panose="02020603050405020304" pitchFamily="18" charset="0"/>
                <a:cs typeface="Times New Roman" panose="02020603050405020304" pitchFamily="18" charset="0"/>
              </a:rPr>
              <a:t>Soil </a:t>
            </a:r>
            <a:r>
              <a:rPr lang="it-IT" sz="2800" dirty="0">
                <a:latin typeface="Times New Roman" panose="02020603050405020304" pitchFamily="18" charset="0"/>
                <a:cs typeface="Times New Roman" panose="02020603050405020304" pitchFamily="18" charset="0"/>
              </a:rPr>
              <a:t>microbiome </a:t>
            </a:r>
            <a:r>
              <a:rPr lang="it-IT" sz="2800" dirty="0" smtClean="0">
                <a:latin typeface="Times New Roman" panose="02020603050405020304" pitchFamily="18" charset="0"/>
                <a:cs typeface="Times New Roman" panose="02020603050405020304" pitchFamily="18" charset="0"/>
              </a:rPr>
              <a:t>classification using </a:t>
            </a:r>
            <a:r>
              <a:rPr lang="it-IT" sz="2400" dirty="0" smtClean="0">
                <a:latin typeface="Times New Roman" panose="02020603050405020304" pitchFamily="18" charset="0"/>
                <a:cs typeface="Times New Roman" panose="02020603050405020304" pitchFamily="18" charset="0"/>
              </a:rPr>
              <a:t>- Random Forest and SVM</a:t>
            </a:r>
            <a:br>
              <a:rPr lang="it-IT" sz="2400" dirty="0" smtClean="0">
                <a:latin typeface="Times New Roman" panose="02020603050405020304" pitchFamily="18" charset="0"/>
                <a:cs typeface="Times New Roman" panose="02020603050405020304" pitchFamily="18" charset="0"/>
              </a:rPr>
            </a:br>
            <a:r>
              <a:rPr lang="it-IT" sz="2400" dirty="0" smtClean="0">
                <a:latin typeface="Times New Roman" panose="02020603050405020304" pitchFamily="18" charset="0"/>
                <a:cs typeface="Times New Roman" panose="02020603050405020304" pitchFamily="18" charset="0"/>
              </a:rPr>
              <a:t>- SHAP and SHAPG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14400" y="152400"/>
            <a:ext cx="9039225" cy="649287"/>
          </a:xfrm>
        </p:spPr>
        <p:txBody>
          <a:bodyPr/>
          <a:lstStyle/>
          <a:p>
            <a:pPr eaLnBrk="1" hangingPunct="1"/>
            <a:r>
              <a:rPr lang="en-US" sz="2800" dirty="0" smtClean="0">
                <a:solidFill>
                  <a:srgbClr val="FFFF00"/>
                </a:solidFill>
                <a:latin typeface="Times New Roman" panose="02020603050405020304" pitchFamily="18" charset="0"/>
                <a:cs typeface="Times New Roman" panose="02020603050405020304" pitchFamily="18" charset="0"/>
              </a:rPr>
              <a:t>Overview (Taken from Prof. </a:t>
            </a:r>
            <a:r>
              <a:rPr lang="en-US" sz="2800" dirty="0" err="1" smtClean="0">
                <a:solidFill>
                  <a:srgbClr val="FFFF00"/>
                </a:solidFill>
                <a:latin typeface="Times New Roman" panose="02020603050405020304" pitchFamily="18" charset="0"/>
                <a:cs typeface="Times New Roman" panose="02020603050405020304" pitchFamily="18" charset="0"/>
              </a:rPr>
              <a:t>Marroni’s</a:t>
            </a:r>
            <a:r>
              <a:rPr lang="en-US" sz="2800" dirty="0" smtClean="0">
                <a:solidFill>
                  <a:srgbClr val="FFFF00"/>
                </a:solidFill>
                <a:latin typeface="Times New Roman" panose="02020603050405020304" pitchFamily="18" charset="0"/>
                <a:cs typeface="Times New Roman" panose="02020603050405020304" pitchFamily="18" charset="0"/>
              </a:rPr>
              <a:t> instructions)</a:t>
            </a:r>
            <a:endParaRPr lang="uk-UA" sz="2800" dirty="0" smtClean="0">
              <a:solidFill>
                <a:srgbClr val="FFFF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021080" y="1511412"/>
            <a:ext cx="7542810" cy="4343400"/>
          </a:xfrm>
        </p:spPr>
        <p:txBody>
          <a:bodyPr/>
          <a:lstStyle/>
          <a:p>
            <a:pPr marL="0" indent="0" algn="just">
              <a:buNone/>
            </a:pPr>
            <a:r>
              <a:rPr lang="it-IT" sz="2000" b="1" dirty="0" smtClean="0">
                <a:latin typeface="Times New Roman" panose="02020603050405020304" pitchFamily="18" charset="0"/>
                <a:cs typeface="Times New Roman" panose="02020603050405020304" pitchFamily="18" charset="0"/>
              </a:rPr>
              <a:t>Aim</a:t>
            </a:r>
            <a:r>
              <a:rPr lang="en-US" sz="2000" b="1"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compare </a:t>
            </a:r>
            <a:r>
              <a:rPr lang="en-US" sz="1900" dirty="0">
                <a:latin typeface="Times New Roman" panose="02020603050405020304" pitchFamily="18" charset="0"/>
                <a:cs typeface="Times New Roman" panose="02020603050405020304" pitchFamily="18" charset="0"/>
              </a:rPr>
              <a:t>the ability of three different sequencing technologies in classifying soils of different origin or that </a:t>
            </a:r>
            <a:r>
              <a:rPr lang="en-US" sz="1900" dirty="0" smtClean="0">
                <a:latin typeface="Times New Roman" panose="02020603050405020304" pitchFamily="18" charset="0"/>
                <a:cs typeface="Times New Roman" panose="02020603050405020304" pitchFamily="18" charset="0"/>
              </a:rPr>
              <a:t>underwent different treatments.</a:t>
            </a:r>
            <a:endParaRPr lang="en-US" sz="2000" dirty="0" smtClean="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Expected </a:t>
            </a:r>
            <a:r>
              <a:rPr lang="en-US" sz="2000" b="1" dirty="0" smtClean="0">
                <a:latin typeface="Times New Roman" panose="02020603050405020304" pitchFamily="18" charset="0"/>
                <a:cs typeface="Times New Roman" panose="02020603050405020304" pitchFamily="18" charset="0"/>
              </a:rPr>
              <a:t>results</a:t>
            </a:r>
            <a:r>
              <a:rPr lang="en-US" sz="2000" dirty="0">
                <a:latin typeface="Times New Roman" panose="02020603050405020304" pitchFamily="18" charset="0"/>
                <a:cs typeface="Times New Roman" panose="02020603050405020304" pitchFamily="18" charset="0"/>
              </a:rPr>
              <a:t> </a:t>
            </a:r>
          </a:p>
          <a:p>
            <a:pPr algn="just"/>
            <a:r>
              <a:rPr lang="en-US" sz="1900" b="1" dirty="0">
                <a:solidFill>
                  <a:schemeClr val="tx2"/>
                </a:solidFill>
                <a:latin typeface="Times New Roman" panose="02020603050405020304" pitchFamily="18" charset="0"/>
                <a:cs typeface="Times New Roman" panose="02020603050405020304" pitchFamily="18" charset="0"/>
              </a:rPr>
              <a:t>Result </a:t>
            </a:r>
            <a:r>
              <a:rPr lang="en-US" sz="1900" b="1" dirty="0" smtClean="0">
                <a:solidFill>
                  <a:schemeClr val="tx2"/>
                </a:solidFill>
                <a:latin typeface="Times New Roman" panose="02020603050405020304" pitchFamily="18" charset="0"/>
                <a:cs typeface="Times New Roman" panose="02020603050405020304" pitchFamily="18" charset="0"/>
              </a:rPr>
              <a:t>1</a:t>
            </a:r>
            <a:r>
              <a:rPr lang="en-US" sz="1900" dirty="0" smtClean="0">
                <a:solidFill>
                  <a:schemeClr val="tx2"/>
                </a:solidFill>
                <a:latin typeface="Times New Roman" panose="02020603050405020304" pitchFamily="18" charset="0"/>
                <a:cs typeface="Times New Roman" panose="02020603050405020304" pitchFamily="18" charset="0"/>
              </a:rPr>
              <a:t>: For </a:t>
            </a:r>
            <a:r>
              <a:rPr lang="en-US" sz="1900" dirty="0">
                <a:solidFill>
                  <a:schemeClr val="tx2"/>
                </a:solidFill>
                <a:latin typeface="Times New Roman" panose="02020603050405020304" pitchFamily="18" charset="0"/>
                <a:cs typeface="Times New Roman" panose="02020603050405020304" pitchFamily="18" charset="0"/>
              </a:rPr>
              <a:t>each condition, one graph showing the prediction ability of the </a:t>
            </a:r>
            <a:r>
              <a:rPr lang="en-US" sz="1900" dirty="0">
                <a:solidFill>
                  <a:srgbClr val="FF0000"/>
                </a:solidFill>
                <a:latin typeface="Times New Roman" panose="02020603050405020304" pitchFamily="18" charset="0"/>
                <a:cs typeface="Times New Roman" panose="02020603050405020304" pitchFamily="18" charset="0"/>
              </a:rPr>
              <a:t>R</a:t>
            </a:r>
            <a:r>
              <a:rPr lang="en-US" sz="1900" dirty="0" smtClean="0">
                <a:solidFill>
                  <a:srgbClr val="FF0000"/>
                </a:solidFill>
                <a:latin typeface="Times New Roman" panose="02020603050405020304" pitchFamily="18" charset="0"/>
                <a:cs typeface="Times New Roman" panose="02020603050405020304" pitchFamily="18" charset="0"/>
              </a:rPr>
              <a:t>andom </a:t>
            </a:r>
            <a:r>
              <a:rPr lang="en-US" sz="1900" dirty="0">
                <a:solidFill>
                  <a:srgbClr val="FF0000"/>
                </a:solidFill>
                <a:latin typeface="Times New Roman" panose="02020603050405020304" pitchFamily="18" charset="0"/>
                <a:cs typeface="Times New Roman" panose="02020603050405020304" pitchFamily="18" charset="0"/>
              </a:rPr>
              <a:t>F</a:t>
            </a:r>
            <a:r>
              <a:rPr lang="en-US" sz="1900" dirty="0" smtClean="0">
                <a:solidFill>
                  <a:srgbClr val="FF0000"/>
                </a:solidFill>
                <a:latin typeface="Times New Roman" panose="02020603050405020304" pitchFamily="18" charset="0"/>
                <a:cs typeface="Times New Roman" panose="02020603050405020304" pitchFamily="18" charset="0"/>
              </a:rPr>
              <a:t>orest</a:t>
            </a:r>
            <a:r>
              <a:rPr lang="en-US" sz="1900" dirty="0" smtClean="0">
                <a:solidFill>
                  <a:schemeClr val="tx2"/>
                </a:solidFill>
                <a:latin typeface="Times New Roman" panose="02020603050405020304" pitchFamily="18" charset="0"/>
                <a:cs typeface="Times New Roman" panose="02020603050405020304" pitchFamily="18" charset="0"/>
              </a:rPr>
              <a:t> </a:t>
            </a:r>
            <a:r>
              <a:rPr lang="en-US" sz="1900" dirty="0">
                <a:solidFill>
                  <a:schemeClr val="tx2"/>
                </a:solidFill>
                <a:latin typeface="Times New Roman" panose="02020603050405020304" pitchFamily="18" charset="0"/>
                <a:cs typeface="Times New Roman" panose="02020603050405020304" pitchFamily="18" charset="0"/>
              </a:rPr>
              <a:t>approach using the three sequencing technologies. A possible example output plot is provided below, and is also in the file </a:t>
            </a:r>
            <a:r>
              <a:rPr lang="en-US" sz="1900" dirty="0" smtClean="0">
                <a:solidFill>
                  <a:schemeClr val="tx2"/>
                </a:solidFill>
                <a:latin typeface="Times New Roman" panose="02020603050405020304" pitchFamily="18" charset="0"/>
                <a:cs typeface="Times New Roman" panose="02020603050405020304" pitchFamily="18" charset="0"/>
              </a:rPr>
              <a:t>LDA_example.docx</a:t>
            </a:r>
          </a:p>
          <a:p>
            <a:pPr algn="just"/>
            <a:r>
              <a:rPr lang="en-US" sz="1900" b="1" dirty="0">
                <a:solidFill>
                  <a:schemeClr val="tx2"/>
                </a:solidFill>
                <a:latin typeface="Times New Roman" panose="02020603050405020304" pitchFamily="18" charset="0"/>
                <a:cs typeface="Times New Roman" panose="02020603050405020304" pitchFamily="18" charset="0"/>
              </a:rPr>
              <a:t>Result </a:t>
            </a:r>
            <a:r>
              <a:rPr lang="en-US" sz="1900" b="1" dirty="0" smtClean="0">
                <a:solidFill>
                  <a:schemeClr val="tx2"/>
                </a:solidFill>
                <a:latin typeface="Times New Roman" panose="02020603050405020304" pitchFamily="18" charset="0"/>
                <a:cs typeface="Times New Roman" panose="02020603050405020304" pitchFamily="18" charset="0"/>
              </a:rPr>
              <a:t>2</a:t>
            </a:r>
            <a:r>
              <a:rPr lang="en-US" sz="1900" dirty="0" smtClean="0">
                <a:solidFill>
                  <a:schemeClr val="tx2"/>
                </a:solidFill>
                <a:latin typeface="Times New Roman" panose="02020603050405020304" pitchFamily="18" charset="0"/>
                <a:cs typeface="Times New Roman" panose="02020603050405020304" pitchFamily="18" charset="0"/>
              </a:rPr>
              <a:t>: Use </a:t>
            </a:r>
            <a:r>
              <a:rPr lang="en-US" sz="1900" dirty="0">
                <a:solidFill>
                  <a:schemeClr val="tx2"/>
                </a:solidFill>
                <a:latin typeface="Times New Roman" panose="02020603050405020304" pitchFamily="18" charset="0"/>
                <a:cs typeface="Times New Roman" panose="02020603050405020304" pitchFamily="18" charset="0"/>
              </a:rPr>
              <a:t>SHAP to identify the features (bacterial genera) that most contribute to the discrimination. Are there summary statistics to be used, e.g. % of explained variance or something similar</a:t>
            </a:r>
            <a:r>
              <a:rPr lang="en-US" sz="1900" dirty="0" smtClean="0">
                <a:solidFill>
                  <a:schemeClr val="tx2"/>
                </a:solidFill>
                <a:latin typeface="Times New Roman" panose="02020603050405020304" pitchFamily="18" charset="0"/>
                <a:cs typeface="Times New Roman" panose="02020603050405020304" pitchFamily="18" charset="0"/>
              </a:rPr>
              <a:t>?</a:t>
            </a:r>
            <a:endParaRPr lang="en-US" sz="1900" dirty="0">
              <a:solidFill>
                <a:schemeClr val="tx2"/>
              </a:solidFill>
              <a:latin typeface="Times New Roman" panose="02020603050405020304" pitchFamily="18" charset="0"/>
              <a:cs typeface="Times New Roman" panose="02020603050405020304" pitchFamily="18" charset="0"/>
            </a:endParaRPr>
          </a:p>
          <a:p>
            <a:pPr algn="just"/>
            <a:r>
              <a:rPr lang="en-US" sz="1900" b="1" dirty="0">
                <a:solidFill>
                  <a:schemeClr val="tx2"/>
                </a:solidFill>
                <a:latin typeface="Times New Roman" panose="02020603050405020304" pitchFamily="18" charset="0"/>
                <a:cs typeface="Times New Roman" panose="02020603050405020304" pitchFamily="18" charset="0"/>
              </a:rPr>
              <a:t>Result </a:t>
            </a:r>
            <a:r>
              <a:rPr lang="en-US" sz="1900" b="1" dirty="0" smtClean="0">
                <a:solidFill>
                  <a:schemeClr val="tx2"/>
                </a:solidFill>
                <a:latin typeface="Times New Roman" panose="02020603050405020304" pitchFamily="18" charset="0"/>
                <a:cs typeface="Times New Roman" panose="02020603050405020304" pitchFamily="18" charset="0"/>
              </a:rPr>
              <a:t>3</a:t>
            </a:r>
            <a:r>
              <a:rPr lang="en-US" sz="1900" dirty="0" smtClean="0">
                <a:solidFill>
                  <a:schemeClr val="tx2"/>
                </a:solidFill>
                <a:latin typeface="Times New Roman" panose="02020603050405020304" pitchFamily="18" charset="0"/>
                <a:cs typeface="Times New Roman" panose="02020603050405020304" pitchFamily="18" charset="0"/>
              </a:rPr>
              <a:t>: Repeat </a:t>
            </a:r>
            <a:r>
              <a:rPr lang="en-US" sz="1900" dirty="0">
                <a:solidFill>
                  <a:schemeClr val="tx2"/>
                </a:solidFill>
                <a:latin typeface="Times New Roman" panose="02020603050405020304" pitchFamily="18" charset="0"/>
                <a:cs typeface="Times New Roman" panose="02020603050405020304" pitchFamily="18" charset="0"/>
              </a:rPr>
              <a:t>the classification only using the most important features</a:t>
            </a:r>
            <a:r>
              <a:rPr lang="en-US" sz="1900" dirty="0" smtClean="0">
                <a:solidFill>
                  <a:schemeClr val="tx2"/>
                </a:solidFill>
                <a:latin typeface="Times New Roman" panose="02020603050405020304" pitchFamily="18" charset="0"/>
                <a:cs typeface="Times New Roman" panose="02020603050405020304" pitchFamily="18" charset="0"/>
              </a:rPr>
              <a:t>.</a:t>
            </a:r>
            <a:endParaRPr lang="en-US" sz="2000" dirty="0">
              <a:solidFill>
                <a:schemeClr val="tx2"/>
              </a:solidFill>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Quick Review on SHAP plots</a:t>
            </a:r>
            <a:endParaRPr lang="en-US" dirty="0"/>
          </a:p>
        </p:txBody>
      </p:sp>
      <p:sp>
        <p:nvSpPr>
          <p:cNvPr id="3" name="Content Placeholder 2"/>
          <p:cNvSpPr>
            <a:spLocks noGrp="1"/>
          </p:cNvSpPr>
          <p:nvPr>
            <p:ph idx="1"/>
          </p:nvPr>
        </p:nvSpPr>
        <p:spPr/>
        <p:txBody>
          <a:bodyPr/>
          <a:lstStyle/>
          <a:p>
            <a:pPr algn="just"/>
            <a:r>
              <a:rPr lang="en-US" sz="1800" dirty="0" smtClean="0">
                <a:latin typeface="Times New Roman" panose="02020603050405020304" pitchFamily="18" charset="0"/>
                <a:ea typeface="Tahoma" panose="020B0604030504040204" pitchFamily="34" charset="0"/>
                <a:cs typeface="Times New Roman" panose="02020603050405020304" pitchFamily="18" charset="0"/>
              </a:rPr>
              <a:t>Both </a:t>
            </a:r>
            <a:r>
              <a:rPr lang="en-US" sz="1800" dirty="0" err="1" smtClean="0">
                <a:latin typeface="Times New Roman" panose="02020603050405020304" pitchFamily="18" charset="0"/>
                <a:ea typeface="Tahoma" panose="020B0604030504040204" pitchFamily="34" charset="0"/>
                <a:cs typeface="Times New Roman" panose="02020603050405020304" pitchFamily="18" charset="0"/>
              </a:rPr>
              <a:t>Beeswarm</a:t>
            </a:r>
            <a:r>
              <a:rPr lang="en-US" sz="1800" dirty="0" smtClean="0">
                <a:latin typeface="Times New Roman" panose="02020603050405020304" pitchFamily="18" charset="0"/>
                <a:ea typeface="Tahoma" panose="020B0604030504040204" pitchFamily="34" charset="0"/>
                <a:cs typeface="Times New Roman" panose="02020603050405020304" pitchFamily="18" charset="0"/>
              </a:rPr>
              <a:t> and Bar </a:t>
            </a:r>
            <a:r>
              <a:rPr lang="en-US" sz="1800" dirty="0">
                <a:latin typeface="Times New Roman" panose="02020603050405020304" pitchFamily="18" charset="0"/>
                <a:ea typeface="Tahoma" panose="020B0604030504040204" pitchFamily="34" charset="0"/>
                <a:cs typeface="Times New Roman" panose="02020603050405020304" pitchFamily="18" charset="0"/>
              </a:rPr>
              <a:t>charts sort the features from top to bottom based on their </a:t>
            </a:r>
            <a:r>
              <a:rPr lang="en-US" sz="1800" b="1" dirty="0">
                <a:latin typeface="Times New Roman" panose="02020603050405020304" pitchFamily="18" charset="0"/>
                <a:ea typeface="Tahoma" panose="020B0604030504040204" pitchFamily="34" charset="0"/>
                <a:cs typeface="Times New Roman" panose="02020603050405020304" pitchFamily="18" charset="0"/>
              </a:rPr>
              <a:t>global importance</a:t>
            </a:r>
            <a:r>
              <a:rPr lang="en-US" sz="1800" dirty="0">
                <a:latin typeface="Times New Roman" panose="02020603050405020304" pitchFamily="18" charset="0"/>
                <a:ea typeface="Tahoma" panose="020B0604030504040204" pitchFamily="34" charset="0"/>
                <a:cs typeface="Times New Roman" panose="02020603050405020304" pitchFamily="18" charset="0"/>
              </a:rPr>
              <a:t> (which feature has the biggest overall impact on the model</a:t>
            </a:r>
            <a:r>
              <a:rPr lang="en-US" sz="1800" dirty="0" smtClean="0">
                <a:latin typeface="Times New Roman" panose="02020603050405020304" pitchFamily="18" charset="0"/>
                <a:ea typeface="Tahoma" panose="020B0604030504040204" pitchFamily="34" charset="0"/>
                <a:cs typeface="Times New Roman" panose="02020603050405020304" pitchFamily="18" charset="0"/>
              </a:rPr>
              <a:t>).</a:t>
            </a:r>
          </a:p>
          <a:p>
            <a:pPr algn="just" rtl="1"/>
            <a:r>
              <a:rPr lang="fa-IR" sz="1800" dirty="0" smtClean="0">
                <a:latin typeface="Times New Roman" panose="02020603050405020304" pitchFamily="18" charset="0"/>
                <a:ea typeface="Tahoma" panose="020B0604030504040204" pitchFamily="34" charset="0"/>
                <a:cs typeface="Times New Roman" panose="02020603050405020304" pitchFamily="18" charset="0"/>
              </a:rPr>
              <a:t>یه لیبل داریم که مثبت بودنش مدنظرمونه (مثلا سرطان داشتن). حالا یه سری فیچر هم داریم، مثلا فشار خون. مقادیر زیاد هر فیچر با نقاط قرمز نشون داده میشن و مقادیر کم/کوچک با نقاط آبی. تجمع این نقاط آبی یا قرمز مهمه که کدوم سمت قرار گرفته. مقدار زیاد یک فیچر مثل فشار خون (با رنگ قرمز، نشان بالا بودن مقدارش) در سمت راست این پلات یعنی که مقادیر بالای فشار خون، احتمال و شانس بالا رفتن سرطان (لیبل مثبت) رو بالا میبرن. مثلا اگر یه فیچر دیگه مثل چربی خون داشته باشیم که کپه های از نقاط آبی (نشانگر مقدار کم این ویژگی) بیفتن سمت چپ محور، میگیم که کم بودن فشار خون، شانس/احتمال سرطان داشتن رو پایین میاره.</a:t>
            </a:r>
            <a:endParaRPr lang="en-US" sz="1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20052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95400" y="188913"/>
            <a:ext cx="7056438" cy="723900"/>
          </a:xfrm>
        </p:spPr>
        <p:txBody>
          <a:bodyPr/>
          <a:lstStyle/>
          <a:p>
            <a:r>
              <a:rPr lang="en-US" sz="3200" dirty="0" smtClean="0">
                <a:solidFill>
                  <a:srgbClr val="000000"/>
                </a:solidFill>
                <a:latin typeface="Times New Roman" panose="02020603050405020304" pitchFamily="18" charset="0"/>
                <a:cs typeface="Times New Roman" panose="02020603050405020304" pitchFamily="18" charset="0"/>
              </a:rPr>
              <a:t>Important Points</a:t>
            </a:r>
          </a:p>
        </p:txBody>
      </p:sp>
      <p:sp>
        <p:nvSpPr>
          <p:cNvPr id="6" name="Rectangle 5"/>
          <p:cNvSpPr/>
          <p:nvPr/>
        </p:nvSpPr>
        <p:spPr>
          <a:xfrm>
            <a:off x="0" y="912813"/>
            <a:ext cx="1524000" cy="8397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1"/>
          <p:cNvSpPr txBox="1">
            <a:spLocks/>
          </p:cNvSpPr>
          <p:nvPr/>
        </p:nvSpPr>
        <p:spPr bwMode="auto">
          <a:xfrm>
            <a:off x="457200" y="1066800"/>
            <a:ext cx="8229600" cy="2336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b="1">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gn="just"/>
            <a:r>
              <a:rPr lang="en-US" sz="1700" kern="0" dirty="0" smtClean="0">
                <a:latin typeface="Times New Roman" panose="02020603050405020304" pitchFamily="18" charset="0"/>
                <a:cs typeface="Times New Roman" panose="02020603050405020304" pitchFamily="18" charset="0"/>
              </a:rPr>
              <a:t>Use the newest version of datasets (normalized with DESeq2 software)</a:t>
            </a:r>
          </a:p>
          <a:p>
            <a:pPr algn="just"/>
            <a:r>
              <a:rPr lang="en-US" sz="1700" kern="0" dirty="0" smtClean="0">
                <a:latin typeface="Times New Roman" panose="02020603050405020304" pitchFamily="18" charset="0"/>
                <a:cs typeface="Times New Roman" panose="02020603050405020304" pitchFamily="18" charset="0"/>
              </a:rPr>
              <a:t>Apply </a:t>
            </a:r>
            <a:r>
              <a:rPr lang="en-US" sz="1700" kern="0" dirty="0" smtClean="0">
                <a:solidFill>
                  <a:srgbClr val="FF0000"/>
                </a:solidFill>
                <a:latin typeface="Times New Roman" panose="02020603050405020304" pitchFamily="18" charset="0"/>
                <a:cs typeface="Times New Roman" panose="02020603050405020304" pitchFamily="18" charset="0"/>
              </a:rPr>
              <a:t>feature selection </a:t>
            </a:r>
            <a:r>
              <a:rPr lang="en-US" sz="1700" kern="0" dirty="0" smtClean="0">
                <a:latin typeface="Times New Roman" panose="02020603050405020304" pitchFamily="18" charset="0"/>
                <a:cs typeface="Times New Roman" panose="02020603050405020304" pitchFamily="18" charset="0"/>
              </a:rPr>
              <a:t>before applying Machine Learning model (Removing zero-importance features)</a:t>
            </a:r>
          </a:p>
          <a:p>
            <a:pPr algn="just"/>
            <a:r>
              <a:rPr lang="en-US" sz="1700" kern="0" dirty="0" smtClean="0">
                <a:latin typeface="Times New Roman" panose="02020603050405020304" pitchFamily="18" charset="0"/>
                <a:cs typeface="Times New Roman" panose="02020603050405020304" pitchFamily="18" charset="0"/>
              </a:rPr>
              <a:t>Using another ML model other than Random Forest (RF) </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700" kern="0" dirty="0" smtClean="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I first wanted to use </a:t>
            </a:r>
            <a:r>
              <a:rPr lang="en-US" sz="1700" kern="0" dirty="0" err="1" smtClean="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XGBoost</a:t>
            </a:r>
            <a:r>
              <a:rPr lang="en-US" sz="1700" kern="0" dirty="0" smtClean="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 but then I thought RF and </a:t>
            </a:r>
            <a:r>
              <a:rPr lang="en-US" sz="1700" kern="0" dirty="0" err="1" smtClean="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XGBoost</a:t>
            </a:r>
            <a:r>
              <a:rPr lang="en-US" sz="1700" kern="0" dirty="0" smtClean="0">
                <a:solidFill>
                  <a:srgbClr val="7030A0"/>
                </a:solidFill>
                <a:latin typeface="Times New Roman" panose="02020603050405020304" pitchFamily="18" charset="0"/>
                <a:cs typeface="Times New Roman" panose="02020603050405020304" pitchFamily="18" charset="0"/>
                <a:sym typeface="Wingdings" panose="05000000000000000000" pitchFamily="2" charset="2"/>
              </a:rPr>
              <a:t> are both from the same family called Ensemble models. So I used LSVM. In other words, RF has random and non-linear nature while LSVM is linear and deterministic (please let me know if you disagree with my choice). </a:t>
            </a:r>
          </a:p>
          <a:p>
            <a:pPr algn="just"/>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For Autoclave and </a:t>
            </a:r>
            <a:r>
              <a:rPr lang="en-US" sz="1700" kern="0" dirty="0" err="1" smtClean="0">
                <a:latin typeface="Times New Roman" panose="02020603050405020304" pitchFamily="18" charset="0"/>
                <a:cs typeface="Times New Roman" panose="02020603050405020304" pitchFamily="18" charset="0"/>
                <a:sym typeface="Wingdings" panose="05000000000000000000" pitchFamily="2" charset="2"/>
              </a:rPr>
              <a:t>HeatRoot</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use SHAP, and select 20, 10, 3 features to retrain the ML model.</a:t>
            </a:r>
          </a:p>
          <a:p>
            <a:pPr algn="just"/>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For Autoclave and </a:t>
            </a:r>
            <a:r>
              <a:rPr lang="en-US" sz="1700" kern="0" dirty="0" err="1" smtClean="0">
                <a:latin typeface="Times New Roman" panose="02020603050405020304" pitchFamily="18" charset="0"/>
                <a:cs typeface="Times New Roman" panose="02020603050405020304" pitchFamily="18" charset="0"/>
                <a:sym typeface="Wingdings" panose="05000000000000000000" pitchFamily="2" charset="2"/>
              </a:rPr>
              <a:t>HeatRoot</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use SHAPG and select 20, 10, 3 features to retrain the ML model.</a:t>
            </a:r>
          </a:p>
          <a:p>
            <a:pPr algn="just"/>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In the case of soil (which is a multi-class classification, and we have more than 2 values for it), I once used the union of all 20 features per each value. In the case of 3 features, I first used the common features between each 20 features of each value (yellow cells in slides </a:t>
            </a:r>
            <a:r>
              <a:rPr lang="en-US" sz="1700" kern="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8-13</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700" kern="0" dirty="0" smtClean="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&amp; 17-22</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Then, I applied </a:t>
            </a:r>
            <a:r>
              <a:rPr lang="en-US" sz="1700" kern="0" dirty="0" err="1" smtClean="0">
                <a:latin typeface="Times New Roman" panose="02020603050405020304" pitchFamily="18" charset="0"/>
                <a:cs typeface="Times New Roman" panose="02020603050405020304" pitchFamily="18" charset="0"/>
                <a:sym typeface="Wingdings" panose="05000000000000000000" pitchFamily="2" charset="2"/>
              </a:rPr>
              <a:t>Borda</a:t>
            </a:r>
            <a:r>
              <a:rPr lang="en-US" sz="1700" kern="0" dirty="0" smtClean="0">
                <a:latin typeface="Times New Roman" panose="02020603050405020304" pitchFamily="18" charset="0"/>
                <a:cs typeface="Times New Roman" panose="02020603050405020304" pitchFamily="18" charset="0"/>
                <a:sym typeface="Wingdings" panose="05000000000000000000" pitchFamily="2" charset="2"/>
              </a:rPr>
              <a:t> Social Choice method to pick 3 top common features in them.</a:t>
            </a:r>
          </a:p>
          <a:p>
            <a:pPr algn="just"/>
            <a:r>
              <a:rPr lang="en-US" sz="1700" kern="0" dirty="0" smtClean="0">
                <a:latin typeface="Times New Roman" panose="02020603050405020304" pitchFamily="18" charset="0"/>
                <a:cs typeface="Times New Roman" panose="02020603050405020304" pitchFamily="18" charset="0"/>
              </a:rPr>
              <a:t>75% of data was used as train, and 25% as test set.</a:t>
            </a:r>
          </a:p>
          <a:p>
            <a:pPr algn="just"/>
            <a:r>
              <a:rPr lang="en-US" sz="1700" kern="0" dirty="0" smtClean="0">
                <a:latin typeface="Times New Roman" panose="02020603050405020304" pitchFamily="18" charset="0"/>
                <a:cs typeface="Times New Roman" panose="02020603050405020304" pitchFamily="18" charset="0"/>
              </a:rPr>
              <a:t>SHAP and SHAPG is applied on the </a:t>
            </a:r>
            <a:r>
              <a:rPr lang="en-US" sz="1700" kern="0" dirty="0" smtClean="0">
                <a:solidFill>
                  <a:srgbClr val="FF0000"/>
                </a:solidFill>
                <a:latin typeface="Times New Roman" panose="02020603050405020304" pitchFamily="18" charset="0"/>
                <a:cs typeface="Times New Roman" panose="02020603050405020304" pitchFamily="18" charset="0"/>
              </a:rPr>
              <a:t>Train</a:t>
            </a:r>
            <a:r>
              <a:rPr lang="en-US" sz="1700" kern="0" dirty="0" smtClean="0">
                <a:latin typeface="Times New Roman" panose="02020603050405020304" pitchFamily="18" charset="0"/>
                <a:cs typeface="Times New Roman" panose="02020603050405020304" pitchFamily="18" charset="0"/>
              </a:rPr>
              <a:t> set.</a:t>
            </a:r>
          </a:p>
          <a:p>
            <a:pPr algn="just"/>
            <a:endParaRPr lang="en-US" sz="17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7005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p:cNvCxnSpPr/>
          <p:nvPr/>
        </p:nvCxnSpPr>
        <p:spPr>
          <a:xfrm>
            <a:off x="1810595" y="3301423"/>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133600" y="3025972"/>
            <a:ext cx="990600" cy="50125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Data Acquisition</a:t>
            </a:r>
            <a:endParaRPr lang="en-US" sz="1300" dirty="0">
              <a:solidFill>
                <a:schemeClr val="tx2"/>
              </a:solidFill>
              <a:latin typeface="Times New Roman" panose="02020603050405020304" pitchFamily="18" charset="0"/>
              <a:cs typeface="Times New Roman" panose="02020603050405020304" pitchFamily="18" charset="0"/>
            </a:endParaRPr>
          </a:p>
        </p:txBody>
      </p:sp>
      <p:cxnSp>
        <p:nvCxnSpPr>
          <p:cNvPr id="12" name="Straight Arrow Connector 11"/>
          <p:cNvCxnSpPr>
            <a:endCxn id="63" idx="0"/>
          </p:cNvCxnSpPr>
          <p:nvPr/>
        </p:nvCxnSpPr>
        <p:spPr>
          <a:xfrm flipH="1">
            <a:off x="4027935" y="2387023"/>
            <a:ext cx="7540" cy="3048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486995" y="1996498"/>
            <a:ext cx="1123950" cy="381000"/>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Preprocessing</a:t>
            </a:r>
            <a:endParaRPr lang="en-US" sz="1300" dirty="0">
              <a:solidFill>
                <a:schemeClr val="tx2"/>
              </a:solidFill>
              <a:latin typeface="Times New Roman" panose="02020603050405020304" pitchFamily="18" charset="0"/>
              <a:cs typeface="Times New Roman" panose="02020603050405020304" pitchFamily="18" charset="0"/>
            </a:endParaRPr>
          </a:p>
        </p:txBody>
      </p:sp>
      <p:grpSp>
        <p:nvGrpSpPr>
          <p:cNvPr id="1025" name="Group 1024"/>
          <p:cNvGrpSpPr/>
          <p:nvPr/>
        </p:nvGrpSpPr>
        <p:grpSpPr>
          <a:xfrm>
            <a:off x="3502075" y="2691823"/>
            <a:ext cx="1051720" cy="1276350"/>
            <a:chOff x="2915444" y="1828800"/>
            <a:chExt cx="1051720" cy="1276350"/>
          </a:xfrm>
        </p:grpSpPr>
        <p:sp>
          <p:nvSpPr>
            <p:cNvPr id="33" name="Flowchart: Magnetic Disk 32"/>
            <p:cNvSpPr/>
            <p:nvPr/>
          </p:nvSpPr>
          <p:spPr>
            <a:xfrm>
              <a:off x="3048794" y="2514600"/>
              <a:ext cx="780256" cy="476250"/>
            </a:xfrm>
            <a:prstGeom prst="flowChartMagneticDisk">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Test Data</a:t>
              </a:r>
              <a:endParaRPr lang="en-US" sz="1200" dirty="0">
                <a:solidFill>
                  <a:schemeClr val="tx2"/>
                </a:solidFill>
                <a:latin typeface="Times New Roman" panose="02020603050405020304" pitchFamily="18" charset="0"/>
                <a:cs typeface="Times New Roman" panose="02020603050405020304" pitchFamily="18" charset="0"/>
              </a:endParaRPr>
            </a:p>
          </p:txBody>
        </p:sp>
        <p:sp>
          <p:nvSpPr>
            <p:cNvPr id="34" name="Flowchart: Magnetic Disk 33"/>
            <p:cNvSpPr/>
            <p:nvPr/>
          </p:nvSpPr>
          <p:spPr>
            <a:xfrm>
              <a:off x="3029744" y="1981200"/>
              <a:ext cx="838200" cy="457200"/>
            </a:xfrm>
            <a:prstGeom prst="flowChartMagneticDisk">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Train Data</a:t>
              </a:r>
              <a:endParaRPr lang="en-US" sz="1200" dirty="0">
                <a:solidFill>
                  <a:schemeClr val="tx2"/>
                </a:solidFill>
                <a:latin typeface="Times New Roman" panose="02020603050405020304" pitchFamily="18" charset="0"/>
                <a:cs typeface="Times New Roman" panose="02020603050405020304" pitchFamily="18" charset="0"/>
              </a:endParaRPr>
            </a:p>
          </p:txBody>
        </p:sp>
        <p:sp>
          <p:nvSpPr>
            <p:cNvPr id="63" name="Rounded Rectangle 62"/>
            <p:cNvSpPr/>
            <p:nvPr/>
          </p:nvSpPr>
          <p:spPr>
            <a:xfrm>
              <a:off x="2915444" y="1828800"/>
              <a:ext cx="1051720" cy="1276350"/>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7" name="Title 1026"/>
          <p:cNvSpPr>
            <a:spLocks noGrp="1"/>
          </p:cNvSpPr>
          <p:nvPr>
            <p:ph type="title"/>
          </p:nvPr>
        </p:nvSpPr>
        <p:spPr>
          <a:xfrm>
            <a:off x="773957" y="304800"/>
            <a:ext cx="7559675" cy="385762"/>
          </a:xfrm>
        </p:spPr>
        <p:txBody>
          <a:bodyPr/>
          <a:lstStyle/>
          <a:p>
            <a:pPr algn="ctr"/>
            <a:r>
              <a:rPr lang="en-US" sz="3200" dirty="0">
                <a:solidFill>
                  <a:schemeClr val="tx2"/>
                </a:solidFill>
                <a:latin typeface="Times New Roman" panose="02020603050405020304" pitchFamily="18" charset="0"/>
                <a:cs typeface="Times New Roman" panose="02020603050405020304" pitchFamily="18" charset="0"/>
              </a:rPr>
              <a:t>M</a:t>
            </a:r>
            <a:r>
              <a:rPr lang="en-US" sz="3200" dirty="0" smtClean="0">
                <a:solidFill>
                  <a:schemeClr val="tx2"/>
                </a:solidFill>
                <a:latin typeface="Times New Roman" panose="02020603050405020304" pitchFamily="18" charset="0"/>
                <a:cs typeface="Times New Roman" panose="02020603050405020304" pitchFamily="18" charset="0"/>
              </a:rPr>
              <a:t>ethodology’s Workflow</a:t>
            </a:r>
            <a:endParaRPr lang="en-US" sz="3200" dirty="0">
              <a:solidFill>
                <a:schemeClr val="tx2"/>
              </a:solidFill>
              <a:latin typeface="Times New Roman" panose="02020603050405020304" pitchFamily="18" charset="0"/>
              <a:cs typeface="Times New Roman" panose="02020603050405020304" pitchFamily="18" charset="0"/>
            </a:endParaRPr>
          </a:p>
        </p:txBody>
      </p:sp>
      <p:sp>
        <p:nvSpPr>
          <p:cNvPr id="78" name="Rectangle 77"/>
          <p:cNvSpPr/>
          <p:nvPr/>
        </p:nvSpPr>
        <p:spPr>
          <a:xfrm>
            <a:off x="4679196" y="2735186"/>
            <a:ext cx="788999" cy="276999"/>
          </a:xfrm>
          <a:prstGeom prst="rect">
            <a:avLst/>
          </a:prstGeom>
        </p:spPr>
        <p:txBody>
          <a:bodyPr wrap="none">
            <a:spAutoFit/>
          </a:bodyPr>
          <a:lstStyle/>
          <a:p>
            <a:pPr algn="ctr"/>
            <a:r>
              <a:rPr lang="en-US" sz="1200" dirty="0" smtClean="0">
                <a:solidFill>
                  <a:schemeClr val="tx2"/>
                </a:solidFill>
                <a:latin typeface="Times New Roman" panose="02020603050405020304" pitchFamily="18" charset="0"/>
                <a:cs typeface="Times New Roman" panose="02020603050405020304" pitchFamily="18" charset="0"/>
              </a:rPr>
              <a:t>SHAP(G)</a:t>
            </a:r>
            <a:endParaRPr lang="en-US" sz="1200" dirty="0">
              <a:solidFill>
                <a:schemeClr val="tx2"/>
              </a:solidFill>
              <a:latin typeface="Times New Roman" panose="02020603050405020304" pitchFamily="18" charset="0"/>
              <a:cs typeface="Times New Roman" panose="02020603050405020304" pitchFamily="18" charset="0"/>
            </a:endParaRPr>
          </a:p>
        </p:txBody>
      </p:sp>
      <p:cxnSp>
        <p:nvCxnSpPr>
          <p:cNvPr id="101" name="Straight Arrow Connector 100"/>
          <p:cNvCxnSpPr/>
          <p:nvPr/>
        </p:nvCxnSpPr>
        <p:spPr>
          <a:xfrm>
            <a:off x="3163144" y="3276599"/>
            <a:ext cx="32861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3547715" y="4441227"/>
            <a:ext cx="975520" cy="33813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Prediction</a:t>
            </a:r>
            <a:endParaRPr lang="en-US" sz="1300" dirty="0">
              <a:solidFill>
                <a:schemeClr val="tx2"/>
              </a:solidFill>
              <a:latin typeface="Times New Roman" panose="02020603050405020304" pitchFamily="18" charset="0"/>
              <a:cs typeface="Times New Roman" panose="02020603050405020304" pitchFamily="18" charset="0"/>
            </a:endParaRPr>
          </a:p>
        </p:txBody>
      </p:sp>
      <p:sp>
        <p:nvSpPr>
          <p:cNvPr id="115" name="Rounded Rectangle 114"/>
          <p:cNvSpPr/>
          <p:nvPr/>
        </p:nvSpPr>
        <p:spPr>
          <a:xfrm>
            <a:off x="6713288" y="2849795"/>
            <a:ext cx="1069165" cy="677432"/>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SHAP(G) 20</a:t>
            </a:r>
          </a:p>
          <a:p>
            <a:pPr algn="ctr"/>
            <a:r>
              <a:rPr lang="en-US" sz="1200" dirty="0">
                <a:solidFill>
                  <a:schemeClr val="tx2"/>
                </a:solidFill>
                <a:latin typeface="Times New Roman" panose="02020603050405020304" pitchFamily="18" charset="0"/>
                <a:cs typeface="Times New Roman" panose="02020603050405020304" pitchFamily="18" charset="0"/>
              </a:rPr>
              <a:t>SHAP(G) </a:t>
            </a:r>
            <a:r>
              <a:rPr lang="en-US" sz="1200" dirty="0" smtClean="0">
                <a:solidFill>
                  <a:schemeClr val="tx2"/>
                </a:solidFill>
                <a:latin typeface="Times New Roman" panose="02020603050405020304" pitchFamily="18" charset="0"/>
                <a:cs typeface="Times New Roman" panose="02020603050405020304" pitchFamily="18" charset="0"/>
              </a:rPr>
              <a:t>10</a:t>
            </a:r>
            <a:endParaRPr lang="en-US" sz="1200" dirty="0">
              <a:solidFill>
                <a:schemeClr val="tx2"/>
              </a:solidFill>
              <a:latin typeface="Times New Roman" panose="02020603050405020304" pitchFamily="18" charset="0"/>
              <a:cs typeface="Times New Roman" panose="02020603050405020304" pitchFamily="18" charset="0"/>
            </a:endParaRPr>
          </a:p>
          <a:p>
            <a:pPr algn="ctr"/>
            <a:r>
              <a:rPr lang="en-US" sz="1200" dirty="0">
                <a:solidFill>
                  <a:schemeClr val="tx2"/>
                </a:solidFill>
                <a:latin typeface="Times New Roman" panose="02020603050405020304" pitchFamily="18" charset="0"/>
                <a:cs typeface="Times New Roman" panose="02020603050405020304" pitchFamily="18" charset="0"/>
              </a:rPr>
              <a:t>SHAP(G) 3</a:t>
            </a:r>
          </a:p>
        </p:txBody>
      </p:sp>
      <p:sp>
        <p:nvSpPr>
          <p:cNvPr id="116" name="Rectangle 115"/>
          <p:cNvSpPr/>
          <p:nvPr/>
        </p:nvSpPr>
        <p:spPr>
          <a:xfrm>
            <a:off x="5648532" y="2928216"/>
            <a:ext cx="810264" cy="411063"/>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Train classifier</a:t>
            </a:r>
            <a:endParaRPr lang="en-US" sz="1300" dirty="0">
              <a:solidFill>
                <a:schemeClr val="tx2"/>
              </a:solidFill>
              <a:latin typeface="Times New Roman" panose="02020603050405020304" pitchFamily="18" charset="0"/>
              <a:cs typeface="Times New Roman" panose="02020603050405020304" pitchFamily="18" charset="0"/>
            </a:endParaRPr>
          </a:p>
        </p:txBody>
      </p:sp>
      <p:cxnSp>
        <p:nvCxnSpPr>
          <p:cNvPr id="117" name="Straight Arrow Connector 116"/>
          <p:cNvCxnSpPr/>
          <p:nvPr/>
        </p:nvCxnSpPr>
        <p:spPr>
          <a:xfrm>
            <a:off x="6458795" y="3119729"/>
            <a:ext cx="25449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58" name="Elbow Connector 1057"/>
          <p:cNvCxnSpPr>
            <a:stCxn id="115" idx="3"/>
            <a:endCxn id="116" idx="0"/>
          </p:cNvCxnSpPr>
          <p:nvPr/>
        </p:nvCxnSpPr>
        <p:spPr>
          <a:xfrm flipH="1" flipV="1">
            <a:off x="6053664" y="2928216"/>
            <a:ext cx="1728789" cy="260295"/>
          </a:xfrm>
          <a:prstGeom prst="bentConnector4">
            <a:avLst>
              <a:gd name="adj1" fmla="val -13223"/>
              <a:gd name="adj2" fmla="val 21795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a:off x="4415681" y="3076772"/>
            <a:ext cx="982710" cy="795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5544395" y="2374010"/>
            <a:ext cx="2895600" cy="1276350"/>
          </a:xfrm>
          <a:prstGeom prst="roundRect">
            <a:avLst/>
          </a:prstGeom>
          <a:noFill/>
          <a:ln w="19050">
            <a:solidFill>
              <a:srgbClr val="6643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stCxn id="33" idx="3"/>
            <a:endCxn id="103" idx="0"/>
          </p:cNvCxnSpPr>
          <p:nvPr/>
        </p:nvCxnSpPr>
        <p:spPr>
          <a:xfrm>
            <a:off x="4025553" y="3853873"/>
            <a:ext cx="9922" cy="587354"/>
          </a:xfrm>
          <a:prstGeom prst="straightConnector1">
            <a:avLst/>
          </a:prstGeom>
          <a:ln w="19050">
            <a:solidFill>
              <a:srgbClr val="664327"/>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37" idx="2"/>
            <a:endCxn id="103" idx="3"/>
          </p:cNvCxnSpPr>
          <p:nvPr/>
        </p:nvCxnSpPr>
        <p:spPr>
          <a:xfrm rot="5400000">
            <a:off x="5277747" y="2895848"/>
            <a:ext cx="959936" cy="2468960"/>
          </a:xfrm>
          <a:prstGeom prst="bentConnector2">
            <a:avLst/>
          </a:prstGeom>
          <a:ln w="19050">
            <a:solidFill>
              <a:srgbClr val="664327"/>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791" y="2747984"/>
            <a:ext cx="1377268" cy="771525"/>
          </a:xfrm>
          <a:prstGeom prst="rect">
            <a:avLst/>
          </a:prstGeom>
        </p:spPr>
      </p:pic>
    </p:spTree>
    <p:extLst>
      <p:ext uri="{BB962C8B-B14F-4D97-AF65-F5344CB8AC3E}">
        <p14:creationId xmlns:p14="http://schemas.microsoft.com/office/powerpoint/2010/main" val="2630551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026"/>
          <p:cNvSpPr>
            <a:spLocks noGrp="1"/>
          </p:cNvSpPr>
          <p:nvPr>
            <p:ph type="title"/>
          </p:nvPr>
        </p:nvSpPr>
        <p:spPr>
          <a:xfrm>
            <a:off x="773957" y="304800"/>
            <a:ext cx="7559675" cy="385762"/>
          </a:xfrm>
        </p:spPr>
        <p:txBody>
          <a:bodyPr/>
          <a:lstStyle/>
          <a:p>
            <a:pPr algn="ctr"/>
            <a:r>
              <a:rPr lang="en-US" sz="3200" dirty="0">
                <a:solidFill>
                  <a:schemeClr val="tx2"/>
                </a:solidFill>
                <a:latin typeface="Times New Roman" panose="02020603050405020304" pitchFamily="18" charset="0"/>
                <a:cs typeface="Times New Roman" panose="02020603050405020304" pitchFamily="18" charset="0"/>
              </a:rPr>
              <a:t>M</a:t>
            </a:r>
            <a:r>
              <a:rPr lang="en-US" sz="3200" dirty="0" smtClean="0">
                <a:solidFill>
                  <a:schemeClr val="tx2"/>
                </a:solidFill>
                <a:latin typeface="Times New Roman" panose="02020603050405020304" pitchFamily="18" charset="0"/>
                <a:cs typeface="Times New Roman" panose="02020603050405020304" pitchFamily="18" charset="0"/>
              </a:rPr>
              <a:t>ethodology’s Workflow</a:t>
            </a:r>
            <a:endParaRPr lang="en-US" sz="3200" dirty="0">
              <a:solidFill>
                <a:schemeClr val="tx2"/>
              </a:solidFill>
              <a:latin typeface="Times New Roman" panose="02020603050405020304" pitchFamily="18" charset="0"/>
              <a:cs typeface="Times New Roman" panose="02020603050405020304" pitchFamily="18" charset="0"/>
            </a:endParaRPr>
          </a:p>
        </p:txBody>
      </p:sp>
      <p:grpSp>
        <p:nvGrpSpPr>
          <p:cNvPr id="13" name="Group 12"/>
          <p:cNvGrpSpPr/>
          <p:nvPr/>
        </p:nvGrpSpPr>
        <p:grpSpPr>
          <a:xfrm>
            <a:off x="437135" y="2362200"/>
            <a:ext cx="7924800" cy="2405355"/>
            <a:chOff x="304800" y="2374010"/>
            <a:chExt cx="7924800" cy="2405355"/>
          </a:xfrm>
        </p:grpSpPr>
        <p:cxnSp>
          <p:nvCxnSpPr>
            <p:cNvPr id="6" name="Straight Arrow Connector 5"/>
            <p:cNvCxnSpPr/>
            <p:nvPr/>
          </p:nvCxnSpPr>
          <p:spPr>
            <a:xfrm>
              <a:off x="1600200" y="3276600"/>
              <a:ext cx="30480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937070" y="2855563"/>
              <a:ext cx="1437232" cy="75670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Taxonomical assignment</a:t>
              </a:r>
            </a:p>
            <a:p>
              <a:pPr algn="ctr"/>
              <a:r>
                <a:rPr lang="en-US" sz="1200" dirty="0" smtClean="0">
                  <a:solidFill>
                    <a:schemeClr val="tx2"/>
                  </a:solidFill>
                  <a:latin typeface="Times New Roman" panose="02020603050405020304" pitchFamily="18" charset="0"/>
                  <a:cs typeface="Times New Roman" panose="02020603050405020304" pitchFamily="18" charset="0"/>
                </a:rPr>
                <a:t>&amp; Preprocessing</a:t>
              </a:r>
            </a:p>
          </p:txBody>
        </p:sp>
        <p:grpSp>
          <p:nvGrpSpPr>
            <p:cNvPr id="1025" name="Group 1024"/>
            <p:cNvGrpSpPr/>
            <p:nvPr/>
          </p:nvGrpSpPr>
          <p:grpSpPr>
            <a:xfrm>
              <a:off x="3779434" y="2691823"/>
              <a:ext cx="1021166" cy="1276350"/>
              <a:chOff x="2945998" y="1828800"/>
              <a:chExt cx="1021166" cy="1276350"/>
            </a:xfrm>
          </p:grpSpPr>
          <p:sp>
            <p:nvSpPr>
              <p:cNvPr id="33" name="Flowchart: Magnetic Disk 32"/>
              <p:cNvSpPr/>
              <p:nvPr/>
            </p:nvSpPr>
            <p:spPr>
              <a:xfrm>
                <a:off x="3099329" y="2533650"/>
                <a:ext cx="780256" cy="476250"/>
              </a:xfrm>
              <a:prstGeom prst="flowChartMagneticDisk">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Test Data</a:t>
                </a:r>
                <a:endParaRPr lang="en-US" sz="1200" dirty="0">
                  <a:solidFill>
                    <a:schemeClr val="tx2"/>
                  </a:solidFill>
                  <a:latin typeface="Times New Roman" panose="02020603050405020304" pitchFamily="18" charset="0"/>
                  <a:cs typeface="Times New Roman" panose="02020603050405020304" pitchFamily="18" charset="0"/>
                </a:endParaRPr>
              </a:p>
            </p:txBody>
          </p:sp>
          <p:sp>
            <p:nvSpPr>
              <p:cNvPr id="34" name="Flowchart: Magnetic Disk 33"/>
              <p:cNvSpPr/>
              <p:nvPr/>
            </p:nvSpPr>
            <p:spPr>
              <a:xfrm>
                <a:off x="3052764" y="1981200"/>
                <a:ext cx="838200" cy="457200"/>
              </a:xfrm>
              <a:prstGeom prst="flowChartMagneticDisk">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Train Data</a:t>
                </a:r>
                <a:endParaRPr lang="en-US" sz="1200" dirty="0">
                  <a:solidFill>
                    <a:schemeClr val="tx2"/>
                  </a:solidFill>
                  <a:latin typeface="Times New Roman" panose="02020603050405020304" pitchFamily="18" charset="0"/>
                  <a:cs typeface="Times New Roman" panose="02020603050405020304" pitchFamily="18" charset="0"/>
                </a:endParaRPr>
              </a:p>
            </p:txBody>
          </p:sp>
          <p:sp>
            <p:nvSpPr>
              <p:cNvPr id="63" name="Rounded Rectangle 62"/>
              <p:cNvSpPr/>
              <p:nvPr/>
            </p:nvSpPr>
            <p:spPr>
              <a:xfrm>
                <a:off x="2945998" y="1828800"/>
                <a:ext cx="1021166" cy="1276350"/>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Rectangle 77"/>
            <p:cNvSpPr/>
            <p:nvPr/>
          </p:nvSpPr>
          <p:spPr>
            <a:xfrm>
              <a:off x="4800600" y="2895600"/>
              <a:ext cx="788999" cy="276999"/>
            </a:xfrm>
            <a:prstGeom prst="rect">
              <a:avLst/>
            </a:prstGeom>
          </p:spPr>
          <p:txBody>
            <a:bodyPr wrap="none">
              <a:spAutoFit/>
            </a:bodyPr>
            <a:lstStyle/>
            <a:p>
              <a:pPr algn="ctr"/>
              <a:r>
                <a:rPr lang="en-US" sz="1150" dirty="0" smtClean="0">
                  <a:solidFill>
                    <a:schemeClr val="tx2"/>
                  </a:solidFill>
                  <a:latin typeface="Times New Roman" panose="02020603050405020304" pitchFamily="18" charset="0"/>
                  <a:cs typeface="Times New Roman" panose="02020603050405020304" pitchFamily="18" charset="0"/>
                </a:rPr>
                <a:t>SHAP(G)</a:t>
              </a:r>
              <a:endParaRPr lang="en-US" sz="1150" dirty="0">
                <a:solidFill>
                  <a:schemeClr val="tx2"/>
                </a:solidFill>
                <a:latin typeface="Times New Roman" panose="02020603050405020304" pitchFamily="18" charset="0"/>
                <a:cs typeface="Times New Roman" panose="02020603050405020304" pitchFamily="18" charset="0"/>
              </a:endParaRPr>
            </a:p>
          </p:txBody>
        </p:sp>
        <p:cxnSp>
          <p:nvCxnSpPr>
            <p:cNvPr id="101" name="Straight Arrow Connector 100"/>
            <p:cNvCxnSpPr/>
            <p:nvPr/>
          </p:nvCxnSpPr>
          <p:spPr>
            <a:xfrm>
              <a:off x="3405187" y="3276599"/>
              <a:ext cx="32861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3794520" y="4441227"/>
              <a:ext cx="975520" cy="33813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Prediction</a:t>
              </a:r>
              <a:endParaRPr lang="en-US" sz="1300" dirty="0">
                <a:solidFill>
                  <a:schemeClr val="tx2"/>
                </a:solidFill>
                <a:latin typeface="Times New Roman" panose="02020603050405020304" pitchFamily="18" charset="0"/>
                <a:cs typeface="Times New Roman" panose="02020603050405020304" pitchFamily="18" charset="0"/>
              </a:endParaRPr>
            </a:p>
          </p:txBody>
        </p:sp>
        <p:sp>
          <p:nvSpPr>
            <p:cNvPr id="115" name="Rounded Rectangle 114"/>
            <p:cNvSpPr/>
            <p:nvPr/>
          </p:nvSpPr>
          <p:spPr>
            <a:xfrm>
              <a:off x="6713288" y="2849795"/>
              <a:ext cx="1069165" cy="546878"/>
            </a:xfrm>
            <a:prstGeom prst="round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solidFill>
                    <a:schemeClr val="tx2"/>
                  </a:solidFill>
                  <a:latin typeface="Times New Roman" panose="02020603050405020304" pitchFamily="18" charset="0"/>
                  <a:cs typeface="Times New Roman" panose="02020603050405020304" pitchFamily="18" charset="0"/>
                </a:rPr>
                <a:t>SHAP(G) 20</a:t>
              </a:r>
            </a:p>
            <a:p>
              <a:pPr algn="ctr"/>
              <a:r>
                <a:rPr lang="en-US" sz="1200" dirty="0" smtClean="0">
                  <a:solidFill>
                    <a:schemeClr val="tx2"/>
                  </a:solidFill>
                  <a:latin typeface="Times New Roman" panose="02020603050405020304" pitchFamily="18" charset="0"/>
                  <a:cs typeface="Times New Roman" panose="02020603050405020304" pitchFamily="18" charset="0"/>
                </a:rPr>
                <a:t>SHAP(G</a:t>
              </a:r>
              <a:r>
                <a:rPr lang="en-US" sz="1200" dirty="0">
                  <a:solidFill>
                    <a:schemeClr val="tx2"/>
                  </a:solidFill>
                  <a:latin typeface="Times New Roman" panose="02020603050405020304" pitchFamily="18" charset="0"/>
                  <a:cs typeface="Times New Roman" panose="02020603050405020304" pitchFamily="18" charset="0"/>
                </a:rPr>
                <a:t>) 3</a:t>
              </a:r>
            </a:p>
          </p:txBody>
        </p:sp>
        <p:sp>
          <p:nvSpPr>
            <p:cNvPr id="116" name="Rectangle 115"/>
            <p:cNvSpPr/>
            <p:nvPr/>
          </p:nvSpPr>
          <p:spPr>
            <a:xfrm>
              <a:off x="5648532" y="2928216"/>
              <a:ext cx="810264" cy="411063"/>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smtClean="0">
                  <a:solidFill>
                    <a:schemeClr val="tx2"/>
                  </a:solidFill>
                  <a:latin typeface="Times New Roman" panose="02020603050405020304" pitchFamily="18" charset="0"/>
                  <a:cs typeface="Times New Roman" panose="02020603050405020304" pitchFamily="18" charset="0"/>
                </a:rPr>
                <a:t>Train classifier</a:t>
              </a:r>
              <a:endParaRPr lang="en-US" sz="1300" dirty="0">
                <a:solidFill>
                  <a:schemeClr val="tx2"/>
                </a:solidFill>
                <a:latin typeface="Times New Roman" panose="02020603050405020304" pitchFamily="18" charset="0"/>
                <a:cs typeface="Times New Roman" panose="02020603050405020304" pitchFamily="18" charset="0"/>
              </a:endParaRPr>
            </a:p>
          </p:txBody>
        </p:sp>
        <p:cxnSp>
          <p:nvCxnSpPr>
            <p:cNvPr id="117" name="Straight Arrow Connector 116"/>
            <p:cNvCxnSpPr/>
            <p:nvPr/>
          </p:nvCxnSpPr>
          <p:spPr>
            <a:xfrm>
              <a:off x="6458795" y="3119729"/>
              <a:ext cx="25449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58" name="Elbow Connector 1057"/>
            <p:cNvCxnSpPr>
              <a:stCxn id="115" idx="3"/>
              <a:endCxn id="116" idx="0"/>
            </p:cNvCxnSpPr>
            <p:nvPr/>
          </p:nvCxnSpPr>
          <p:spPr>
            <a:xfrm flipH="1" flipV="1">
              <a:off x="6053664" y="2928216"/>
              <a:ext cx="1728789" cy="195018"/>
            </a:xfrm>
            <a:prstGeom prst="bentConnector4">
              <a:avLst>
                <a:gd name="adj1" fmla="val -13223"/>
                <a:gd name="adj2" fmla="val 25743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p:cNvCxnSpPr/>
            <p:nvPr/>
          </p:nvCxnSpPr>
          <p:spPr>
            <a:xfrm flipV="1">
              <a:off x="4936390" y="3165608"/>
              <a:ext cx="538684" cy="36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7" name="Rounded Rectangle 36"/>
            <p:cNvSpPr/>
            <p:nvPr/>
          </p:nvSpPr>
          <p:spPr>
            <a:xfrm>
              <a:off x="5544395" y="2374010"/>
              <a:ext cx="2685205" cy="1276350"/>
            </a:xfrm>
            <a:prstGeom prst="roundRect">
              <a:avLst/>
            </a:prstGeom>
            <a:noFill/>
            <a:ln w="19050">
              <a:solidFill>
                <a:srgbClr val="664327"/>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a:stCxn id="33" idx="3"/>
              <a:endCxn id="103" idx="0"/>
            </p:cNvCxnSpPr>
            <p:nvPr/>
          </p:nvCxnSpPr>
          <p:spPr>
            <a:xfrm>
              <a:off x="4272358" y="3853873"/>
              <a:ext cx="9922" cy="587354"/>
            </a:xfrm>
            <a:prstGeom prst="straightConnector1">
              <a:avLst/>
            </a:prstGeom>
            <a:ln w="19050">
              <a:solidFill>
                <a:srgbClr val="664327"/>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37" idx="2"/>
              <a:endCxn id="103" idx="3"/>
            </p:cNvCxnSpPr>
            <p:nvPr/>
          </p:nvCxnSpPr>
          <p:spPr>
            <a:xfrm rot="5400000">
              <a:off x="5348551" y="3071849"/>
              <a:ext cx="959936" cy="2116958"/>
            </a:xfrm>
            <a:prstGeom prst="bentConnector2">
              <a:avLst/>
            </a:prstGeom>
            <a:ln w="19050">
              <a:solidFill>
                <a:srgbClr val="664327"/>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2733675"/>
              <a:ext cx="1377268" cy="771525"/>
            </a:xfrm>
            <a:prstGeom prst="rect">
              <a:avLst/>
            </a:prstGeom>
          </p:spPr>
        </p:pic>
      </p:grpSp>
    </p:spTree>
    <p:extLst>
      <p:ext uri="{BB962C8B-B14F-4D97-AF65-F5344CB8AC3E}">
        <p14:creationId xmlns:p14="http://schemas.microsoft.com/office/powerpoint/2010/main" val="24807660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371600" y="152400"/>
            <a:ext cx="7391400" cy="723900"/>
          </a:xfrm>
        </p:spPr>
        <p:txBody>
          <a:bodyPr/>
          <a:lstStyle/>
          <a:p>
            <a:r>
              <a:rPr lang="en-US" sz="2400" dirty="0" smtClean="0">
                <a:solidFill>
                  <a:srgbClr val="FFFF00"/>
                </a:solidFill>
                <a:latin typeface="Times New Roman" panose="02020603050405020304" pitchFamily="18" charset="0"/>
                <a:cs typeface="Times New Roman" panose="02020603050405020304" pitchFamily="18" charset="0"/>
              </a:rPr>
              <a:t>Number of Features after Removing Zero-importance Features</a:t>
            </a:r>
          </a:p>
        </p:txBody>
      </p:sp>
      <p:sp>
        <p:nvSpPr>
          <p:cNvPr id="5" name="Rectangle 4"/>
          <p:cNvSpPr/>
          <p:nvPr/>
        </p:nvSpPr>
        <p:spPr>
          <a:xfrm>
            <a:off x="990600" y="1905000"/>
            <a:ext cx="4572000" cy="3416320"/>
          </a:xfrm>
          <a:prstGeom prst="rect">
            <a:avLst/>
          </a:prstGeom>
        </p:spPr>
        <p:txBody>
          <a:bodyPr>
            <a:spAutoFit/>
          </a:bodyPr>
          <a:lstStyle/>
          <a:p>
            <a:pPr marL="285750" indent="-285750">
              <a:buFont typeface="Arial" panose="020B0604020202020204" pitchFamily="34" charset="0"/>
              <a:buChar char="•"/>
            </a:pPr>
            <a:r>
              <a:rPr lang="en-US" b="1" dirty="0" err="1" smtClean="0">
                <a:latin typeface="Times New Roman" panose="02020603050405020304" pitchFamily="18" charset="0"/>
                <a:cs typeface="Times New Roman" panose="02020603050405020304" pitchFamily="18" charset="0"/>
              </a:rPr>
              <a:t>Aviti</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after feature selection</a:t>
            </a:r>
          </a:p>
          <a:p>
            <a:r>
              <a:rPr lang="en-US" dirty="0" smtClean="0">
                <a:latin typeface="Times New Roman" panose="02020603050405020304" pitchFamily="18" charset="0"/>
                <a:cs typeface="Times New Roman" panose="02020603050405020304" pitchFamily="18" charset="0"/>
              </a:rPr>
              <a:t>soil: 35 </a:t>
            </a:r>
          </a:p>
          <a:p>
            <a:r>
              <a:rPr lang="en-US" dirty="0" smtClean="0">
                <a:latin typeface="Times New Roman" panose="02020603050405020304" pitchFamily="18" charset="0"/>
                <a:cs typeface="Times New Roman" panose="02020603050405020304" pitchFamily="18" charset="0"/>
              </a:rPr>
              <a:t>autoclave: 59</a:t>
            </a:r>
            <a:endParaRPr lang="en-US" dirty="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HeatRoot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69</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smtClean="0">
                <a:latin typeface="Times New Roman" panose="02020603050405020304" pitchFamily="18" charset="0"/>
                <a:cs typeface="Times New Roman" panose="02020603050405020304" pitchFamily="18" charset="0"/>
              </a:rPr>
              <a:t>Miseq</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after feature selection</a:t>
            </a:r>
          </a:p>
          <a:p>
            <a:r>
              <a:rPr lang="en-US" dirty="0">
                <a:latin typeface="Times New Roman" panose="02020603050405020304" pitchFamily="18" charset="0"/>
                <a:cs typeface="Times New Roman" panose="02020603050405020304" pitchFamily="18" charset="0"/>
              </a:rPr>
              <a:t>soil: </a:t>
            </a:r>
            <a:r>
              <a:rPr lang="en-US" dirty="0" smtClean="0">
                <a:latin typeface="Times New Roman" panose="02020603050405020304" pitchFamily="18" charset="0"/>
                <a:cs typeface="Times New Roman" panose="02020603050405020304" pitchFamily="18" charset="0"/>
              </a:rPr>
              <a:t>52</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autoclave: </a:t>
            </a:r>
            <a:r>
              <a:rPr lang="en-US" dirty="0" smtClean="0">
                <a:latin typeface="Times New Roman" panose="02020603050405020304" pitchFamily="18" charset="0"/>
                <a:cs typeface="Times New Roman" panose="02020603050405020304" pitchFamily="18" charset="0"/>
              </a:rPr>
              <a:t>55</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H</a:t>
            </a:r>
            <a:r>
              <a:rPr lang="en-US" dirty="0" err="1" smtClean="0">
                <a:latin typeface="Times New Roman" panose="02020603050405020304" pitchFamily="18" charset="0"/>
                <a:cs typeface="Times New Roman" panose="02020603050405020304" pitchFamily="18" charset="0"/>
              </a:rPr>
              <a:t>eatRoot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71</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err="1" smtClean="0">
                <a:latin typeface="Times New Roman" panose="02020603050405020304" pitchFamily="18" charset="0"/>
                <a:cs typeface="Times New Roman" panose="02020603050405020304" pitchFamily="18" charset="0"/>
              </a:rPr>
              <a:t>Novaseq</a:t>
            </a:r>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after feature selection</a:t>
            </a:r>
          </a:p>
          <a:p>
            <a:r>
              <a:rPr lang="en-US" dirty="0">
                <a:latin typeface="Times New Roman" panose="02020603050405020304" pitchFamily="18" charset="0"/>
                <a:cs typeface="Times New Roman" panose="02020603050405020304" pitchFamily="18" charset="0"/>
              </a:rPr>
              <a:t>soil: </a:t>
            </a:r>
            <a:r>
              <a:rPr lang="en-US" dirty="0" smtClean="0">
                <a:latin typeface="Times New Roman" panose="02020603050405020304" pitchFamily="18" charset="0"/>
                <a:cs typeface="Times New Roman" panose="02020603050405020304" pitchFamily="18" charset="0"/>
              </a:rPr>
              <a:t>34</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autoclave: </a:t>
            </a:r>
            <a:r>
              <a:rPr lang="en-US" dirty="0" smtClean="0">
                <a:latin typeface="Times New Roman" panose="02020603050405020304" pitchFamily="18" charset="0"/>
                <a:cs typeface="Times New Roman" panose="02020603050405020304" pitchFamily="18" charset="0"/>
              </a:rPr>
              <a:t>56</a:t>
            </a:r>
            <a:endParaRPr lang="en-US" dirty="0">
              <a:latin typeface="Times New Roman" panose="02020603050405020304" pitchFamily="18" charset="0"/>
              <a:cs typeface="Times New Roman" panose="02020603050405020304" pitchFamily="18" charset="0"/>
            </a:endParaRPr>
          </a:p>
          <a:p>
            <a:r>
              <a:rPr lang="en-US" dirty="0" err="1" smtClean="0">
                <a:latin typeface="Times New Roman" panose="02020603050405020304" pitchFamily="18" charset="0"/>
                <a:cs typeface="Times New Roman" panose="02020603050405020304" pitchFamily="18" charset="0"/>
              </a:rPr>
              <a:t>HeatRoot</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66</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35910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524000" y="76200"/>
            <a:ext cx="7056438" cy="723900"/>
          </a:xfrm>
        </p:spPr>
        <p:txBody>
          <a:bodyPr/>
          <a:lstStyle/>
          <a:p>
            <a:r>
              <a:rPr lang="en-US" sz="2000" dirty="0" smtClean="0">
                <a:solidFill>
                  <a:srgbClr val="FFFF00"/>
                </a:solidFill>
                <a:latin typeface="Times New Roman" panose="02020603050405020304" pitchFamily="18" charset="0"/>
                <a:cs typeface="Times New Roman" panose="02020603050405020304" pitchFamily="18" charset="0"/>
              </a:rPr>
              <a:t>Accuracy results of Random Forest per each dataset (</a:t>
            </a:r>
            <a:r>
              <a:rPr lang="en-US" sz="2000" dirty="0" smtClean="0">
                <a:solidFill>
                  <a:schemeClr val="tx2"/>
                </a:solidFill>
                <a:latin typeface="Times New Roman" panose="02020603050405020304" pitchFamily="18" charset="0"/>
                <a:cs typeface="Times New Roman" panose="02020603050405020304" pitchFamily="18" charset="0"/>
              </a:rPr>
              <a:t>Feature selection/reduction applied</a:t>
            </a:r>
            <a:r>
              <a:rPr lang="en-US" sz="2000" dirty="0" smtClean="0">
                <a:solidFill>
                  <a:srgbClr val="FFFF00"/>
                </a:solidFill>
                <a:latin typeface="Times New Roman" panose="02020603050405020304" pitchFamily="18" charset="0"/>
                <a:cs typeface="Times New Roman" panose="02020603050405020304" pitchFamily="18"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3791486628"/>
              </p:ext>
            </p:extLst>
          </p:nvPr>
        </p:nvGraphicFramePr>
        <p:xfrm>
          <a:off x="762000" y="1790710"/>
          <a:ext cx="3924300" cy="1307611"/>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65385">
                <a:tc gridSpan="5">
                  <a:txBody>
                    <a:bodyPr/>
                    <a:lstStyle/>
                    <a:p>
                      <a:pPr marL="0" marR="0" algn="l">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a:solidFill>
                            <a:srgbClr val="C00000"/>
                          </a:solidFill>
                          <a:effectLst/>
                          <a:latin typeface="Times New Roman" panose="02020603050405020304" pitchFamily="18" charset="0"/>
                          <a:ea typeface="Calibri" panose="020F0502020204030204" pitchFamily="34" charset="0"/>
                          <a:cs typeface="Arial" panose="020B0604020202020204" pitchFamily="34" charset="0"/>
                        </a:rPr>
                        <a:t>Aviti</a:t>
                      </a:r>
                      <a:endParaRPr lang="en-US"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485775">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28569">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u="none"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0.88</a:t>
                      </a:r>
                      <a:endParaRPr lang="en-US" sz="1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55</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21526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0.33</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0.33</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fa-IR" sz="1100"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44</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sp>
        <p:nvSpPr>
          <p:cNvPr id="4" name="TextBox 3"/>
          <p:cNvSpPr txBox="1"/>
          <p:nvPr/>
        </p:nvSpPr>
        <p:spPr>
          <a:xfrm>
            <a:off x="1676400" y="1399258"/>
            <a:ext cx="1905000"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Binary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6019800" y="1385010"/>
            <a:ext cx="2408238"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Multi-class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936386497"/>
              </p:ext>
            </p:extLst>
          </p:nvPr>
        </p:nvGraphicFramePr>
        <p:xfrm>
          <a:off x="736805" y="3276600"/>
          <a:ext cx="392430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5">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cs typeface="Times New Roman" panose="02020603050405020304" pitchFamily="18" charset="0"/>
                        </a:rPr>
                        <a:t>Miseq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301807788"/>
              </p:ext>
            </p:extLst>
          </p:nvPr>
        </p:nvGraphicFramePr>
        <p:xfrm>
          <a:off x="734347" y="4780106"/>
          <a:ext cx="392430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5">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ea typeface="+mn-ea"/>
                          <a:cs typeface="Times New Roman" panose="02020603050405020304" pitchFamily="18" charset="0"/>
                        </a:rPr>
                        <a:t>Nova</a:t>
                      </a:r>
                      <a:r>
                        <a:rPr lang="en-US" sz="1100" b="1" dirty="0" err="1" smtClean="0">
                          <a:solidFill>
                            <a:srgbClr val="C00000"/>
                          </a:solidFill>
                          <a:effectLst/>
                          <a:latin typeface="Times New Roman" panose="02020603050405020304" pitchFamily="18" charset="0"/>
                          <a:cs typeface="Times New Roman" panose="02020603050405020304" pitchFamily="18" charset="0"/>
                        </a:rPr>
                        <a:t>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811661281"/>
              </p:ext>
            </p:extLst>
          </p:nvPr>
        </p:nvGraphicFramePr>
        <p:xfrm>
          <a:off x="5234087" y="1806819"/>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2118">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Aviti</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594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26</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a:t>
                      </a:r>
                      <a:r>
                        <a:rPr lang="en-US" sz="1100" b="1" dirty="0">
                          <a:effectLst/>
                          <a:latin typeface="Calibri" panose="020F0502020204030204" pitchFamily="34" charset="0"/>
                          <a:ea typeface="Calibri" panose="020F0502020204030204" pitchFamily="34" charset="0"/>
                          <a:cs typeface="Arial" panose="020B0604020202020204" pitchFamily="34" charset="0"/>
                        </a:rPr>
                        <a:t>SHAP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118">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661694892"/>
              </p:ext>
            </p:extLst>
          </p:nvPr>
        </p:nvGraphicFramePr>
        <p:xfrm>
          <a:off x="5243612" y="4854819"/>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1603">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Times New Roman" panose="02020603050405020304" pitchFamily="18" charset="0"/>
                          <a:cs typeface="Times New Roman" panose="02020603050405020304" pitchFamily="18" charset="0"/>
                        </a:rPr>
                        <a:t>Novaseq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637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a:t>
                      </a:r>
                      <a:r>
                        <a:rPr lang="en-US" sz="1100" b="1" dirty="0">
                          <a:effectLst/>
                          <a:latin typeface="Calibri" panose="020F0502020204030204" pitchFamily="34" charset="0"/>
                          <a:ea typeface="Calibri" panose="020F0502020204030204" pitchFamily="34" charset="0"/>
                          <a:cs typeface="Arial" panose="020B0604020202020204" pitchFamily="34" charset="0"/>
                        </a:rPr>
                        <a:t>SHAP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203">
                <a:tc>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Soil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2114110006"/>
              </p:ext>
            </p:extLst>
          </p:nvPr>
        </p:nvGraphicFramePr>
        <p:xfrm>
          <a:off x="5243612" y="3330821"/>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57210">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Miseq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450604">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28</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a:t>
                      </a:r>
                      <a:r>
                        <a:rPr lang="en-US" sz="1100" b="1" dirty="0">
                          <a:effectLst/>
                          <a:latin typeface="Calibri" panose="020F0502020204030204" pitchFamily="34" charset="0"/>
                          <a:ea typeface="Calibri" panose="020F0502020204030204" pitchFamily="34" charset="0"/>
                          <a:cs typeface="Arial" panose="020B0604020202020204" pitchFamily="34" charset="0"/>
                        </a:rPr>
                        <a:t>SHAP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57210">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0.77</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spTree>
    <p:extLst>
      <p:ext uri="{BB962C8B-B14F-4D97-AF65-F5344CB8AC3E}">
        <p14:creationId xmlns:p14="http://schemas.microsoft.com/office/powerpoint/2010/main" val="29097437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524000" y="76200"/>
            <a:ext cx="7056438" cy="723900"/>
          </a:xfrm>
        </p:spPr>
        <p:txBody>
          <a:bodyPr/>
          <a:lstStyle/>
          <a:p>
            <a:r>
              <a:rPr lang="en-US" sz="2000" dirty="0" smtClean="0">
                <a:solidFill>
                  <a:srgbClr val="FFFF00"/>
                </a:solidFill>
                <a:latin typeface="Times New Roman" panose="02020603050405020304" pitchFamily="18" charset="0"/>
                <a:cs typeface="Times New Roman" panose="02020603050405020304" pitchFamily="18" charset="0"/>
              </a:rPr>
              <a:t>Accuracy results of LSVM per each dataset (</a:t>
            </a:r>
            <a:r>
              <a:rPr lang="en-US" sz="2000" dirty="0" smtClean="0">
                <a:solidFill>
                  <a:schemeClr val="tx2"/>
                </a:solidFill>
                <a:latin typeface="Times New Roman" panose="02020603050405020304" pitchFamily="18" charset="0"/>
                <a:cs typeface="Times New Roman" panose="02020603050405020304" pitchFamily="18" charset="0"/>
              </a:rPr>
              <a:t>Feature selection/reduction applied</a:t>
            </a:r>
            <a:r>
              <a:rPr lang="en-US" sz="2000" dirty="0" smtClean="0">
                <a:solidFill>
                  <a:srgbClr val="FFFF00"/>
                </a:solidFill>
                <a:latin typeface="Times New Roman" panose="02020603050405020304" pitchFamily="18" charset="0"/>
                <a:cs typeface="Times New Roman" panose="02020603050405020304" pitchFamily="18"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3328630846"/>
              </p:ext>
            </p:extLst>
          </p:nvPr>
        </p:nvGraphicFramePr>
        <p:xfrm>
          <a:off x="762000" y="1790710"/>
          <a:ext cx="3924300" cy="1307611"/>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65385">
                <a:tc gridSpan="5">
                  <a:txBody>
                    <a:bodyPr/>
                    <a:lstStyle/>
                    <a:p>
                      <a:pPr marL="0" marR="0" algn="l">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Aviti</a:t>
                      </a:r>
                      <a:endParaRPr lang="en-US"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485775">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28569">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u="none"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0.88</a:t>
                      </a:r>
                      <a:endParaRPr lang="en-US" sz="1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21526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0.22</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sp>
        <p:nvSpPr>
          <p:cNvPr id="4" name="TextBox 3"/>
          <p:cNvSpPr txBox="1"/>
          <p:nvPr/>
        </p:nvSpPr>
        <p:spPr>
          <a:xfrm>
            <a:off x="1676400" y="1399258"/>
            <a:ext cx="1905000"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Binary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6019800" y="1385010"/>
            <a:ext cx="2408238"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Multi-class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153298561"/>
              </p:ext>
            </p:extLst>
          </p:nvPr>
        </p:nvGraphicFramePr>
        <p:xfrm>
          <a:off x="736805" y="3276600"/>
          <a:ext cx="392430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5">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cs typeface="Times New Roman" panose="02020603050405020304" pitchFamily="18" charset="0"/>
                        </a:rPr>
                        <a:t>Miseq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0.22</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063407122"/>
              </p:ext>
            </p:extLst>
          </p:nvPr>
        </p:nvGraphicFramePr>
        <p:xfrm>
          <a:off x="734347" y="4780106"/>
          <a:ext cx="392430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816270">
                  <a:extLst>
                    <a:ext uri="{9D8B030D-6E8A-4147-A177-3AD203B41FA5}">
                      <a16:colId xmlns:a16="http://schemas.microsoft.com/office/drawing/2014/main" val="3536964965"/>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5">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ea typeface="+mn-ea"/>
                          <a:cs typeface="Times New Roman" panose="02020603050405020304" pitchFamily="18" charset="0"/>
                        </a:rPr>
                        <a:t>Nova</a:t>
                      </a:r>
                      <a:r>
                        <a:rPr lang="en-US" sz="1100" b="1" dirty="0" err="1" smtClean="0">
                          <a:solidFill>
                            <a:srgbClr val="C00000"/>
                          </a:solidFill>
                          <a:effectLst/>
                          <a:latin typeface="Times New Roman" panose="02020603050405020304" pitchFamily="18" charset="0"/>
                          <a:cs typeface="Times New Roman" panose="02020603050405020304" pitchFamily="18" charset="0"/>
                        </a:rPr>
                        <a:t>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All</a:t>
                      </a:r>
                      <a:r>
                        <a:rPr lang="en-US" sz="1100" b="1" baseline="0" dirty="0" smtClean="0">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Reduced</a:t>
                      </a:r>
                      <a:r>
                        <a:rPr lang="en-US" sz="1100" b="1" baseline="0"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100" b="1" dirty="0" smtClean="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a:t>
                      </a: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SHAP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0.22</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890468034"/>
              </p:ext>
            </p:extLst>
          </p:nvPr>
        </p:nvGraphicFramePr>
        <p:xfrm>
          <a:off x="5234087" y="1806819"/>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2118">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Aviti</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03006">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24</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a:t>
                      </a:r>
                      <a:r>
                        <a:rPr lang="en-US" sz="1100" b="1" dirty="0">
                          <a:effectLst/>
                          <a:latin typeface="Calibri" panose="020F0502020204030204" pitchFamily="34" charset="0"/>
                          <a:ea typeface="Calibri" panose="020F0502020204030204" pitchFamily="34" charset="0"/>
                          <a:cs typeface="Arial" panose="020B0604020202020204" pitchFamily="34" charset="0"/>
                        </a:rPr>
                        <a:t>SHAP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118">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2673821404"/>
              </p:ext>
            </p:extLst>
          </p:nvPr>
        </p:nvGraphicFramePr>
        <p:xfrm>
          <a:off x="5243612" y="4854819"/>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1603">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C00000"/>
                          </a:solidFill>
                          <a:effectLst/>
                          <a:latin typeface="Times New Roman" panose="02020603050405020304" pitchFamily="18" charset="0"/>
                          <a:cs typeface="Times New Roman" panose="02020603050405020304" pitchFamily="18" charset="0"/>
                        </a:rPr>
                        <a:t>Novaseq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637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23</a:t>
                      </a:r>
                      <a:r>
                        <a:rPr lang="en-US" sz="1100" b="1" baseline="0" dirty="0" smtClean="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SHAP 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203">
                <a:tc>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Soil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760680408"/>
              </p:ext>
            </p:extLst>
          </p:nvPr>
        </p:nvGraphicFramePr>
        <p:xfrm>
          <a:off x="5243612" y="3330821"/>
          <a:ext cx="3467102"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1027013">
                  <a:extLst>
                    <a:ext uri="{9D8B030D-6E8A-4147-A177-3AD203B41FA5}">
                      <a16:colId xmlns:a16="http://schemas.microsoft.com/office/drawing/2014/main" val="1523360492"/>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57210">
                <a:tc gridSpan="4">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Miseq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450604">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All Reduced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30</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a:t>
                      </a:r>
                      <a:r>
                        <a:rPr lang="en-US" sz="1100" b="1" dirty="0">
                          <a:effectLst/>
                          <a:latin typeface="Calibri" panose="020F0502020204030204" pitchFamily="34" charset="0"/>
                          <a:ea typeface="Calibri" panose="020F0502020204030204" pitchFamily="34" charset="0"/>
                          <a:cs typeface="Arial" panose="020B0604020202020204" pitchFamily="34" charset="0"/>
                        </a:rPr>
                        <a:t>SHAP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57210">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1.0</a:t>
                      </a: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dirty="0" smtClean="0">
                          <a:effectLst/>
                          <a:latin typeface="Calibri" panose="020F0502020204030204" pitchFamily="34" charset="0"/>
                          <a:ea typeface="Calibri" panose="020F0502020204030204" pitchFamily="34" charset="0"/>
                          <a:cs typeface="Arial" panose="020B0604020202020204" pitchFamily="34" charset="0"/>
                        </a:rPr>
                        <a:t>0.88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spTree>
    <p:extLst>
      <p:ext uri="{BB962C8B-B14F-4D97-AF65-F5344CB8AC3E}">
        <p14:creationId xmlns:p14="http://schemas.microsoft.com/office/powerpoint/2010/main" val="41315808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smtClean="0">
                <a:solidFill>
                  <a:srgbClr val="000000"/>
                </a:solidFill>
                <a:latin typeface="Times New Roman" panose="02020603050405020304" pitchFamily="18" charset="0"/>
                <a:cs typeface="Times New Roman" panose="02020603050405020304" pitchFamily="18" charset="0"/>
              </a:rPr>
              <a:t>List of </a:t>
            </a:r>
            <a:r>
              <a:rPr lang="en-US" sz="2000" dirty="0" smtClean="0">
                <a:solidFill>
                  <a:srgbClr val="FFFF00"/>
                </a:solidFill>
                <a:latin typeface="Times New Roman" panose="02020603050405020304" pitchFamily="18" charset="0"/>
                <a:cs typeface="Times New Roman" panose="02020603050405020304" pitchFamily="18" charset="0"/>
              </a:rPr>
              <a:t>Top 20 </a:t>
            </a:r>
            <a:r>
              <a:rPr lang="en-US" sz="2000" dirty="0" smtClean="0">
                <a:solidFill>
                  <a:srgbClr val="000000"/>
                </a:solidFill>
                <a:latin typeface="Times New Roman" panose="02020603050405020304" pitchFamily="18" charset="0"/>
                <a:cs typeface="Times New Roman" panose="02020603050405020304" pitchFamily="18" charset="0"/>
              </a:rPr>
              <a:t>SHAP Features for </a:t>
            </a:r>
            <a:r>
              <a:rPr lang="en-US" sz="2000" dirty="0" err="1" smtClean="0">
                <a:solidFill>
                  <a:srgbClr val="FFFF00"/>
                </a:solidFill>
                <a:latin typeface="Times New Roman" panose="02020603050405020304" pitchFamily="18" charset="0"/>
                <a:cs typeface="Times New Roman" panose="02020603050405020304" pitchFamily="18" charset="0"/>
              </a:rPr>
              <a:t>Aviti</a:t>
            </a:r>
            <a:r>
              <a:rPr lang="en-US" sz="2000" dirty="0" smtClean="0">
                <a:solidFill>
                  <a:srgbClr val="FFFF00"/>
                </a:solidFill>
                <a:latin typeface="Times New Roman" panose="02020603050405020304" pitchFamily="18" charset="0"/>
                <a:cs typeface="Times New Roman" panose="02020603050405020304" pitchFamily="18" charset="0"/>
              </a:rPr>
              <a:t>, Random Forest</a:t>
            </a:r>
          </a:p>
        </p:txBody>
      </p:sp>
      <p:graphicFrame>
        <p:nvGraphicFramePr>
          <p:cNvPr id="5" name="Table 4"/>
          <p:cNvGraphicFramePr>
            <a:graphicFrameLocks noGrp="1"/>
          </p:cNvGraphicFramePr>
          <p:nvPr>
            <p:extLst>
              <p:ext uri="{D42A27DB-BD31-4B8C-83A1-F6EECF244321}">
                <p14:modId xmlns:p14="http://schemas.microsoft.com/office/powerpoint/2010/main" val="1087793766"/>
              </p:ext>
            </p:extLst>
          </p:nvPr>
        </p:nvGraphicFramePr>
        <p:xfrm>
          <a:off x="4191000" y="1193800"/>
          <a:ext cx="4495800" cy="4958887"/>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Roseimaritima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SWB02</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Ideonella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Roseimaritima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oc32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SWB02</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Planctopirus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Fermentimonas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Ideonella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Azotobacter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oc32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Hyphomicrobium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Roseimaritima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C1-B045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C1-B045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Chthonobacter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Sneathiella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Sneathiella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Acidovorax</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Hyphomicrobium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Acidovorax</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SWB02</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Chthonobacter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Agrobacterium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Agrobacterium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Planctopirus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Labrys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Labrys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Azotobacter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Fermentimonas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Ideonella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Planctopirus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Fermentimonas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Methylobacter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Azotobacter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Hyphomicrobium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Zavarzinella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Methylobacter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Cellvibrio</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Spirochaeta</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Candidatus</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Solibacter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Niveispirillum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Candidatus</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Solibacter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Fimbriiglobus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Spirochaeta</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Parafilimonas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Spirochaeta</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Candidatus</a:t>
                      </a:r>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Solibacter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Oligoflexus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Oligoflexus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Parafilimonas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Ureibacillus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Ureibacillus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Oligoflexus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Planifilum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Planifilum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Ureibacillus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794441367"/>
              </p:ext>
            </p:extLst>
          </p:nvPr>
        </p:nvGraphicFramePr>
        <p:xfrm>
          <a:off x="381000" y="1193800"/>
          <a:ext cx="3579813" cy="522627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Gemmata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YC-ZSS-LKJ147</a:t>
                      </a: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Neobacillus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Salinispira</a:t>
                      </a: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Ramlibacter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Massilia</a:t>
                      </a: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Methanosarcina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Algoriphagus</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Niallia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Microbacterium</a:t>
                      </a:r>
                    </a:p>
                  </a:txBody>
                  <a:tcPr marL="9525" marR="9525" marT="9525" marB="0" anchor="b"/>
                </a:tc>
                <a:extLst>
                  <a:ext uri="{0D108BD9-81ED-4DB2-BD59-A6C34878D82A}">
                    <a16:rowId xmlns:a16="http://schemas.microsoft.com/office/drawing/2014/main" val="4110988134"/>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UBA6140</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Arcanobacter</a:t>
                      </a: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Imperialibacter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Reyranella</a:t>
                      </a: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OLB13</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Ovatusbacter</a:t>
                      </a: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Methylobacter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Rhodopila</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Flavobacterium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Omnitrophus</a:t>
                      </a: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Stenotrophobacter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Erythrobacter</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Telmatocola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Mesorhizobium</a:t>
                      </a: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Dysgonomonas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Lacihabitans</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Blastocatella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Variovorax</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Methyloversatilis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Xylophilus</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Pseudofulvimonas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Pseudoduganella</a:t>
                      </a: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Mesobacillus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Bradyrhizobium</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Sphingomonas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Ramlibacter</a:t>
                      </a: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Sulfurifustis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OLB13</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Reyranella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Mycobacterium</a:t>
                      </a: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38958400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a:t>
            </a:r>
            <a:r>
              <a:rPr lang="en-US" sz="2000" dirty="0" smtClean="0">
                <a:solidFill>
                  <a:srgbClr val="000000"/>
                </a:solidFill>
                <a:latin typeface="Times New Roman" panose="02020603050405020304" pitchFamily="18" charset="0"/>
                <a:cs typeface="Times New Roman" panose="02020603050405020304" pitchFamily="18" charset="0"/>
              </a:rPr>
              <a:t>oxplot </a:t>
            </a:r>
            <a:r>
              <a:rPr lang="en-US" sz="2000" dirty="0">
                <a:solidFill>
                  <a:srgbClr val="000000"/>
                </a:solidFill>
                <a:latin typeface="Times New Roman" panose="02020603050405020304" pitchFamily="18" charset="0"/>
                <a:cs typeface="Times New Roman" panose="02020603050405020304" pitchFamily="18" charset="0"/>
              </a:rPr>
              <a:t>of the </a:t>
            </a:r>
            <a:r>
              <a:rPr lang="en-US" sz="2000" dirty="0" smtClean="0">
                <a:solidFill>
                  <a:srgbClr val="FFFF00"/>
                </a:solidFill>
                <a:latin typeface="Times New Roman" panose="02020603050405020304" pitchFamily="18" charset="0"/>
                <a:cs typeface="Times New Roman" panose="02020603050405020304" pitchFamily="18" charset="0"/>
              </a:rPr>
              <a:t>Soil</a:t>
            </a:r>
            <a:r>
              <a:rPr lang="en-US" sz="2000" dirty="0" smtClean="0">
                <a:solidFill>
                  <a:srgbClr val="000000"/>
                </a:solidFill>
                <a:latin typeface="Times New Roman" panose="02020603050405020304" pitchFamily="18" charset="0"/>
                <a:cs typeface="Times New Roman" panose="02020603050405020304" pitchFamily="18" charset="0"/>
              </a:rPr>
              <a:t> features </a:t>
            </a:r>
            <a:r>
              <a:rPr lang="en-US" sz="2000" dirty="0">
                <a:solidFill>
                  <a:srgbClr val="000000"/>
                </a:solidFill>
                <a:latin typeface="Times New Roman" panose="02020603050405020304" pitchFamily="18" charset="0"/>
                <a:cs typeface="Times New Roman" panose="02020603050405020304" pitchFamily="18" charset="0"/>
              </a:rPr>
              <a:t>abundance </a:t>
            </a:r>
            <a:r>
              <a:rPr lang="en-US" sz="2000" dirty="0" smtClean="0">
                <a:solidFill>
                  <a:srgbClr val="000000"/>
                </a:solidFill>
                <a:latin typeface="Times New Roman" panose="02020603050405020304" pitchFamily="18" charset="0"/>
                <a:cs typeface="Times New Roman" panose="02020603050405020304" pitchFamily="18" charset="0"/>
              </a:rPr>
              <a:t>for </a:t>
            </a:r>
            <a:r>
              <a:rPr lang="en-US" sz="2000" dirty="0" err="1" smtClean="0">
                <a:solidFill>
                  <a:srgbClr val="FFFF00"/>
                </a:solidFill>
                <a:latin typeface="Times New Roman" panose="02020603050405020304" pitchFamily="18" charset="0"/>
                <a:cs typeface="Times New Roman" panose="02020603050405020304" pitchFamily="18" charset="0"/>
              </a:rPr>
              <a:t>Aviti</a:t>
            </a:r>
            <a:r>
              <a:rPr lang="en-US" sz="2000" dirty="0" smtClean="0">
                <a:solidFill>
                  <a:srgbClr val="FFFF00"/>
                </a:solidFill>
                <a:latin typeface="Times New Roman" panose="02020603050405020304" pitchFamily="18" charset="0"/>
                <a:cs typeface="Times New Roman" panose="02020603050405020304" pitchFamily="18" charset="0"/>
              </a:rPr>
              <a:t>, Random Forest</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52600"/>
            <a:ext cx="8686800" cy="4306901"/>
          </a:xfrm>
          <a:prstGeom prst="rect">
            <a:avLst/>
          </a:prstGeom>
        </p:spPr>
      </p:pic>
    </p:spTree>
    <p:extLst>
      <p:ext uri="{BB962C8B-B14F-4D97-AF65-F5344CB8AC3E}">
        <p14:creationId xmlns:p14="http://schemas.microsoft.com/office/powerpoint/2010/main" val="2635609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52400"/>
            <a:ext cx="8382000" cy="723900"/>
          </a:xfrm>
        </p:spPr>
        <p:txBody>
          <a:bodyPr/>
          <a:lstStyle/>
          <a:p>
            <a:r>
              <a:rPr lang="en-US" sz="2000" dirty="0" smtClean="0">
                <a:solidFill>
                  <a:srgbClr val="000000"/>
                </a:solidFill>
                <a:latin typeface="Times New Roman" panose="02020603050405020304" pitchFamily="18" charset="0"/>
                <a:cs typeface="Times New Roman" panose="02020603050405020304" pitchFamily="18" charset="0"/>
              </a:rPr>
              <a:t>List </a:t>
            </a:r>
            <a:r>
              <a:rPr lang="en-US" sz="2000" dirty="0">
                <a:solidFill>
                  <a:srgbClr val="000000"/>
                </a:solidFill>
                <a:latin typeface="Times New Roman" panose="02020603050405020304" pitchFamily="18" charset="0"/>
                <a:cs typeface="Times New Roman" panose="02020603050405020304" pitchFamily="18" charset="0"/>
              </a:rPr>
              <a:t>of </a:t>
            </a:r>
            <a:r>
              <a:rPr lang="en-US" sz="2000" dirty="0" smtClean="0">
                <a:solidFill>
                  <a:srgbClr val="FFFF00"/>
                </a:solidFill>
                <a:latin typeface="Times New Roman" panose="02020603050405020304" pitchFamily="18" charset="0"/>
                <a:cs typeface="Times New Roman" panose="02020603050405020304" pitchFamily="18" charset="0"/>
              </a:rPr>
              <a:t>Top </a:t>
            </a:r>
            <a:r>
              <a:rPr lang="en-US" sz="2000" dirty="0">
                <a:solidFill>
                  <a:srgbClr val="FFFF00"/>
                </a:solidFill>
                <a:latin typeface="Times New Roman" panose="02020603050405020304" pitchFamily="18" charset="0"/>
                <a:cs typeface="Times New Roman" panose="02020603050405020304" pitchFamily="18" charset="0"/>
              </a:rPr>
              <a:t>20 </a:t>
            </a:r>
            <a:r>
              <a:rPr lang="en-US" sz="2000" dirty="0" smtClean="0">
                <a:solidFill>
                  <a:srgbClr val="000000"/>
                </a:solidFill>
                <a:latin typeface="Times New Roman" panose="02020603050405020304" pitchFamily="18" charset="0"/>
                <a:cs typeface="Times New Roman" panose="02020603050405020304" pitchFamily="18" charset="0"/>
              </a:rPr>
              <a:t>SHAP </a:t>
            </a:r>
            <a:r>
              <a:rPr lang="en-US" sz="2000" dirty="0">
                <a:solidFill>
                  <a:srgbClr val="000000"/>
                </a:solidFill>
                <a:latin typeface="Times New Roman" panose="02020603050405020304" pitchFamily="18" charset="0"/>
                <a:cs typeface="Times New Roman" panose="02020603050405020304" pitchFamily="18" charset="0"/>
              </a:rPr>
              <a:t>Features for </a:t>
            </a:r>
            <a:r>
              <a:rPr lang="en-US" sz="2000" dirty="0" err="1" smtClean="0">
                <a:solidFill>
                  <a:srgbClr val="FFFF00"/>
                </a:solidFill>
                <a:latin typeface="Times New Roman" panose="02020603050405020304" pitchFamily="18" charset="0"/>
                <a:cs typeface="Times New Roman" panose="02020603050405020304" pitchFamily="18" charset="0"/>
              </a:rPr>
              <a:t>Miseq</a:t>
            </a:r>
            <a:r>
              <a:rPr lang="en-US" sz="2000" dirty="0" smtClean="0">
                <a:solidFill>
                  <a:srgbClr val="FFFF00"/>
                </a:solidFill>
                <a:latin typeface="Times New Roman" panose="02020603050405020304" pitchFamily="18" charset="0"/>
                <a:cs typeface="Times New Roman" panose="02020603050405020304" pitchFamily="18" charset="0"/>
              </a:rPr>
              <a:t>, Random Forest</a:t>
            </a:r>
            <a:endParaRPr lang="en-US" sz="2000" dirty="0" smtClean="0">
              <a:solidFill>
                <a:srgbClr val="000000"/>
              </a:solidFill>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337602783"/>
              </p:ext>
            </p:extLst>
          </p:nvPr>
        </p:nvGraphicFramePr>
        <p:xfrm>
          <a:off x="685801" y="1143000"/>
          <a:ext cx="3124201" cy="5256806"/>
        </p:xfrm>
        <a:graphic>
          <a:graphicData uri="http://schemas.openxmlformats.org/drawingml/2006/table">
            <a:tbl>
              <a:tblPr>
                <a:tableStyleId>{616DA210-FB5B-4158-B5E0-FEB733F419BA}</a:tableStyleId>
              </a:tblPr>
              <a:tblGrid>
                <a:gridCol w="628748">
                  <a:extLst>
                    <a:ext uri="{9D8B030D-6E8A-4147-A177-3AD203B41FA5}">
                      <a16:colId xmlns:a16="http://schemas.microsoft.com/office/drawing/2014/main" val="1684629359"/>
                    </a:ext>
                  </a:extLst>
                </a:gridCol>
                <a:gridCol w="1276251">
                  <a:extLst>
                    <a:ext uri="{9D8B030D-6E8A-4147-A177-3AD203B41FA5}">
                      <a16:colId xmlns:a16="http://schemas.microsoft.com/office/drawing/2014/main" val="3958920733"/>
                    </a:ext>
                  </a:extLst>
                </a:gridCol>
                <a:gridCol w="1219202">
                  <a:extLst>
                    <a:ext uri="{9D8B030D-6E8A-4147-A177-3AD203B41FA5}">
                      <a16:colId xmlns:a16="http://schemas.microsoft.com/office/drawing/2014/main" val="806990348"/>
                    </a:ext>
                  </a:extLst>
                </a:gridCol>
              </a:tblGrid>
              <a:tr h="318783">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err="1" smtClean="0">
                          <a:effectLst/>
                          <a:latin typeface="Times New Roman" panose="02020603050405020304" pitchFamily="18" charset="0"/>
                          <a:cs typeface="Times New Roman" panose="02020603050405020304" pitchFamily="18" charset="0"/>
                        </a:rPr>
                        <a:t>'s</a:t>
                      </a:r>
                      <a:r>
                        <a:rPr lang="en-US" sz="1200" b="1" u="none" strike="noStrike" dirty="0" smtClean="0">
                          <a:effectLst/>
                          <a:latin typeface="Times New Roman" panose="02020603050405020304" pitchFamily="18" charset="0"/>
                          <a:cs typeface="Times New Roman" panose="02020603050405020304" pitchFamily="18" charset="0"/>
                        </a:rPr>
                        <a:t>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Chryseolinea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Ilumatobacter</a:t>
                      </a:r>
                    </a:p>
                  </a:txBody>
                  <a:tcPr marL="9525" marR="9525" marT="9525" marB="0" anchor="b"/>
                </a:tc>
                <a:extLst>
                  <a:ext uri="{0D108BD9-81ED-4DB2-BD59-A6C34878D82A}">
                    <a16:rowId xmlns:a16="http://schemas.microsoft.com/office/drawing/2014/main" val="1993406850"/>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Imperialibacter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Pedobacter</a:t>
                      </a:r>
                    </a:p>
                  </a:txBody>
                  <a:tcPr marL="9525" marR="9525" marT="9525" marB="0" anchor="b"/>
                </a:tc>
                <a:extLst>
                  <a:ext uri="{0D108BD9-81ED-4DB2-BD59-A6C34878D82A}">
                    <a16:rowId xmlns:a16="http://schemas.microsoft.com/office/drawing/2014/main" val="1874311317"/>
                  </a:ext>
                </a:extLst>
              </a:tr>
              <a:tr h="42066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Abditibacterium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MND1</a:t>
                      </a:r>
                    </a:p>
                  </a:txBody>
                  <a:tcPr marL="9525" marR="9525" marT="9525" marB="0" anchor="b"/>
                </a:tc>
                <a:extLst>
                  <a:ext uri="{0D108BD9-81ED-4DB2-BD59-A6C34878D82A}">
                    <a16:rowId xmlns:a16="http://schemas.microsoft.com/office/drawing/2014/main" val="428526081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YC-ZSS-LKJ147</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Oleiharenicola</a:t>
                      </a:r>
                    </a:p>
                  </a:txBody>
                  <a:tcPr marL="9525" marR="9525" marT="9525" marB="0" anchor="b"/>
                </a:tc>
                <a:extLst>
                  <a:ext uri="{0D108BD9-81ED-4DB2-BD59-A6C34878D82A}">
                    <a16:rowId xmlns:a16="http://schemas.microsoft.com/office/drawing/2014/main" val="3953385741"/>
                  </a:ext>
                </a:extLst>
              </a:tr>
              <a:tr h="20617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Rhodoplanes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Phaselicystis</a:t>
                      </a:r>
                    </a:p>
                  </a:txBody>
                  <a:tcPr marL="9525" marR="9525" marT="9525" marB="0" anchor="b"/>
                </a:tc>
                <a:extLst>
                  <a:ext uri="{0D108BD9-81ED-4DB2-BD59-A6C34878D82A}">
                    <a16:rowId xmlns:a16="http://schemas.microsoft.com/office/drawing/2014/main" val="4110988134"/>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Methylobacillus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Chitinophaga</a:t>
                      </a:r>
                    </a:p>
                  </a:txBody>
                  <a:tcPr marL="9525" marR="9525" marT="9525" marB="0" anchor="b"/>
                </a:tc>
                <a:extLst>
                  <a:ext uri="{0D108BD9-81ED-4DB2-BD59-A6C34878D82A}">
                    <a16:rowId xmlns:a16="http://schemas.microsoft.com/office/drawing/2014/main" val="206533270"/>
                  </a:ext>
                </a:extLst>
              </a:tr>
              <a:tr h="3288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Nitrosoarchaeum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Chryseotalea</a:t>
                      </a:r>
                    </a:p>
                  </a:txBody>
                  <a:tcPr marL="9525" marR="9525" marT="9525" marB="0" anchor="b"/>
                </a:tc>
                <a:extLst>
                  <a:ext uri="{0D108BD9-81ED-4DB2-BD59-A6C34878D82A}">
                    <a16:rowId xmlns:a16="http://schemas.microsoft.com/office/drawing/2014/main" val="232505674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t>
                      </a: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mle1-7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Pseudolabrys</a:t>
                      </a:r>
                    </a:p>
                  </a:txBody>
                  <a:tcPr marL="9525" marR="9525" marT="9525" marB="0" anchor="b"/>
                </a:tc>
                <a:extLst>
                  <a:ext uri="{0D108BD9-81ED-4DB2-BD59-A6C34878D82A}">
                    <a16:rowId xmlns:a16="http://schemas.microsoft.com/office/drawing/2014/main" val="411871232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Bauldia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Agriterribacter</a:t>
                      </a:r>
                    </a:p>
                  </a:txBody>
                  <a:tcPr marL="9525" marR="9525" marT="9525" marB="0" anchor="b"/>
                </a:tc>
                <a:extLst>
                  <a:ext uri="{0D108BD9-81ED-4DB2-BD59-A6C34878D82A}">
                    <a16:rowId xmlns:a16="http://schemas.microsoft.com/office/drawing/2014/main" val="2118482760"/>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Hirschia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Hydrogenophaga</a:t>
                      </a:r>
                    </a:p>
                  </a:txBody>
                  <a:tcPr marL="9525" marR="9525" marT="9525" marB="0" anchor="b"/>
                </a:tc>
                <a:extLst>
                  <a:ext uri="{0D108BD9-81ED-4DB2-BD59-A6C34878D82A}">
                    <a16:rowId xmlns:a16="http://schemas.microsoft.com/office/drawing/2014/main" val="3095012359"/>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Devosia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Opitutus</a:t>
                      </a:r>
                    </a:p>
                  </a:txBody>
                  <a:tcPr marL="9525" marR="9525" marT="9525" marB="0" anchor="b"/>
                </a:tc>
                <a:extLst>
                  <a:ext uri="{0D108BD9-81ED-4DB2-BD59-A6C34878D82A}">
                    <a16:rowId xmlns:a16="http://schemas.microsoft.com/office/drawing/2014/main" val="917019206"/>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Ellin6055</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Hypericibacter</a:t>
                      </a:r>
                    </a:p>
                  </a:txBody>
                  <a:tcPr marL="9525" marR="9525" marT="9525" marB="0" anchor="b"/>
                </a:tc>
                <a:extLst>
                  <a:ext uri="{0D108BD9-81ED-4DB2-BD59-A6C34878D82A}">
                    <a16:rowId xmlns:a16="http://schemas.microsoft.com/office/drawing/2014/main" val="3116390992"/>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Ferruginibacter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Pedomicrobium</a:t>
                      </a:r>
                    </a:p>
                  </a:txBody>
                  <a:tcPr marL="9525" marR="9525" marT="9525" marB="0" anchor="b"/>
                </a:tc>
                <a:extLst>
                  <a:ext uri="{0D108BD9-81ED-4DB2-BD59-A6C34878D82A}">
                    <a16:rowId xmlns:a16="http://schemas.microsoft.com/office/drawing/2014/main" val="1594773928"/>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IS-44</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Luteolibacter</a:t>
                      </a:r>
                    </a:p>
                  </a:txBody>
                  <a:tcPr marL="9525" marR="9525" marT="9525" marB="0" anchor="b"/>
                </a:tc>
                <a:extLst>
                  <a:ext uri="{0D108BD9-81ED-4DB2-BD59-A6C34878D82A}">
                    <a16:rowId xmlns:a16="http://schemas.microsoft.com/office/drawing/2014/main" val="14341248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Parageobacillus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YC-ZSS-LKJ147</a:t>
                      </a:r>
                    </a:p>
                  </a:txBody>
                  <a:tcPr marL="9525" marR="9525" marT="9525" marB="0" anchor="b"/>
                </a:tc>
                <a:extLst>
                  <a:ext uri="{0D108BD9-81ED-4DB2-BD59-A6C34878D82A}">
                    <a16:rowId xmlns:a16="http://schemas.microsoft.com/office/drawing/2014/main" val="1985009116"/>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Mesobacillus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Subgroup 10</a:t>
                      </a:r>
                    </a:p>
                  </a:txBody>
                  <a:tcPr marL="9525" marR="9525" marT="9525" marB="0" anchor="b"/>
                </a:tc>
                <a:extLst>
                  <a:ext uri="{0D108BD9-81ED-4DB2-BD59-A6C34878D82A}">
                    <a16:rowId xmlns:a16="http://schemas.microsoft.com/office/drawing/2014/main" val="229922658"/>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Ramlibacter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Solibacter</a:t>
                      </a:r>
                    </a:p>
                  </a:txBody>
                  <a:tcPr marL="9525" marR="9525" marT="9525" marB="0" anchor="b"/>
                </a:tc>
                <a:extLst>
                  <a:ext uri="{0D108BD9-81ED-4DB2-BD59-A6C34878D82A}">
                    <a16:rowId xmlns:a16="http://schemas.microsoft.com/office/drawing/2014/main" val="1015200171"/>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Dinghuibacter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Lentzea</a:t>
                      </a:r>
                    </a:p>
                  </a:txBody>
                  <a:tcPr marL="9525" marR="9525" marT="9525" marB="0" anchor="b"/>
                </a:tc>
                <a:extLst>
                  <a:ext uri="{0D108BD9-81ED-4DB2-BD59-A6C34878D82A}">
                    <a16:rowId xmlns:a16="http://schemas.microsoft.com/office/drawing/2014/main" val="1180289669"/>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Hassallia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Methylotenera</a:t>
                      </a:r>
                    </a:p>
                  </a:txBody>
                  <a:tcPr marL="9525" marR="9525" marT="9525" marB="0" anchor="b"/>
                </a:tc>
                <a:extLst>
                  <a:ext uri="{0D108BD9-81ED-4DB2-BD59-A6C34878D82A}">
                    <a16:rowId xmlns:a16="http://schemas.microsoft.com/office/drawing/2014/main" val="4211420371"/>
                  </a:ext>
                </a:extLst>
              </a:tr>
              <a:tr h="260937">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Dokdonella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Labrys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6222321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599736385"/>
              </p:ext>
            </p:extLst>
          </p:nvPr>
        </p:nvGraphicFramePr>
        <p:xfrm>
          <a:off x="4191000" y="1152750"/>
          <a:ext cx="4495800" cy="4962384"/>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295050">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SWB02</a:t>
                      </a: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Sphingorhabdus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CL500-3</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Pseudomonas</a:t>
                      </a: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Shinella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874311317"/>
                  </a:ext>
                </a:extLst>
              </a:tr>
              <a:tr h="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Dokdonella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Arsenicitalea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SWB02</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    SWB02</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OLB12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Gemmata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Dokdonella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Pseudomonas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110988134"/>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Arsenicitalea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Oleiharenicola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1" i="0" u="none" strike="noStrike" dirty="0" smtClean="0">
                          <a:solidFill>
                            <a:srgbClr val="000000"/>
                          </a:solidFill>
                          <a:effectLst/>
                          <a:latin typeface="Times New Roman" panose="02020603050405020304" pitchFamily="18" charset="0"/>
                          <a:cs typeface="Times New Roman" panose="02020603050405020304" pitchFamily="18" charset="0"/>
                        </a:rPr>
                        <a:t>CL500-3</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Oleiharenicola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CL500-3</a:t>
                      </a: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Acidibacter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Sphingorhabdus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Ilumatobacter</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Dokdonella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Bradyrhizobium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Sphingorhabdus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Steroidobacter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Pseudomonas</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Opitutus</a:t>
                      </a:r>
                    </a:p>
                  </a:txBody>
                  <a:tcPr marL="9525" marR="9525" marT="9525" marB="0" anchor="b"/>
                </a:tc>
                <a:tc>
                  <a:txBody>
                    <a:bodyPr/>
                    <a:lstStyle/>
                    <a:p>
                      <a:pPr algn="ctr" fontAlgn="b"/>
                      <a:r>
                        <a:rPr lang="en-US" sz="1100" b="1" i="0" u="none" strike="noStrike" dirty="0" err="1" smtClean="0">
                          <a:solidFill>
                            <a:srgbClr val="000000"/>
                          </a:solidFill>
                          <a:effectLst/>
                          <a:latin typeface="Times New Roman" panose="02020603050405020304" pitchFamily="18" charset="0"/>
                          <a:cs typeface="Times New Roman" panose="02020603050405020304" pitchFamily="18" charset="0"/>
                        </a:rPr>
                        <a:t>Croceibacterium</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Shinella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OLB12</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Bosea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Opitutus</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Gemmata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Gemmata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Ilumatobacter</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Shinella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Ferribacterium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JGI 0001001-H03</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Bradyrhizobium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Rubrivivax</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Geomonas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Steroidobacter</a:t>
                      </a:r>
                    </a:p>
                  </a:txBody>
                  <a:tcPr marL="9525" marR="9525" marT="9525" marB="0" anchor="b"/>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MND1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Acidibacter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Planctomicrobium</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Arsenicitalea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Kineobactrum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Sphingopyxis</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Dechloromonas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Planctomicrobium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MND1</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Luteolibacter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Rubrivivax</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Kineobactrum</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Methylophilus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Dechloromonas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Acidibacter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Bradyrhizobium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407950557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52400"/>
            <a:ext cx="83820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Miseq</a:t>
            </a:r>
            <a:r>
              <a:rPr lang="en-US" sz="2000" dirty="0" smtClean="0">
                <a:solidFill>
                  <a:srgbClr val="FFFF00"/>
                </a:solidFill>
                <a:latin typeface="Times New Roman" panose="02020603050405020304" pitchFamily="18" charset="0"/>
                <a:cs typeface="Times New Roman" panose="02020603050405020304" pitchFamily="18" charset="0"/>
              </a:rPr>
              <a:t>, </a:t>
            </a:r>
            <a:r>
              <a:rPr lang="en-US" sz="2000" dirty="0">
                <a:solidFill>
                  <a:srgbClr val="FFFF00"/>
                </a:solidFill>
                <a:latin typeface="Times New Roman" panose="02020603050405020304" pitchFamily="18" charset="0"/>
                <a:cs typeface="Times New Roman" panose="02020603050405020304" pitchFamily="18" charset="0"/>
              </a:rPr>
              <a:t>Random Forest</a:t>
            </a:r>
            <a:endParaRPr lang="en-US" sz="2000" dirty="0" smtClean="0">
              <a:solidFill>
                <a:srgbClr val="00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3" y="1676400"/>
            <a:ext cx="9144000" cy="4533580"/>
          </a:xfrm>
          <a:prstGeom prst="rect">
            <a:avLst/>
          </a:prstGeom>
        </p:spPr>
      </p:pic>
    </p:spTree>
    <p:extLst>
      <p:ext uri="{BB962C8B-B14F-4D97-AF65-F5344CB8AC3E}">
        <p14:creationId xmlns:p14="http://schemas.microsoft.com/office/powerpoint/2010/main" val="8333807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r>
              <a:rPr lang="en-US" sz="2000" dirty="0" smtClean="0">
                <a:solidFill>
                  <a:srgbClr val="000000"/>
                </a:solidFill>
                <a:latin typeface="Times New Roman" panose="02020603050405020304" pitchFamily="18" charset="0"/>
                <a:cs typeface="Times New Roman" panose="02020603050405020304" pitchFamily="18" charset="0"/>
              </a:rPr>
              <a:t>List </a:t>
            </a:r>
            <a:r>
              <a:rPr lang="en-US" sz="2000" dirty="0">
                <a:solidFill>
                  <a:srgbClr val="000000"/>
                </a:solidFill>
                <a:latin typeface="Times New Roman" panose="02020603050405020304" pitchFamily="18" charset="0"/>
                <a:cs typeface="Times New Roman" panose="02020603050405020304" pitchFamily="18" charset="0"/>
              </a:rPr>
              <a:t>of </a:t>
            </a:r>
            <a:r>
              <a:rPr lang="en-US" sz="2000" dirty="0">
                <a:solidFill>
                  <a:srgbClr val="FFFF00"/>
                </a:solidFill>
                <a:latin typeface="Times New Roman" panose="02020603050405020304" pitchFamily="18" charset="0"/>
                <a:cs typeface="Times New Roman" panose="02020603050405020304" pitchFamily="18" charset="0"/>
              </a:rPr>
              <a:t>Top 20 </a:t>
            </a:r>
            <a:r>
              <a:rPr lang="en-US" sz="2000" dirty="0">
                <a:solidFill>
                  <a:srgbClr val="000000"/>
                </a:solidFill>
                <a:latin typeface="Times New Roman" panose="02020603050405020304" pitchFamily="18" charset="0"/>
                <a:cs typeface="Times New Roman" panose="02020603050405020304" pitchFamily="18" charset="0"/>
              </a:rPr>
              <a:t>SHAP Features for </a:t>
            </a:r>
            <a:r>
              <a:rPr lang="en-US" sz="2000" dirty="0" err="1" smtClean="0">
                <a:solidFill>
                  <a:srgbClr val="FFFF00"/>
                </a:solidFill>
                <a:latin typeface="Times New Roman" panose="02020603050405020304" pitchFamily="18" charset="0"/>
                <a:cs typeface="Times New Roman" panose="02020603050405020304" pitchFamily="18" charset="0"/>
              </a:rPr>
              <a:t>Novaseq</a:t>
            </a:r>
            <a:r>
              <a:rPr lang="en-US" sz="2000" dirty="0">
                <a:solidFill>
                  <a:srgbClr val="FFFF00"/>
                </a:solidFill>
                <a:latin typeface="Times New Roman" panose="02020603050405020304" pitchFamily="18" charset="0"/>
                <a:cs typeface="Times New Roman" panose="02020603050405020304" pitchFamily="18" charset="0"/>
              </a:rPr>
              <a:t>, Random Forest</a:t>
            </a:r>
            <a:endParaRPr lang="en-US" sz="2000" dirty="0" smtClean="0">
              <a:solidFill>
                <a:srgbClr val="00000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377960140"/>
              </p:ext>
            </p:extLst>
          </p:nvPr>
        </p:nvGraphicFramePr>
        <p:xfrm>
          <a:off x="381000" y="1220559"/>
          <a:ext cx="3428999" cy="5180065"/>
        </p:xfrm>
        <a:graphic>
          <a:graphicData uri="http://schemas.openxmlformats.org/drawingml/2006/table">
            <a:tbl>
              <a:tblPr>
                <a:tableStyleId>{616DA210-FB5B-4158-B5E0-FEB733F419BA}</a:tableStyleId>
              </a:tblPr>
              <a:tblGrid>
                <a:gridCol w="606455">
                  <a:extLst>
                    <a:ext uri="{9D8B030D-6E8A-4147-A177-3AD203B41FA5}">
                      <a16:colId xmlns:a16="http://schemas.microsoft.com/office/drawing/2014/main" val="1684629359"/>
                    </a:ext>
                  </a:extLst>
                </a:gridCol>
                <a:gridCol w="1233471">
                  <a:extLst>
                    <a:ext uri="{9D8B030D-6E8A-4147-A177-3AD203B41FA5}">
                      <a16:colId xmlns:a16="http://schemas.microsoft.com/office/drawing/2014/main" val="3958920733"/>
                    </a:ext>
                  </a:extLst>
                </a:gridCol>
                <a:gridCol w="1589073">
                  <a:extLst>
                    <a:ext uri="{9D8B030D-6E8A-4147-A177-3AD203B41FA5}">
                      <a16:colId xmlns:a16="http://schemas.microsoft.com/office/drawing/2014/main" val="806990348"/>
                    </a:ext>
                  </a:extLst>
                </a:gridCol>
              </a:tblGrid>
              <a:tr h="270488">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Autoclave's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effectLst/>
                          <a:latin typeface="Times New Roman" panose="02020603050405020304" pitchFamily="18" charset="0"/>
                          <a:cs typeface="Times New Roman" panose="02020603050405020304" pitchFamily="18" charset="0"/>
                        </a:rPr>
                        <a:t>HeatRoot's</a:t>
                      </a:r>
                      <a:r>
                        <a:rPr lang="en-US" sz="1200" b="1" u="none" strike="noStrike" dirty="0" smtClean="0">
                          <a:effectLst/>
                          <a:latin typeface="Times New Roman" panose="02020603050405020304" pitchFamily="18" charset="0"/>
                          <a:cs typeface="Times New Roman" panose="02020603050405020304" pitchFamily="18" charset="0"/>
                        </a:rPr>
                        <a:t>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Neobacillus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Algoriphagus</a:t>
                      </a:r>
                    </a:p>
                  </a:txBody>
                  <a:tcPr marL="9525" marR="9525" marT="9525" marB="0" anchor="b"/>
                </a:tc>
                <a:extLst>
                  <a:ext uri="{0D108BD9-81ED-4DB2-BD59-A6C34878D82A}">
                    <a16:rowId xmlns:a16="http://schemas.microsoft.com/office/drawing/2014/main" val="1993406850"/>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Ammoniphilus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Kribbella</a:t>
                      </a:r>
                    </a:p>
                  </a:txBody>
                  <a:tcPr marL="9525" marR="9525" marT="9525" marB="0" anchor="b"/>
                </a:tc>
                <a:extLst>
                  <a:ext uri="{0D108BD9-81ED-4DB2-BD59-A6C34878D82A}">
                    <a16:rowId xmlns:a16="http://schemas.microsoft.com/office/drawing/2014/main" val="1874311317"/>
                  </a:ext>
                </a:extLst>
              </a:tr>
              <a:tr h="35693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Stenotrophobacter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Apilactobacillus</a:t>
                      </a:r>
                    </a:p>
                  </a:txBody>
                  <a:tcPr marL="9525" marR="9525" marT="9525" marB="0" anchor="b"/>
                </a:tc>
                <a:extLst>
                  <a:ext uri="{0D108BD9-81ED-4DB2-BD59-A6C34878D82A}">
                    <a16:rowId xmlns:a16="http://schemas.microsoft.com/office/drawing/2014/main" val="4285260815"/>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Kribbella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CL500-3</a:t>
                      </a:r>
                    </a:p>
                  </a:txBody>
                  <a:tcPr marL="9525" marR="9525" marT="9525" marB="0" anchor="b"/>
                </a:tc>
                <a:extLst>
                  <a:ext uri="{0D108BD9-81ED-4DB2-BD59-A6C34878D82A}">
                    <a16:rowId xmlns:a16="http://schemas.microsoft.com/office/drawing/2014/main" val="3953385741"/>
                  </a:ext>
                </a:extLst>
              </a:tr>
              <a:tr h="1749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Snodgrassella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Acinetobacter</a:t>
                      </a:r>
                    </a:p>
                  </a:txBody>
                  <a:tcPr marL="9525" marR="9525" marT="9525" marB="0" anchor="b"/>
                </a:tc>
                <a:extLst>
                  <a:ext uri="{0D108BD9-81ED-4DB2-BD59-A6C34878D82A}">
                    <a16:rowId xmlns:a16="http://schemas.microsoft.com/office/drawing/2014/main" val="4110988134"/>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Gemmata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Nitrosoarchaeum</a:t>
                      </a:r>
                    </a:p>
                  </a:txBody>
                  <a:tcPr marL="9525" marR="9525" marT="9525" marB="0" anchor="b"/>
                </a:tc>
                <a:extLst>
                  <a:ext uri="{0D108BD9-81ED-4DB2-BD59-A6C34878D82A}">
                    <a16:rowId xmlns:a16="http://schemas.microsoft.com/office/drawing/2014/main" val="20653327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BIyi10</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Rhodovastum</a:t>
                      </a:r>
                    </a:p>
                  </a:txBody>
                  <a:tcPr marL="9525" marR="9525" marT="9525" marB="0" anchor="b"/>
                </a:tc>
                <a:extLst>
                  <a:ext uri="{0D108BD9-81ED-4DB2-BD59-A6C34878D82A}">
                    <a16:rowId xmlns:a16="http://schemas.microsoft.com/office/drawing/2014/main" val="2325056747"/>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Aminobacter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Longimicrobium</a:t>
                      </a:r>
                    </a:p>
                  </a:txBody>
                  <a:tcPr marL="9525" marR="9525" marT="9525" marB="0" anchor="b"/>
                </a:tc>
                <a:extLst>
                  <a:ext uri="{0D108BD9-81ED-4DB2-BD59-A6C34878D82A}">
                    <a16:rowId xmlns:a16="http://schemas.microsoft.com/office/drawing/2014/main" val="4118712325"/>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Cupriavidus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Stenotrophobacter</a:t>
                      </a:r>
                    </a:p>
                  </a:txBody>
                  <a:tcPr marL="9525" marR="9525" marT="9525" marB="0" anchor="b"/>
                </a:tc>
                <a:extLst>
                  <a:ext uri="{0D108BD9-81ED-4DB2-BD59-A6C34878D82A}">
                    <a16:rowId xmlns:a16="http://schemas.microsoft.com/office/drawing/2014/main" val="211848276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Immundisolibacter</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Omnitrophus</a:t>
                      </a:r>
                    </a:p>
                  </a:txBody>
                  <a:tcPr marL="9525" marR="9525" marT="9525" marB="0" anchor="b"/>
                </a:tc>
                <a:extLst>
                  <a:ext uri="{0D108BD9-81ED-4DB2-BD59-A6C34878D82A}">
                    <a16:rowId xmlns:a16="http://schemas.microsoft.com/office/drawing/2014/main" val="309501235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[Aquaspirillum] arcticum group</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Pararhizobium</a:t>
                      </a:r>
                    </a:p>
                  </a:txBody>
                  <a:tcPr marL="9525" marR="9525" marT="9525" marB="0" anchor="b"/>
                </a:tc>
                <a:extLst>
                  <a:ext uri="{0D108BD9-81ED-4DB2-BD59-A6C34878D82A}">
                    <a16:rowId xmlns:a16="http://schemas.microsoft.com/office/drawing/2014/main" val="917019206"/>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Slackia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Niallia</a:t>
                      </a:r>
                    </a:p>
                  </a:txBody>
                  <a:tcPr marL="9525" marR="9525" marT="9525" marB="0" anchor="b"/>
                </a:tc>
                <a:extLst>
                  <a:ext uri="{0D108BD9-81ED-4DB2-BD59-A6C34878D82A}">
                    <a16:rowId xmlns:a16="http://schemas.microsoft.com/office/drawing/2014/main" val="3116390992"/>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Noviherbaspirillum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Noviherbaspirillum</a:t>
                      </a:r>
                    </a:p>
                  </a:txBody>
                  <a:tcPr marL="9525" marR="9525" marT="9525" marB="0" anchor="b"/>
                </a:tc>
                <a:extLst>
                  <a:ext uri="{0D108BD9-81ED-4DB2-BD59-A6C34878D82A}">
                    <a16:rowId xmlns:a16="http://schemas.microsoft.com/office/drawing/2014/main" val="1594773928"/>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Novosphingobium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Ketobacter</a:t>
                      </a:r>
                    </a:p>
                  </a:txBody>
                  <a:tcPr marL="9525" marR="9525" marT="9525" marB="0" anchor="b"/>
                </a:tc>
                <a:extLst>
                  <a:ext uri="{0D108BD9-81ED-4DB2-BD59-A6C34878D82A}">
                    <a16:rowId xmlns:a16="http://schemas.microsoft.com/office/drawing/2014/main" val="143412487"/>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Marinoscillum</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Hassallia</a:t>
                      </a:r>
                    </a:p>
                  </a:txBody>
                  <a:tcPr marL="9525" marR="9525" marT="9525" marB="0" anchor="b"/>
                </a:tc>
                <a:extLst>
                  <a:ext uri="{0D108BD9-81ED-4DB2-BD59-A6C34878D82A}">
                    <a16:rowId xmlns:a16="http://schemas.microsoft.com/office/drawing/2014/main" val="1985009116"/>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Brevibacillus</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Ferruginibacter</a:t>
                      </a:r>
                    </a:p>
                  </a:txBody>
                  <a:tcPr marL="9525" marR="9525" marT="9525" marB="0" anchor="b"/>
                </a:tc>
                <a:extLst>
                  <a:ext uri="{0D108BD9-81ED-4DB2-BD59-A6C34878D82A}">
                    <a16:rowId xmlns:a16="http://schemas.microsoft.com/office/drawing/2014/main" val="229922658"/>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Verrucosispora</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Aquicella</a:t>
                      </a:r>
                    </a:p>
                  </a:txBody>
                  <a:tcPr marL="9525" marR="9525" marT="9525" marB="0" anchor="b"/>
                </a:tc>
                <a:extLst>
                  <a:ext uri="{0D108BD9-81ED-4DB2-BD59-A6C34878D82A}">
                    <a16:rowId xmlns:a16="http://schemas.microsoft.com/office/drawing/2014/main" val="1015200171"/>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Subgroup 10</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Hydrogenispora</a:t>
                      </a:r>
                    </a:p>
                  </a:txBody>
                  <a:tcPr marL="9525" marR="9525" marT="9525" marB="0" anchor="b"/>
                </a:tc>
                <a:extLst>
                  <a:ext uri="{0D108BD9-81ED-4DB2-BD59-A6C34878D82A}">
                    <a16:rowId xmlns:a16="http://schemas.microsoft.com/office/drawing/2014/main" val="118028966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   Crocinitomix</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Xiphinematobacter</a:t>
                      </a:r>
                    </a:p>
                  </a:txBody>
                  <a:tcPr marL="9525" marR="9525" marT="9525" marB="0" anchor="b"/>
                </a:tc>
                <a:extLst>
                  <a:ext uri="{0D108BD9-81ED-4DB2-BD59-A6C34878D82A}">
                    <a16:rowId xmlns:a16="http://schemas.microsoft.com/office/drawing/2014/main" val="4211420371"/>
                  </a:ext>
                </a:extLst>
              </a:tr>
              <a:tr h="221406">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l"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   OLB13</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Meiothermus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6222321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668474302"/>
              </p:ext>
            </p:extLst>
          </p:nvPr>
        </p:nvGraphicFramePr>
        <p:xfrm>
          <a:off x="4191000" y="1219200"/>
          <a:ext cx="4495800" cy="5316206"/>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6581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Ketobacter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Inhella</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Inhella</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993406850"/>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Afipia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200" b="1" i="0" u="none" strike="noStrike" dirty="0">
                          <a:solidFill>
                            <a:srgbClr val="000000"/>
                          </a:solidFill>
                          <a:effectLst/>
                          <a:latin typeface="Times New Roman" panose="02020603050405020304" pitchFamily="18" charset="0"/>
                          <a:cs typeface="Times New Roman" panose="02020603050405020304" pitchFamily="18" charset="0"/>
                        </a:rPr>
                        <a:t>Plot4-2H12</a:t>
                      </a:r>
                    </a:p>
                  </a:txBody>
                  <a:tcPr marL="9525" marR="9525" marT="9525" marB="0" anchor="b">
                    <a:solidFill>
                      <a:srgbClr val="FFFF7D"/>
                    </a:solidFill>
                  </a:tcPr>
                </a:tc>
                <a:tc>
                  <a:txBody>
                    <a:bodyPr/>
                    <a:lstStyle/>
                    <a:p>
                      <a:pPr algn="ctr" fontAlgn="b"/>
                      <a:r>
                        <a:rPr lang="en-US" sz="1200" b="1" i="0" u="none" strike="noStrike" dirty="0">
                          <a:solidFill>
                            <a:srgbClr val="000000"/>
                          </a:solidFill>
                          <a:effectLst/>
                          <a:latin typeface="Times New Roman" panose="02020603050405020304" pitchFamily="18" charset="0"/>
                          <a:cs typeface="Times New Roman" panose="02020603050405020304" pitchFamily="18" charset="0"/>
                        </a:rPr>
                        <a:t>Plot4-2H12</a:t>
                      </a:r>
                    </a:p>
                  </a:txBody>
                  <a:tcPr marL="9525" marR="9525" marT="9525" marB="0" anchor="b">
                    <a:solidFill>
                      <a:srgbClr val="FFFF7D"/>
                    </a:solidFill>
                  </a:tcPr>
                </a:tc>
                <a:extLst>
                  <a:ext uri="{0D108BD9-81ED-4DB2-BD59-A6C34878D82A}">
                    <a16:rowId xmlns:a16="http://schemas.microsoft.com/office/drawing/2014/main" val="1874311317"/>
                  </a:ext>
                </a:extLst>
              </a:tr>
              <a:tr h="42992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Afipia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285260815"/>
                  </a:ext>
                </a:extLst>
              </a:tr>
              <a:tr h="33610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i="0" u="none" strike="noStrike" dirty="0">
                          <a:solidFill>
                            <a:srgbClr val="000000"/>
                          </a:solidFill>
                          <a:effectLst/>
                          <a:latin typeface="Times New Roman" panose="02020603050405020304" pitchFamily="18" charset="0"/>
                          <a:cs typeface="Times New Roman" panose="02020603050405020304" pitchFamily="18" charset="0"/>
                        </a:rPr>
                        <a:t>Plot4-2H12</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Pseudarthrobacter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953385741"/>
                  </a:ext>
                </a:extLst>
              </a:tr>
              <a:tr h="21071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i="0" u="none" strike="noStrike" dirty="0" err="1">
                          <a:solidFill>
                            <a:srgbClr val="000000"/>
                          </a:solidFill>
                          <a:effectLst/>
                          <a:latin typeface="Times New Roman" panose="02020603050405020304" pitchFamily="18" charset="0"/>
                          <a:cs typeface="Times New Roman" panose="02020603050405020304" pitchFamily="18" charset="0"/>
                        </a:rPr>
                        <a:t>Inhella</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Ketobacter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BIyi10</a:t>
                      </a:r>
                    </a:p>
                  </a:txBody>
                  <a:tcPr marL="9525" marR="9525" marT="9525" marB="0" anchor="b"/>
                </a:tc>
                <a:extLst>
                  <a:ext uri="{0D108BD9-81ED-4DB2-BD59-A6C34878D82A}">
                    <a16:rowId xmlns:a16="http://schemas.microsoft.com/office/drawing/2014/main" val="4110988134"/>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Rhodopila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Dyella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0653327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Dyella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Pararhizobium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Pararhizobium</a:t>
                      </a:r>
                    </a:p>
                  </a:txBody>
                  <a:tcPr marL="9525" marR="9525" marT="9525" marB="0" anchor="b"/>
                </a:tc>
                <a:extLst>
                  <a:ext uri="{0D108BD9-81ED-4DB2-BD59-A6C34878D82A}">
                    <a16:rowId xmlns:a16="http://schemas.microsoft.com/office/drawing/2014/main" val="232505674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BIyi10</a:t>
                      </a: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DSSD61</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Rhodopila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118712325"/>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Methanosarcina</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Pseudarthrobacter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Ketobacter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211848276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DSSD61</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Methanosarcina</a:t>
                      </a:r>
                    </a:p>
                  </a:txBody>
                  <a:tcPr marL="9525" marR="9525" marT="9525" marB="0" anchor="b"/>
                </a:tc>
                <a:extLst>
                  <a:ext uri="{0D108BD9-81ED-4DB2-BD59-A6C34878D82A}">
                    <a16:rowId xmlns:a16="http://schemas.microsoft.com/office/drawing/2014/main" val="3095012359"/>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Runella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Methanosarcina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Bauldia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917019206"/>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Pseudarthrobacter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Rhodopila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Subgroup 10</a:t>
                      </a:r>
                    </a:p>
                  </a:txBody>
                  <a:tcPr marL="9525" marR="9525" marT="9525" marB="0" anchor="b">
                    <a:solidFill>
                      <a:srgbClr val="FFFF7D"/>
                    </a:solidFill>
                  </a:tcPr>
                </a:tc>
                <a:extLst>
                  <a:ext uri="{0D108BD9-81ED-4DB2-BD59-A6C34878D82A}">
                    <a16:rowId xmlns:a16="http://schemas.microsoft.com/office/drawing/2014/main" val="3116390992"/>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Pararhizobium</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Bauldia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Solimonas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594773928"/>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IS-44</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Caldicoprobacter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Dyadobacter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4341248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Subgroup 10</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Subgroup 10</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Brevifollis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985009116"/>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Bauldia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Dyadobacter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IS-44</a:t>
                      </a:r>
                    </a:p>
                  </a:txBody>
                  <a:tcPr marL="9525" marR="9525" marT="9525" marB="0" anchor="b">
                    <a:solidFill>
                      <a:srgbClr val="FFFF7D"/>
                    </a:solidFill>
                  </a:tcPr>
                </a:tc>
                <a:extLst>
                  <a:ext uri="{0D108BD9-81ED-4DB2-BD59-A6C34878D82A}">
                    <a16:rowId xmlns:a16="http://schemas.microsoft.com/office/drawing/2014/main" val="229922658"/>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Hydrogenispora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IS-44</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Ruminofilibacter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1015200171"/>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Dyadobacter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Brevifollis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Microbacterium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180289669"/>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Brevifollis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Hydrogenispora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Hydrogenispora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extLst>
                  <a:ext uri="{0D108BD9-81ED-4DB2-BD59-A6C34878D82A}">
                    <a16:rowId xmlns:a16="http://schemas.microsoft.com/office/drawing/2014/main" val="4211420371"/>
                  </a:ext>
                </a:extLst>
              </a:tr>
              <a:tr h="266681">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Ruminofilibacter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Ruminofilibacter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Caldicoprobacter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622232106"/>
                  </a:ext>
                </a:extLst>
              </a:tr>
            </a:tbl>
          </a:graphicData>
        </a:graphic>
      </p:graphicFrame>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14364295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Novaseq</a:t>
            </a:r>
            <a:r>
              <a:rPr lang="en-US" sz="2000" dirty="0">
                <a:solidFill>
                  <a:srgbClr val="FFFF00"/>
                </a:solidFill>
                <a:latin typeface="Times New Roman" panose="02020603050405020304" pitchFamily="18" charset="0"/>
                <a:cs typeface="Times New Roman" panose="02020603050405020304" pitchFamily="18" charset="0"/>
              </a:rPr>
              <a:t>, Random Forest</a:t>
            </a:r>
            <a:endParaRPr lang="en-US" sz="2000" dirty="0" smtClean="0">
              <a:solidFill>
                <a:srgbClr val="0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81200"/>
            <a:ext cx="8489413" cy="4209037"/>
          </a:xfrm>
          <a:prstGeom prst="rect">
            <a:avLst/>
          </a:prstGeom>
        </p:spPr>
      </p:pic>
    </p:spTree>
    <p:extLst>
      <p:ext uri="{BB962C8B-B14F-4D97-AF65-F5344CB8AC3E}">
        <p14:creationId xmlns:p14="http://schemas.microsoft.com/office/powerpoint/2010/main" val="31219929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of </a:t>
            </a:r>
            <a:r>
              <a:rPr lang="en-US" sz="2400" dirty="0" smtClean="0">
                <a:solidFill>
                  <a:srgbClr val="FFFF00"/>
                </a:solidFill>
                <a:latin typeface="Times New Roman" panose="02020603050405020304" pitchFamily="18" charset="0"/>
                <a:cs typeface="Times New Roman" panose="02020603050405020304" pitchFamily="18" charset="0"/>
              </a:rPr>
              <a:t>Top 20 </a:t>
            </a:r>
            <a:r>
              <a:rPr lang="en-US" sz="2400" dirty="0" smtClean="0">
                <a:solidFill>
                  <a:srgbClr val="000000"/>
                </a:solidFill>
                <a:latin typeface="Times New Roman" panose="02020603050405020304" pitchFamily="18" charset="0"/>
                <a:cs typeface="Times New Roman" panose="02020603050405020304" pitchFamily="18" charset="0"/>
              </a:rPr>
              <a:t>SHAP Features for </a:t>
            </a:r>
            <a:r>
              <a:rPr lang="en-US" sz="2400" dirty="0" err="1" smtClean="0">
                <a:solidFill>
                  <a:srgbClr val="FFFF00"/>
                </a:solidFill>
                <a:latin typeface="Times New Roman" panose="02020603050405020304" pitchFamily="18" charset="0"/>
                <a:cs typeface="Times New Roman" panose="02020603050405020304" pitchFamily="18" charset="0"/>
              </a:rPr>
              <a:t>Aviti</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graphicFrame>
        <p:nvGraphicFramePr>
          <p:cNvPr id="5" name="Table 4"/>
          <p:cNvGraphicFramePr>
            <a:graphicFrameLocks noGrp="1"/>
          </p:cNvGraphicFramePr>
          <p:nvPr>
            <p:extLst>
              <p:ext uri="{D42A27DB-BD31-4B8C-83A1-F6EECF244321}">
                <p14:modId xmlns:p14="http://schemas.microsoft.com/office/powerpoint/2010/main" val="3426352115"/>
              </p:ext>
            </p:extLst>
          </p:nvPr>
        </p:nvGraphicFramePr>
        <p:xfrm>
          <a:off x="4191000" y="1193800"/>
          <a:ext cx="4495800" cy="498918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Croceibacterium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Gemmata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Opitutus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Opitutus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Methylobacter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Croceibacterium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Sphingorhabdus</a:t>
                      </a:r>
                    </a:p>
                  </a:txBody>
                  <a:tcPr marL="9525" marR="9525" marT="9525" marB="0" anchor="b">
                    <a:solidFill>
                      <a:schemeClr val="bg1"/>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Gemmata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Hyphomicrobium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Streptomyces</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Gemmata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Sphingorhabdus</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Azotobacter</a:t>
                      </a:r>
                    </a:p>
                  </a:txBody>
                  <a:tcPr marL="9525" marR="9525" marT="9525" marB="0" anchor="b">
                    <a:solidFill>
                      <a:schemeClr val="bg1"/>
                    </a:solidFill>
                  </a:tcPr>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Cellvibrio</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Opitutus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Hyphomicrobium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YC-ZSS-LKJ147</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Hyphomicrobium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YC-ZSS-LKJ147</a:t>
                      </a:r>
                    </a:p>
                  </a:txBody>
                  <a:tcPr marL="9525" marR="9525" marT="9525" marB="0" anchor="b">
                    <a:solidFill>
                      <a:srgbClr val="FFFF7D"/>
                    </a:solidFill>
                  </a:tcPr>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Azotobacter</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Streptomyces</a:t>
                      </a:r>
                    </a:p>
                  </a:txBody>
                  <a:tcPr marL="9525" marR="9525" marT="9525" marB="0" anchor="b">
                    <a:solidFill>
                      <a:srgbClr val="FFFF7D"/>
                    </a:solidFill>
                  </a:tcPr>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Croceibacterium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Agrobacterium</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Agrobacterium</a:t>
                      </a:r>
                    </a:p>
                  </a:txBody>
                  <a:tcPr marL="9525" marR="9525" marT="9525" marB="0" anchor="b">
                    <a:solidFill>
                      <a:srgbClr val="FFFF7D"/>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Streptomyces</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Agrobacterium</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Chthonobacter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Methylobacter</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Cellvibrio</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Cellvibrio</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Parafilimonas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Spirochaeta</a:t>
                      </a:r>
                      <a:r>
                        <a:rPr lang="en-US" sz="1100" b="0" i="0" u="none" strike="noStrike" dirty="0">
                          <a:solidFill>
                            <a:srgbClr val="000000"/>
                          </a:solidFill>
                          <a:effectLst/>
                          <a:latin typeface="Calibri" panose="020F0502020204030204" pitchFamily="34" charset="0"/>
                        </a:rPr>
                        <a:t> 2</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C1-B045</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Spirochaeta</a:t>
                      </a:r>
                      <a:r>
                        <a:rPr lang="en-US" sz="1100" b="0" i="0" u="none" strike="noStrike" dirty="0">
                          <a:solidFill>
                            <a:srgbClr val="000000"/>
                          </a:solidFill>
                          <a:effectLst/>
                          <a:latin typeface="Calibri" panose="020F0502020204030204" pitchFamily="34" charset="0"/>
                        </a:rPr>
                        <a:t> 2</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Chthonobacter</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Labrys</a:t>
                      </a:r>
                    </a:p>
                  </a:txBody>
                  <a:tcPr marL="9525" marR="9525" marT="9525" marB="0" anchor="b">
                    <a:solidFill>
                      <a:schemeClr val="bg1"/>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smtClean="0">
                          <a:solidFill>
                            <a:srgbClr val="000000"/>
                          </a:solidFill>
                          <a:effectLst/>
                          <a:latin typeface="Calibri" panose="020F0502020204030204" pitchFamily="34" charset="0"/>
                        </a:rPr>
                        <a:t>Sneathiella</a:t>
                      </a:r>
                      <a:r>
                        <a:rPr lang="en-US" sz="1100" b="0" i="0" u="none" strike="noStrike" dirty="0" smtClean="0">
                          <a:solidFill>
                            <a:srgbClr val="000000"/>
                          </a:solidFill>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YC-ZSS-LKJ147</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Spirochaeta</a:t>
                      </a:r>
                      <a:r>
                        <a:rPr lang="en-US" sz="1100" b="0" i="0" u="none" strike="noStrike" dirty="0">
                          <a:solidFill>
                            <a:srgbClr val="000000"/>
                          </a:solidFill>
                          <a:effectLst/>
                          <a:latin typeface="Calibri" panose="020F0502020204030204" pitchFamily="34" charset="0"/>
                        </a:rPr>
                        <a:t> 2</a:t>
                      </a:r>
                    </a:p>
                  </a:txBody>
                  <a:tcPr marL="9525" marR="9525" marT="9525" marB="0" anchor="b">
                    <a:solidFill>
                      <a:srgbClr val="FFFF7D"/>
                    </a:solid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84274070"/>
              </p:ext>
            </p:extLst>
          </p:nvPr>
        </p:nvGraphicFramePr>
        <p:xfrm>
          <a:off x="381000" y="1193800"/>
          <a:ext cx="3579813" cy="522627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Flavobacterium</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Terrimonas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Sphingomonas</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Chryseotalea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Arenimonas</a:t>
                      </a:r>
                    </a:p>
                  </a:txBody>
                  <a:tcPr marL="9525" marR="9525" marT="9525" marB="0" anchor="b"/>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Subgroup 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Hassallia</a:t>
                      </a:r>
                    </a:p>
                  </a:txBody>
                  <a:tcPr marL="9525" marR="9525" marT="9525" marB="0" anchor="b"/>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MND1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Methylobacter</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Arenimonas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4110988134"/>
                  </a:ext>
                </a:extLst>
              </a:tr>
              <a:tr h="56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Ramlibacter</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Ramlibacter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Rubrivivax</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Bradyrhizobium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Gemmata</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Sediminibacterium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Stenotrophobacter</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Devosia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Pelotalea</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Gemmatimonas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Sediminibacterium</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Cellvibrio</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Paucibacter</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Ohtaekwangia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UBA6140</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Luteolibacter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Iamia</a:t>
                      </a:r>
                    </a:p>
                  </a:txBody>
                  <a:tcPr marL="9525" marR="9525" marT="9525" marB="0" anchor="b"/>
                </a:tc>
                <a:tc>
                  <a:txBody>
                    <a:bodyPr/>
                    <a:lstStyle/>
                    <a:p>
                      <a:pPr algn="ctr" fontAlgn="b"/>
                      <a:r>
                        <a:rPr lang="en-US" sz="1100" b="0" i="0" u="none" strike="noStrike" dirty="0" smtClean="0">
                          <a:solidFill>
                            <a:srgbClr val="000000"/>
                          </a:solidFill>
                          <a:effectLst/>
                          <a:latin typeface="Times New Roman" panose="02020603050405020304" pitchFamily="18" charset="0"/>
                          <a:cs typeface="Times New Roman" panose="02020603050405020304" pitchFamily="18" charset="0"/>
                        </a:rPr>
                        <a:t>YC-ZSS-LKJ147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Acidiferrimicrobium</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Ferribacterium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Hirschia"</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Algoriphagus</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Niastella</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Variovorax</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Pseudorhodoplanes</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Lentzea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Reyranella</a:t>
                      </a: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Rhizobacter</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Conexibacter</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err="1" smtClean="0">
                          <a:solidFill>
                            <a:srgbClr val="000000"/>
                          </a:solidFill>
                          <a:effectLst/>
                          <a:latin typeface="Times New Roman" panose="02020603050405020304" pitchFamily="18" charset="0"/>
                          <a:cs typeface="Times New Roman" panose="02020603050405020304" pitchFamily="18" charset="0"/>
                        </a:rPr>
                        <a:t>Massilia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27735482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400" dirty="0">
                <a:solidFill>
                  <a:srgbClr val="000000"/>
                </a:solidFill>
                <a:latin typeface="Times New Roman" panose="02020603050405020304" pitchFamily="18" charset="0"/>
                <a:cs typeface="Times New Roman" panose="02020603050405020304" pitchFamily="18" charset="0"/>
              </a:rPr>
              <a:t>Boxplot of the </a:t>
            </a:r>
            <a:r>
              <a:rPr lang="en-US" sz="2400" dirty="0">
                <a:solidFill>
                  <a:srgbClr val="FFFF00"/>
                </a:solidFill>
                <a:latin typeface="Times New Roman" panose="02020603050405020304" pitchFamily="18" charset="0"/>
                <a:cs typeface="Times New Roman" panose="02020603050405020304" pitchFamily="18" charset="0"/>
              </a:rPr>
              <a:t>Soil</a:t>
            </a:r>
            <a:r>
              <a:rPr lang="en-US" sz="2400" dirty="0">
                <a:solidFill>
                  <a:srgbClr val="000000"/>
                </a:solidFill>
                <a:latin typeface="Times New Roman" panose="02020603050405020304" pitchFamily="18" charset="0"/>
                <a:cs typeface="Times New Roman" panose="02020603050405020304" pitchFamily="18" charset="0"/>
              </a:rPr>
              <a:t> features abundance for </a:t>
            </a:r>
            <a:r>
              <a:rPr lang="en-US" sz="2400" dirty="0" err="1" smtClean="0">
                <a:solidFill>
                  <a:srgbClr val="FFFF00"/>
                </a:solidFill>
                <a:latin typeface="Times New Roman" panose="02020603050405020304" pitchFamily="18" charset="0"/>
                <a:cs typeface="Times New Roman" panose="02020603050405020304" pitchFamily="18" charset="0"/>
              </a:rPr>
              <a:t>Aviti</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905000"/>
            <a:ext cx="8682925" cy="4304980"/>
          </a:xfrm>
          <a:prstGeom prst="rect">
            <a:avLst/>
          </a:prstGeom>
        </p:spPr>
      </p:pic>
    </p:spTree>
    <p:extLst>
      <p:ext uri="{BB962C8B-B14F-4D97-AF65-F5344CB8AC3E}">
        <p14:creationId xmlns:p14="http://schemas.microsoft.com/office/powerpoint/2010/main" val="39457233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52400"/>
            <a:ext cx="83820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a:t>
            </a:r>
            <a:r>
              <a:rPr lang="en-US" sz="2400" dirty="0">
                <a:solidFill>
                  <a:srgbClr val="000000"/>
                </a:solidFill>
                <a:latin typeface="Times New Roman" panose="02020603050405020304" pitchFamily="18" charset="0"/>
                <a:cs typeface="Times New Roman" panose="02020603050405020304" pitchFamily="18" charset="0"/>
              </a:rPr>
              <a:t>of </a:t>
            </a:r>
            <a:r>
              <a:rPr lang="en-US" sz="2400" dirty="0" smtClean="0">
                <a:solidFill>
                  <a:srgbClr val="FFFF00"/>
                </a:solidFill>
                <a:latin typeface="Times New Roman" panose="02020603050405020304" pitchFamily="18" charset="0"/>
                <a:cs typeface="Times New Roman" panose="02020603050405020304" pitchFamily="18" charset="0"/>
              </a:rPr>
              <a:t>Top </a:t>
            </a:r>
            <a:r>
              <a:rPr lang="en-US" sz="2400" dirty="0">
                <a:solidFill>
                  <a:srgbClr val="FFFF00"/>
                </a:solidFill>
                <a:latin typeface="Times New Roman" panose="02020603050405020304" pitchFamily="18" charset="0"/>
                <a:cs typeface="Times New Roman" panose="02020603050405020304" pitchFamily="18" charset="0"/>
              </a:rPr>
              <a:t>20 </a:t>
            </a:r>
            <a:r>
              <a:rPr lang="en-US" sz="2400" dirty="0" smtClean="0">
                <a:solidFill>
                  <a:srgbClr val="000000"/>
                </a:solidFill>
                <a:latin typeface="Times New Roman" panose="02020603050405020304" pitchFamily="18" charset="0"/>
                <a:cs typeface="Times New Roman" panose="02020603050405020304" pitchFamily="18" charset="0"/>
              </a:rPr>
              <a:t>SHAP </a:t>
            </a:r>
            <a:r>
              <a:rPr lang="en-US" sz="2400" dirty="0">
                <a:solidFill>
                  <a:srgbClr val="000000"/>
                </a:solidFill>
                <a:latin typeface="Times New Roman" panose="02020603050405020304" pitchFamily="18" charset="0"/>
                <a:cs typeface="Times New Roman" panose="02020603050405020304" pitchFamily="18" charset="0"/>
              </a:rPr>
              <a:t>Features for </a:t>
            </a:r>
            <a:r>
              <a:rPr lang="en-US" sz="2400" dirty="0" err="1" smtClean="0">
                <a:solidFill>
                  <a:srgbClr val="FFFF00"/>
                </a:solidFill>
                <a:latin typeface="Times New Roman" panose="02020603050405020304" pitchFamily="18" charset="0"/>
                <a:cs typeface="Times New Roman" panose="02020603050405020304" pitchFamily="18" charset="0"/>
              </a:rPr>
              <a:t>Miseq</a:t>
            </a:r>
            <a:r>
              <a:rPr lang="en-US" sz="2400" dirty="0" smtClean="0">
                <a:solidFill>
                  <a:srgbClr val="FFFF00"/>
                </a:solidFill>
                <a:latin typeface="Times New Roman" panose="02020603050405020304" pitchFamily="18" charset="0"/>
                <a:cs typeface="Times New Roman" panose="02020603050405020304" pitchFamily="18" charset="0"/>
              </a:rPr>
              <a:t>, LSVM</a:t>
            </a:r>
            <a:endParaRPr lang="en-US" sz="2400" dirty="0" smtClean="0">
              <a:solidFill>
                <a:srgbClr val="000000"/>
              </a:solidFill>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4070752146"/>
              </p:ext>
            </p:extLst>
          </p:nvPr>
        </p:nvGraphicFramePr>
        <p:xfrm>
          <a:off x="685801" y="1143000"/>
          <a:ext cx="3124201" cy="5195050"/>
        </p:xfrm>
        <a:graphic>
          <a:graphicData uri="http://schemas.openxmlformats.org/drawingml/2006/table">
            <a:tbl>
              <a:tblPr>
                <a:tableStyleId>{616DA210-FB5B-4158-B5E0-FEB733F419BA}</a:tableStyleId>
              </a:tblPr>
              <a:tblGrid>
                <a:gridCol w="628748">
                  <a:extLst>
                    <a:ext uri="{9D8B030D-6E8A-4147-A177-3AD203B41FA5}">
                      <a16:colId xmlns:a16="http://schemas.microsoft.com/office/drawing/2014/main" val="1684629359"/>
                    </a:ext>
                  </a:extLst>
                </a:gridCol>
                <a:gridCol w="1276251">
                  <a:extLst>
                    <a:ext uri="{9D8B030D-6E8A-4147-A177-3AD203B41FA5}">
                      <a16:colId xmlns:a16="http://schemas.microsoft.com/office/drawing/2014/main" val="3958920733"/>
                    </a:ext>
                  </a:extLst>
                </a:gridCol>
                <a:gridCol w="1219202">
                  <a:extLst>
                    <a:ext uri="{9D8B030D-6E8A-4147-A177-3AD203B41FA5}">
                      <a16:colId xmlns:a16="http://schemas.microsoft.com/office/drawing/2014/main" val="806990348"/>
                    </a:ext>
                  </a:extLst>
                </a:gridCol>
              </a:tblGrid>
              <a:tr h="318783">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err="1" smtClean="0">
                          <a:effectLst/>
                          <a:latin typeface="Times New Roman" panose="02020603050405020304" pitchFamily="18" charset="0"/>
                          <a:cs typeface="Times New Roman" panose="02020603050405020304" pitchFamily="18" charset="0"/>
                        </a:rPr>
                        <a:t>'s</a:t>
                      </a:r>
                      <a:r>
                        <a:rPr lang="en-US" sz="1200" b="1" u="none" strike="noStrike" dirty="0" smtClean="0">
                          <a:effectLst/>
                          <a:latin typeface="Times New Roman" panose="02020603050405020304" pitchFamily="18" charset="0"/>
                          <a:cs typeface="Times New Roman" panose="02020603050405020304" pitchFamily="18" charset="0"/>
                        </a:rPr>
                        <a:t>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IS-44</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UBA6140</a:t>
                      </a:r>
                    </a:p>
                  </a:txBody>
                  <a:tcPr marL="9525" marR="9525" marT="9525" marB="0" anchor="b"/>
                </a:tc>
                <a:extLst>
                  <a:ext uri="{0D108BD9-81ED-4DB2-BD59-A6C34878D82A}">
                    <a16:rowId xmlns:a16="http://schemas.microsoft.com/office/drawing/2014/main" val="1993406850"/>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Dokdonella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Pseudomonas</a:t>
                      </a:r>
                    </a:p>
                  </a:txBody>
                  <a:tcPr marL="9525" marR="9525" marT="9525" marB="0" anchor="b"/>
                </a:tc>
                <a:extLst>
                  <a:ext uri="{0D108BD9-81ED-4DB2-BD59-A6C34878D82A}">
                    <a16:rowId xmlns:a16="http://schemas.microsoft.com/office/drawing/2014/main" val="1874311317"/>
                  </a:ext>
                </a:extLst>
              </a:tr>
              <a:tr h="42066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Methylobacillus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Methylotenera</a:t>
                      </a:r>
                    </a:p>
                  </a:txBody>
                  <a:tcPr marL="9525" marR="9525" marT="9525" marB="0" anchor="b"/>
                </a:tc>
                <a:extLst>
                  <a:ext uri="{0D108BD9-81ED-4DB2-BD59-A6C34878D82A}">
                    <a16:rowId xmlns:a16="http://schemas.microsoft.com/office/drawing/2014/main" val="428526081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Candidatus Solibacter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Oleiharenicola</a:t>
                      </a:r>
                    </a:p>
                  </a:txBody>
                  <a:tcPr marL="9525" marR="9525" marT="9525" marB="0" anchor="b"/>
                </a:tc>
                <a:extLst>
                  <a:ext uri="{0D108BD9-81ED-4DB2-BD59-A6C34878D82A}">
                    <a16:rowId xmlns:a16="http://schemas.microsoft.com/office/drawing/2014/main" val="3953385741"/>
                  </a:ext>
                </a:extLst>
              </a:tr>
              <a:tr h="20617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Ferruginibacter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Opitutus</a:t>
                      </a:r>
                    </a:p>
                  </a:txBody>
                  <a:tcPr marL="9525" marR="9525" marT="9525" marB="0" anchor="b"/>
                </a:tc>
                <a:extLst>
                  <a:ext uri="{0D108BD9-81ED-4DB2-BD59-A6C34878D82A}">
                    <a16:rowId xmlns:a16="http://schemas.microsoft.com/office/drawing/2014/main" val="4110988134"/>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Chthoniobacter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Croceibacterium</a:t>
                      </a:r>
                    </a:p>
                  </a:txBody>
                  <a:tcPr marL="9525" marR="9525" marT="9525" marB="0" anchor="b"/>
                </a:tc>
                <a:extLst>
                  <a:ext uri="{0D108BD9-81ED-4DB2-BD59-A6C34878D82A}">
                    <a16:rowId xmlns:a16="http://schemas.microsoft.com/office/drawing/2014/main" val="206533270"/>
                  </a:ext>
                </a:extLst>
              </a:tr>
              <a:tr h="3288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Devosia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Candidatus Solibacter</a:t>
                      </a:r>
                    </a:p>
                  </a:txBody>
                  <a:tcPr marL="9525" marR="9525" marT="9525" marB="0" anchor="b"/>
                </a:tc>
                <a:extLst>
                  <a:ext uri="{0D108BD9-81ED-4DB2-BD59-A6C34878D82A}">
                    <a16:rowId xmlns:a16="http://schemas.microsoft.com/office/drawing/2014/main" val="232505674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Hirschia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Dongia</a:t>
                      </a:r>
                    </a:p>
                  </a:txBody>
                  <a:tcPr marL="9525" marR="9525" marT="9525" marB="0" anchor="b"/>
                </a:tc>
                <a:extLst>
                  <a:ext uri="{0D108BD9-81ED-4DB2-BD59-A6C34878D82A}">
                    <a16:rowId xmlns:a16="http://schemas.microsoft.com/office/drawing/2014/main" val="411871232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Bauldia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MND1</a:t>
                      </a:r>
                    </a:p>
                  </a:txBody>
                  <a:tcPr marL="9525" marR="9525" marT="9525" marB="0" anchor="b"/>
                </a:tc>
                <a:extLst>
                  <a:ext uri="{0D108BD9-81ED-4DB2-BD59-A6C34878D82A}">
                    <a16:rowId xmlns:a16="http://schemas.microsoft.com/office/drawing/2014/main" val="2118482760"/>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Ramlibacter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Steroidobacter</a:t>
                      </a:r>
                    </a:p>
                  </a:txBody>
                  <a:tcPr marL="9525" marR="9525" marT="9525" marB="0" anchor="b"/>
                </a:tc>
                <a:extLst>
                  <a:ext uri="{0D108BD9-81ED-4DB2-BD59-A6C34878D82A}">
                    <a16:rowId xmlns:a16="http://schemas.microsoft.com/office/drawing/2014/main" val="3095012359"/>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Chryseotalea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Ilumatobacter</a:t>
                      </a:r>
                    </a:p>
                  </a:txBody>
                  <a:tcPr marL="9525" marR="9525" marT="9525" marB="0" anchor="b"/>
                </a:tc>
                <a:extLst>
                  <a:ext uri="{0D108BD9-81ED-4DB2-BD59-A6C34878D82A}">
                    <a16:rowId xmlns:a16="http://schemas.microsoft.com/office/drawing/2014/main" val="917019206"/>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Phenylobacterium</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YC-ZSS-LKJ147</a:t>
                      </a:r>
                    </a:p>
                  </a:txBody>
                  <a:tcPr marL="9525" marR="9525" marT="9525" marB="0" anchor="b"/>
                </a:tc>
                <a:extLst>
                  <a:ext uri="{0D108BD9-81ED-4DB2-BD59-A6C34878D82A}">
                    <a16:rowId xmlns:a16="http://schemas.microsoft.com/office/drawing/2014/main" val="3116390992"/>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Ellin6055</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Pirellula</a:t>
                      </a:r>
                    </a:p>
                  </a:txBody>
                  <a:tcPr marL="9525" marR="9525" marT="9525" marB="0" anchor="b"/>
                </a:tc>
                <a:extLst>
                  <a:ext uri="{0D108BD9-81ED-4DB2-BD59-A6C34878D82A}">
                    <a16:rowId xmlns:a16="http://schemas.microsoft.com/office/drawing/2014/main" val="1594773928"/>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YC-ZSS-LKJ147</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Sphingomonas</a:t>
                      </a:r>
                    </a:p>
                  </a:txBody>
                  <a:tcPr marL="9525" marR="9525" marT="9525" marB="0" anchor="b"/>
                </a:tc>
                <a:extLst>
                  <a:ext uri="{0D108BD9-81ED-4DB2-BD59-A6C34878D82A}">
                    <a16:rowId xmlns:a16="http://schemas.microsoft.com/office/drawing/2014/main" val="14341248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Panacibacter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Subgroup 10</a:t>
                      </a:r>
                    </a:p>
                  </a:txBody>
                  <a:tcPr marL="9525" marR="9525" marT="9525" marB="0" anchor="b"/>
                </a:tc>
                <a:extLst>
                  <a:ext uri="{0D108BD9-81ED-4DB2-BD59-A6C34878D82A}">
                    <a16:rowId xmlns:a16="http://schemas.microsoft.com/office/drawing/2014/main" val="1985009116"/>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Ellin517</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Reyranella</a:t>
                      </a:r>
                    </a:p>
                  </a:txBody>
                  <a:tcPr marL="9525" marR="9525" marT="9525" marB="0" anchor="b"/>
                </a:tc>
                <a:extLst>
                  <a:ext uri="{0D108BD9-81ED-4DB2-BD59-A6C34878D82A}">
                    <a16:rowId xmlns:a16="http://schemas.microsoft.com/office/drawing/2014/main" val="229922658"/>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Luteolibacter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Hassallia</a:t>
                      </a:r>
                    </a:p>
                  </a:txBody>
                  <a:tcPr marL="9525" marR="9525" marT="9525" marB="0" anchor="b"/>
                </a:tc>
                <a:extLst>
                  <a:ext uri="{0D108BD9-81ED-4DB2-BD59-A6C34878D82A}">
                    <a16:rowId xmlns:a16="http://schemas.microsoft.com/office/drawing/2014/main" val="1015200171"/>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Pir4 lineage</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Phenylobacterium</a:t>
                      </a:r>
                    </a:p>
                  </a:txBody>
                  <a:tcPr marL="9525" marR="9525" marT="9525" marB="0" anchor="b"/>
                </a:tc>
                <a:extLst>
                  <a:ext uri="{0D108BD9-81ED-4DB2-BD59-A6C34878D82A}">
                    <a16:rowId xmlns:a16="http://schemas.microsoft.com/office/drawing/2014/main" val="1180289669"/>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Rhodoplanes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Chryseotalea</a:t>
                      </a:r>
                    </a:p>
                  </a:txBody>
                  <a:tcPr marL="9525" marR="9525" marT="9525" marB="0" anchor="b"/>
                </a:tc>
                <a:extLst>
                  <a:ext uri="{0D108BD9-81ED-4DB2-BD59-A6C34878D82A}">
                    <a16:rowId xmlns:a16="http://schemas.microsoft.com/office/drawing/2014/main" val="4211420371"/>
                  </a:ext>
                </a:extLst>
              </a:tr>
              <a:tr h="260937">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mle1-7</a:t>
                      </a:r>
                    </a:p>
                  </a:txBody>
                  <a:tcPr marL="9525" marR="9525" marT="9525" marB="0" anchor="b"/>
                </a:tc>
                <a:tc>
                  <a:txBody>
                    <a:bodyPr/>
                    <a:lstStyle/>
                    <a:p>
                      <a:pPr algn="ctr" fontAlgn="b"/>
                      <a:r>
                        <a:rPr lang="en-US" sz="1100" b="0" i="0" u="none" strike="noStrike" dirty="0">
                          <a:solidFill>
                            <a:srgbClr val="000000"/>
                          </a:solidFill>
                          <a:effectLst/>
                          <a:latin typeface="Calibri" panose="020F0502020204030204" pitchFamily="34" charset="0"/>
                        </a:rPr>
                        <a:t>Ellin6067</a:t>
                      </a:r>
                    </a:p>
                  </a:txBody>
                  <a:tcPr marL="9525" marR="9525" marT="9525" marB="0" anchor="b"/>
                </a:tc>
                <a:extLst>
                  <a:ext uri="{0D108BD9-81ED-4DB2-BD59-A6C34878D82A}">
                    <a16:rowId xmlns:a16="http://schemas.microsoft.com/office/drawing/2014/main" val="26222321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02831851"/>
              </p:ext>
            </p:extLst>
          </p:nvPr>
        </p:nvGraphicFramePr>
        <p:xfrm>
          <a:off x="4191000" y="1152750"/>
          <a:ext cx="4495800" cy="4962384"/>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295050">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Steroidobacter</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Pseudomonas</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Pseudomonas</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Pseudomonas</a:t>
                      </a:r>
                    </a:p>
                  </a:txBody>
                  <a:tcPr marL="9525" marR="9525" marT="9525" marB="0" anchor="b">
                    <a:solidFill>
                      <a:srgbClr val="FFFF7D"/>
                    </a:solidFill>
                  </a:tcPr>
                </a:tc>
                <a:extLst>
                  <a:ext uri="{0D108BD9-81ED-4DB2-BD59-A6C34878D82A}">
                    <a16:rowId xmlns:a16="http://schemas.microsoft.com/office/drawing/2014/main" val="1874311317"/>
                  </a:ext>
                </a:extLst>
              </a:tr>
              <a:tr h="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Steroidobacter</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Acidibacter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Acidibacter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Dokdonella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Steroidobacter</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Acidibacter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Luteolibacter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Luteolibacter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110988134"/>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Oleiharenicola</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Dokdonella</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Shinella</a:t>
                      </a:r>
                    </a:p>
                  </a:txBody>
                  <a:tcPr marL="9525" marR="9525" marT="9525" marB="0" anchor="b">
                    <a:solidFill>
                      <a:schemeClr val="bg1"/>
                    </a:solidFill>
                  </a:tcPr>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Croceibacterium</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Ellin6067</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Dechloromonas</a:t>
                      </a:r>
                    </a:p>
                  </a:txBody>
                  <a:tcPr marL="9525" marR="9525" marT="9525" marB="0" anchor="b">
                    <a:solidFill>
                      <a:schemeClr val="bg1"/>
                    </a:solidFill>
                  </a:tcPr>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JGI 0001001-H03</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Sphingomonas</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Geomonas</a:t>
                      </a:r>
                    </a:p>
                  </a:txBody>
                  <a:tcPr marL="9525" marR="9525" marT="9525" marB="0" anchor="b">
                    <a:solidFill>
                      <a:schemeClr val="bg1"/>
                    </a:solidFill>
                  </a:tcPr>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Ellin6067</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MND1</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Opitutus</a:t>
                      </a:r>
                    </a:p>
                  </a:txBody>
                  <a:tcPr marL="9525" marR="9525" marT="9525" marB="0" anchor="b">
                    <a:solidFill>
                      <a:schemeClr val="bg1"/>
                    </a:solidFill>
                  </a:tcPr>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CL500-3</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Geomonas</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Sphingomonas</a:t>
                      </a:r>
                    </a:p>
                  </a:txBody>
                  <a:tcPr marL="9525" marR="9525" marT="9525" marB="0" anchor="b">
                    <a:solidFill>
                      <a:schemeClr val="bg1"/>
                    </a:solidFill>
                  </a:tcPr>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Gemmata</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Ellin6067</a:t>
                      </a:r>
                    </a:p>
                  </a:txBody>
                  <a:tcPr marL="9525" marR="9525" marT="9525" marB="0" anchor="b">
                    <a:solidFill>
                      <a:srgbClr val="FFFF7D"/>
                    </a:solidFill>
                  </a:tcPr>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Ohtaekwangia</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Shinella</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OLB12</a:t>
                      </a:r>
                    </a:p>
                  </a:txBody>
                  <a:tcPr marL="9525" marR="9525" marT="9525" marB="0" anchor="b">
                    <a:solidFill>
                      <a:schemeClr val="bg1"/>
                    </a:solidFill>
                  </a:tcPr>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Ilumatobacter</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Pedomicrobium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Sphingorhabdus</a:t>
                      </a:r>
                    </a:p>
                  </a:txBody>
                  <a:tcPr marL="9525" marR="9525" marT="9525" marB="0" anchor="b">
                    <a:solidFill>
                      <a:schemeClr val="bg1"/>
                    </a:solidFill>
                  </a:tcPr>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Sphingorhabdus</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Paludibaculum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Methylophilus</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Arsenicitalea</a:t>
                      </a:r>
                    </a:p>
                  </a:txBody>
                  <a:tcPr marL="9525" marR="9525" marT="9525" marB="0" anchor="b">
                    <a:solidFill>
                      <a:schemeClr val="bg1"/>
                    </a:solidFill>
                  </a:tcPr>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Arsenicitalea</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OLB12</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MND1</a:t>
                      </a:r>
                    </a:p>
                  </a:txBody>
                  <a:tcPr marL="9525" marR="9525" marT="9525" marB="0" anchor="b">
                    <a:solidFill>
                      <a:srgbClr val="FFFF7D"/>
                    </a:solidFill>
                  </a:tcPr>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Kineobactrum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Dechloromonas</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Ilumatobacter</a:t>
                      </a:r>
                    </a:p>
                  </a:txBody>
                  <a:tcPr marL="9525" marR="9525" marT="9525" marB="0" anchor="b">
                    <a:solidFill>
                      <a:schemeClr val="bg1"/>
                    </a:solidFill>
                  </a:tcPr>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Luteolibacter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Croceibacterium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Methylophilus</a:t>
                      </a:r>
                    </a:p>
                  </a:txBody>
                  <a:tcPr marL="9525" marR="9525" marT="9525" marB="0" anchor="b">
                    <a:solidFill>
                      <a:schemeClr val="bg1"/>
                    </a:solidFill>
                  </a:tcPr>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Pedomicrobium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JGI 0001001-H03</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Pirellula</a:t>
                      </a:r>
                    </a:p>
                  </a:txBody>
                  <a:tcPr marL="9525" marR="9525" marT="9525" marB="0" anchor="b">
                    <a:solidFill>
                      <a:schemeClr val="bg1"/>
                    </a:solidFill>
                  </a:tcPr>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MND1</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Opitutus</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Rubrivivax</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34878894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52400"/>
            <a:ext cx="8382000" cy="723900"/>
          </a:xfrm>
        </p:spPr>
        <p:txBody>
          <a:bodyPr/>
          <a:lstStyle/>
          <a:p>
            <a:r>
              <a:rPr lang="en-US" sz="2400" dirty="0">
                <a:solidFill>
                  <a:srgbClr val="000000"/>
                </a:solidFill>
                <a:latin typeface="Times New Roman" panose="02020603050405020304" pitchFamily="18" charset="0"/>
                <a:cs typeface="Times New Roman" panose="02020603050405020304" pitchFamily="18" charset="0"/>
              </a:rPr>
              <a:t>Boxplot of the </a:t>
            </a:r>
            <a:r>
              <a:rPr lang="en-US" sz="2400" dirty="0">
                <a:solidFill>
                  <a:srgbClr val="FFFF00"/>
                </a:solidFill>
                <a:latin typeface="Times New Roman" panose="02020603050405020304" pitchFamily="18" charset="0"/>
                <a:cs typeface="Times New Roman" panose="02020603050405020304" pitchFamily="18" charset="0"/>
              </a:rPr>
              <a:t>Soil</a:t>
            </a:r>
            <a:r>
              <a:rPr lang="en-US" sz="2400" dirty="0">
                <a:solidFill>
                  <a:srgbClr val="000000"/>
                </a:solidFill>
                <a:latin typeface="Times New Roman" panose="02020603050405020304" pitchFamily="18" charset="0"/>
                <a:cs typeface="Times New Roman" panose="02020603050405020304" pitchFamily="18" charset="0"/>
              </a:rPr>
              <a:t> features abundance for </a:t>
            </a:r>
            <a:r>
              <a:rPr lang="en-US" sz="2400" dirty="0" err="1" smtClean="0">
                <a:solidFill>
                  <a:srgbClr val="FFFF00"/>
                </a:solidFill>
                <a:latin typeface="Times New Roman" panose="02020603050405020304" pitchFamily="18" charset="0"/>
                <a:cs typeface="Times New Roman" panose="02020603050405020304" pitchFamily="18" charset="0"/>
              </a:rPr>
              <a:t>Miseq</a:t>
            </a:r>
            <a:r>
              <a:rPr lang="en-US" sz="2400" dirty="0" smtClean="0">
                <a:solidFill>
                  <a:srgbClr val="FFFF00"/>
                </a:solidFill>
                <a:latin typeface="Times New Roman" panose="02020603050405020304" pitchFamily="18" charset="0"/>
                <a:cs typeface="Times New Roman" panose="02020603050405020304" pitchFamily="18" charset="0"/>
              </a:rPr>
              <a:t>, </a:t>
            </a:r>
            <a:r>
              <a:rPr lang="en-US" sz="2400" dirty="0">
                <a:solidFill>
                  <a:srgbClr val="FFFF00"/>
                </a:solidFill>
                <a:latin typeface="Times New Roman" panose="02020603050405020304" pitchFamily="18" charset="0"/>
                <a:cs typeface="Times New Roman" panose="02020603050405020304" pitchFamily="18" charset="0"/>
              </a:rPr>
              <a:t>LSVM</a:t>
            </a:r>
            <a:endParaRPr lang="en-US" sz="2400" dirty="0" smtClean="0">
              <a:solidFill>
                <a:srgbClr val="00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828800"/>
            <a:ext cx="8529234" cy="4228780"/>
          </a:xfrm>
          <a:prstGeom prst="rect">
            <a:avLst/>
          </a:prstGeom>
        </p:spPr>
      </p:pic>
    </p:spTree>
    <p:extLst>
      <p:ext uri="{BB962C8B-B14F-4D97-AF65-F5344CB8AC3E}">
        <p14:creationId xmlns:p14="http://schemas.microsoft.com/office/powerpoint/2010/main" val="10192465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a:t>
            </a:r>
            <a:r>
              <a:rPr lang="en-US" sz="2400" dirty="0">
                <a:solidFill>
                  <a:srgbClr val="000000"/>
                </a:solidFill>
                <a:latin typeface="Times New Roman" panose="02020603050405020304" pitchFamily="18" charset="0"/>
                <a:cs typeface="Times New Roman" panose="02020603050405020304" pitchFamily="18" charset="0"/>
              </a:rPr>
              <a:t>of </a:t>
            </a:r>
            <a:r>
              <a:rPr lang="en-US" sz="2400" dirty="0">
                <a:solidFill>
                  <a:srgbClr val="FFFF00"/>
                </a:solidFill>
                <a:latin typeface="Times New Roman" panose="02020603050405020304" pitchFamily="18" charset="0"/>
                <a:cs typeface="Times New Roman" panose="02020603050405020304" pitchFamily="18" charset="0"/>
              </a:rPr>
              <a:t>Top 20 </a:t>
            </a:r>
            <a:r>
              <a:rPr lang="en-US" sz="2400" dirty="0">
                <a:solidFill>
                  <a:srgbClr val="000000"/>
                </a:solidFill>
                <a:latin typeface="Times New Roman" panose="02020603050405020304" pitchFamily="18" charset="0"/>
                <a:cs typeface="Times New Roman" panose="02020603050405020304" pitchFamily="18" charset="0"/>
              </a:rPr>
              <a:t>SHAP Features for </a:t>
            </a:r>
            <a:r>
              <a:rPr lang="en-US" sz="2400" dirty="0" err="1" smtClean="0">
                <a:solidFill>
                  <a:srgbClr val="FFFF00"/>
                </a:solidFill>
                <a:latin typeface="Times New Roman" panose="02020603050405020304" pitchFamily="18" charset="0"/>
                <a:cs typeface="Times New Roman" panose="02020603050405020304" pitchFamily="18" charset="0"/>
              </a:rPr>
              <a:t>Novaseq</a:t>
            </a:r>
            <a:r>
              <a:rPr lang="en-US" sz="2400" dirty="0" smtClean="0">
                <a:solidFill>
                  <a:srgbClr val="FFFF00"/>
                </a:solidFill>
                <a:latin typeface="Times New Roman" panose="02020603050405020304" pitchFamily="18" charset="0"/>
                <a:cs typeface="Times New Roman" panose="02020603050405020304" pitchFamily="18" charset="0"/>
              </a:rPr>
              <a:t>, LSVM</a:t>
            </a:r>
            <a:endParaRPr lang="en-US" sz="2400" dirty="0" smtClean="0">
              <a:solidFill>
                <a:srgbClr val="00000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399931324"/>
              </p:ext>
            </p:extLst>
          </p:nvPr>
        </p:nvGraphicFramePr>
        <p:xfrm>
          <a:off x="381000" y="1220559"/>
          <a:ext cx="3428999" cy="5378362"/>
        </p:xfrm>
        <a:graphic>
          <a:graphicData uri="http://schemas.openxmlformats.org/drawingml/2006/table">
            <a:tbl>
              <a:tblPr>
                <a:tableStyleId>{616DA210-FB5B-4158-B5E0-FEB733F419BA}</a:tableStyleId>
              </a:tblPr>
              <a:tblGrid>
                <a:gridCol w="606455">
                  <a:extLst>
                    <a:ext uri="{9D8B030D-6E8A-4147-A177-3AD203B41FA5}">
                      <a16:colId xmlns:a16="http://schemas.microsoft.com/office/drawing/2014/main" val="1684629359"/>
                    </a:ext>
                  </a:extLst>
                </a:gridCol>
                <a:gridCol w="1233471">
                  <a:extLst>
                    <a:ext uri="{9D8B030D-6E8A-4147-A177-3AD203B41FA5}">
                      <a16:colId xmlns:a16="http://schemas.microsoft.com/office/drawing/2014/main" val="3958920733"/>
                    </a:ext>
                  </a:extLst>
                </a:gridCol>
                <a:gridCol w="1589073">
                  <a:extLst>
                    <a:ext uri="{9D8B030D-6E8A-4147-A177-3AD203B41FA5}">
                      <a16:colId xmlns:a16="http://schemas.microsoft.com/office/drawing/2014/main" val="806990348"/>
                    </a:ext>
                  </a:extLst>
                </a:gridCol>
              </a:tblGrid>
              <a:tr h="270488">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Autoclave's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effectLst/>
                          <a:latin typeface="Times New Roman" panose="02020603050405020304" pitchFamily="18" charset="0"/>
                          <a:cs typeface="Times New Roman" panose="02020603050405020304" pitchFamily="18" charset="0"/>
                        </a:rPr>
                        <a:t>HeatRoot's</a:t>
                      </a:r>
                      <a:r>
                        <a:rPr lang="en-US" sz="1200" b="1" u="none" strike="noStrike" dirty="0" smtClean="0">
                          <a:effectLst/>
                          <a:latin typeface="Times New Roman" panose="02020603050405020304" pitchFamily="18" charset="0"/>
                          <a:cs typeface="Times New Roman" panose="02020603050405020304" pitchFamily="18" charset="0"/>
                        </a:rPr>
                        <a:t>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Ramlibacter</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Shinella</a:t>
                      </a:r>
                    </a:p>
                  </a:txBody>
                  <a:tcPr marL="9525" marR="9525" marT="9525" marB="0" anchor="b"/>
                </a:tc>
                <a:extLst>
                  <a:ext uri="{0D108BD9-81ED-4DB2-BD59-A6C34878D82A}">
                    <a16:rowId xmlns:a16="http://schemas.microsoft.com/office/drawing/2014/main" val="1993406850"/>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Gemmata</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a:solidFill>
                            <a:srgbClr val="000000"/>
                          </a:solidFill>
                          <a:effectLst/>
                          <a:latin typeface="Calibri" panose="020F0502020204030204" pitchFamily="34" charset="0"/>
                        </a:rPr>
                        <a:t>CL500-3</a:t>
                      </a:r>
                    </a:p>
                  </a:txBody>
                  <a:tcPr marL="9525" marR="9525" marT="9525" marB="0" anchor="b"/>
                </a:tc>
                <a:extLst>
                  <a:ext uri="{0D108BD9-81ED-4DB2-BD59-A6C34878D82A}">
                    <a16:rowId xmlns:a16="http://schemas.microsoft.com/office/drawing/2014/main" val="1874311317"/>
                  </a:ext>
                </a:extLst>
              </a:tr>
              <a:tr h="35693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Novosphingobium</a:t>
                      </a:r>
                    </a:p>
                  </a:txBody>
                  <a:tcPr marL="9525" marR="9525" marT="9525" marB="0" anchor="b"/>
                </a:tc>
                <a:extLst>
                  <a:ext uri="{0D108BD9-81ED-4DB2-BD59-A6C34878D82A}">
                    <a16:rowId xmlns:a16="http://schemas.microsoft.com/office/drawing/2014/main" val="4285260815"/>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Novosphingobium</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Hassallia</a:t>
                      </a:r>
                    </a:p>
                  </a:txBody>
                  <a:tcPr marL="9525" marR="9525" marT="9525" marB="0" anchor="b"/>
                </a:tc>
                <a:extLst>
                  <a:ext uri="{0D108BD9-81ED-4DB2-BD59-A6C34878D82A}">
                    <a16:rowId xmlns:a16="http://schemas.microsoft.com/office/drawing/2014/main" val="3953385741"/>
                  </a:ext>
                </a:extLst>
              </a:tr>
              <a:tr h="1749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TM7a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Ahniella</a:t>
                      </a:r>
                    </a:p>
                  </a:txBody>
                  <a:tcPr marL="9525" marR="9525" marT="9525" marB="0" anchor="b"/>
                </a:tc>
                <a:extLst>
                  <a:ext uri="{0D108BD9-81ED-4DB2-BD59-A6C34878D82A}">
                    <a16:rowId xmlns:a16="http://schemas.microsoft.com/office/drawing/2014/main" val="4110988134"/>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Methylobacillus</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Aquicella</a:t>
                      </a:r>
                    </a:p>
                  </a:txBody>
                  <a:tcPr marL="9525" marR="9525" marT="9525" marB="0" anchor="b"/>
                </a:tc>
                <a:extLst>
                  <a:ext uri="{0D108BD9-81ED-4DB2-BD59-A6C34878D82A}">
                    <a16:rowId xmlns:a16="http://schemas.microsoft.com/office/drawing/2014/main" val="20653327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Pseudomonas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Ferruginibacter</a:t>
                      </a:r>
                    </a:p>
                  </a:txBody>
                  <a:tcPr marL="9525" marR="9525" marT="9525" marB="0" anchor="b"/>
                </a:tc>
                <a:extLst>
                  <a:ext uri="{0D108BD9-81ED-4DB2-BD59-A6C34878D82A}">
                    <a16:rowId xmlns:a16="http://schemas.microsoft.com/office/drawing/2014/main" val="2325056747"/>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Algoriphagus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BIyi10</a:t>
                      </a:r>
                    </a:p>
                  </a:txBody>
                  <a:tcPr marL="9525" marR="9525" marT="9525" marB="0" anchor="b"/>
                </a:tc>
                <a:extLst>
                  <a:ext uri="{0D108BD9-81ED-4DB2-BD59-A6C34878D82A}">
                    <a16:rowId xmlns:a16="http://schemas.microsoft.com/office/drawing/2014/main" val="4118712325"/>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Marinoscillum</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Curvibacter</a:t>
                      </a:r>
                    </a:p>
                  </a:txBody>
                  <a:tcPr marL="9525" marR="9525" marT="9525" marB="0" anchor="b"/>
                </a:tc>
                <a:extLst>
                  <a:ext uri="{0D108BD9-81ED-4DB2-BD59-A6C34878D82A}">
                    <a16:rowId xmlns:a16="http://schemas.microsoft.com/office/drawing/2014/main" val="211848276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smtClean="0">
                          <a:solidFill>
                            <a:srgbClr val="000000"/>
                          </a:solidFill>
                          <a:effectLst/>
                          <a:latin typeface="Calibri" panose="020F0502020204030204" pitchFamily="34" charset="0"/>
                        </a:rPr>
                        <a:t>CL500-3</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Acinetobacter</a:t>
                      </a:r>
                    </a:p>
                  </a:txBody>
                  <a:tcPr marL="9525" marR="9525" marT="9525" marB="0" anchor="b"/>
                </a:tc>
                <a:extLst>
                  <a:ext uri="{0D108BD9-81ED-4DB2-BD59-A6C34878D82A}">
                    <a16:rowId xmlns:a16="http://schemas.microsoft.com/office/drawing/2014/main" val="309501235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Subgroup 10</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Chryseotalea</a:t>
                      </a:r>
                    </a:p>
                  </a:txBody>
                  <a:tcPr marL="9525" marR="9525" marT="9525" marB="0" anchor="b"/>
                </a:tc>
                <a:extLst>
                  <a:ext uri="{0D108BD9-81ED-4DB2-BD59-A6C34878D82A}">
                    <a16:rowId xmlns:a16="http://schemas.microsoft.com/office/drawing/2014/main" val="917019206"/>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Kribbella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Rhodovastum</a:t>
                      </a:r>
                    </a:p>
                  </a:txBody>
                  <a:tcPr marL="9525" marR="9525" marT="9525" marB="0" anchor="b"/>
                </a:tc>
                <a:extLst>
                  <a:ext uri="{0D108BD9-81ED-4DB2-BD59-A6C34878D82A}">
                    <a16:rowId xmlns:a16="http://schemas.microsoft.com/office/drawing/2014/main" val="3116390992"/>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Aminobacter</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Solirubrobacter</a:t>
                      </a:r>
                    </a:p>
                  </a:txBody>
                  <a:tcPr marL="9525" marR="9525" marT="9525" marB="0" anchor="b"/>
                </a:tc>
                <a:extLst>
                  <a:ext uri="{0D108BD9-81ED-4DB2-BD59-A6C34878D82A}">
                    <a16:rowId xmlns:a16="http://schemas.microsoft.com/office/drawing/2014/main" val="1594773928"/>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Mesobacillus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Anaerolinea</a:t>
                      </a:r>
                    </a:p>
                  </a:txBody>
                  <a:tcPr marL="9525" marR="9525" marT="9525" marB="0" anchor="b"/>
                </a:tc>
                <a:extLst>
                  <a:ext uri="{0D108BD9-81ED-4DB2-BD59-A6C34878D82A}">
                    <a16:rowId xmlns:a16="http://schemas.microsoft.com/office/drawing/2014/main" val="143412487"/>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Agrobacterium</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Aeromicrobium</a:t>
                      </a:r>
                    </a:p>
                  </a:txBody>
                  <a:tcPr marL="9525" marR="9525" marT="9525" marB="0" anchor="b"/>
                </a:tc>
                <a:extLst>
                  <a:ext uri="{0D108BD9-81ED-4DB2-BD59-A6C34878D82A}">
                    <a16:rowId xmlns:a16="http://schemas.microsoft.com/office/drawing/2014/main" val="1985009116"/>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Cupriavidus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Candidatus Nitrosoarchaeum</a:t>
                      </a:r>
                    </a:p>
                  </a:txBody>
                  <a:tcPr marL="9525" marR="9525" marT="9525" marB="0" anchor="b"/>
                </a:tc>
                <a:extLst>
                  <a:ext uri="{0D108BD9-81ED-4DB2-BD59-A6C34878D82A}">
                    <a16:rowId xmlns:a16="http://schemas.microsoft.com/office/drawing/2014/main" val="229922658"/>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Asticcacaulis</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Steroidobacter</a:t>
                      </a:r>
                    </a:p>
                  </a:txBody>
                  <a:tcPr marL="9525" marR="9525" marT="9525" marB="0" anchor="b"/>
                </a:tc>
                <a:extLst>
                  <a:ext uri="{0D108BD9-81ED-4DB2-BD59-A6C34878D82A}">
                    <a16:rowId xmlns:a16="http://schemas.microsoft.com/office/drawing/2014/main" val="1015200171"/>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Candidatus Protochlamydia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Algoriphagus</a:t>
                      </a:r>
                    </a:p>
                  </a:txBody>
                  <a:tcPr marL="9525" marR="9525" marT="9525" marB="0" anchor="b"/>
                </a:tc>
                <a:extLst>
                  <a:ext uri="{0D108BD9-81ED-4DB2-BD59-A6C34878D82A}">
                    <a16:rowId xmlns:a16="http://schemas.microsoft.com/office/drawing/2014/main" val="118028966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Niallia</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Noviherbaspirillum</a:t>
                      </a:r>
                    </a:p>
                  </a:txBody>
                  <a:tcPr marL="9525" marR="9525" marT="9525" marB="0" anchor="b"/>
                </a:tc>
                <a:extLst>
                  <a:ext uri="{0D108BD9-81ED-4DB2-BD59-A6C34878D82A}">
                    <a16:rowId xmlns:a16="http://schemas.microsoft.com/office/drawing/2014/main" val="4211420371"/>
                  </a:ext>
                </a:extLst>
              </a:tr>
              <a:tr h="221406">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Neobacillus</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Omnitrophus</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22321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079148433"/>
              </p:ext>
            </p:extLst>
          </p:nvPr>
        </p:nvGraphicFramePr>
        <p:xfrm>
          <a:off x="4191000" y="1219200"/>
          <a:ext cx="4495800" cy="547514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6581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a:t>
                      </a:r>
                      <a:r>
                        <a:rPr lang="en-US" sz="1200" b="1" u="none" strike="noStrike" dirty="0">
                          <a:effectLst/>
                          <a:latin typeface="Times New Roman" panose="02020603050405020304" pitchFamily="18" charset="0"/>
                          <a:cs typeface="Times New Roman" panose="02020603050405020304" pitchFamily="18" charset="0"/>
                        </a:rPr>
                        <a:t>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Subgroup 10</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Fimbriiglobus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Bauldia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993406850"/>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Fimbriiglobus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Subgroup 10</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Subgroup 10</a:t>
                      </a:r>
                    </a:p>
                  </a:txBody>
                  <a:tcPr marL="9525" marR="9525" marT="9525" marB="0" anchor="b">
                    <a:solidFill>
                      <a:srgbClr val="FFFF7D"/>
                    </a:solidFill>
                  </a:tcPr>
                </a:tc>
                <a:extLst>
                  <a:ext uri="{0D108BD9-81ED-4DB2-BD59-A6C34878D82A}">
                    <a16:rowId xmlns:a16="http://schemas.microsoft.com/office/drawing/2014/main" val="1874311317"/>
                  </a:ext>
                </a:extLst>
              </a:tr>
              <a:tr h="42992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Bauldia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Dechloromonas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Fimbriiglobus</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285260815"/>
                  </a:ext>
                </a:extLst>
              </a:tr>
              <a:tr h="33610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IS-44</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Inhella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3953385741"/>
                  </a:ext>
                </a:extLst>
              </a:tr>
              <a:tr h="21071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IS-44</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Pararhizobium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110988134"/>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Berkiella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Inhella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Dechloromonas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20653327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Ketobacter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Arenimonas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Pseudarthrobacter</a:t>
                      </a:r>
                    </a:p>
                  </a:txBody>
                  <a:tcPr marL="9525" marR="9525" marT="9525" marB="0" anchor="b">
                    <a:solidFill>
                      <a:schemeClr val="bg1"/>
                    </a:solidFill>
                  </a:tcPr>
                </a:tc>
                <a:extLst>
                  <a:ext uri="{0D108BD9-81ED-4DB2-BD59-A6C34878D82A}">
                    <a16:rowId xmlns:a16="http://schemas.microsoft.com/office/drawing/2014/main" val="232505674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Arenimonas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Pseudarthrobacter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Arenimonas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4118712325"/>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Ferribacterium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Pararhizobium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IS-44</a:t>
                      </a:r>
                    </a:p>
                  </a:txBody>
                  <a:tcPr marL="9525" marR="9525" marT="9525" marB="0" anchor="b">
                    <a:solidFill>
                      <a:srgbClr val="FFFF7D"/>
                    </a:solidFill>
                  </a:tcPr>
                </a:tc>
                <a:extLst>
                  <a:ext uri="{0D108BD9-81ED-4DB2-BD59-A6C34878D82A}">
                    <a16:rowId xmlns:a16="http://schemas.microsoft.com/office/drawing/2014/main" val="211848276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Microbacterium</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Bauldia</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Hydrogenispora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3095012359"/>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Constrictibacter</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Berkiella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Dyadobacter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917019206"/>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Pararhizobium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DSSD61</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Ferribacterium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3116390992"/>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Afipia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Ferribacterium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Berkiella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1594773928"/>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Dyadobacter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Dyadobacter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DSSD61</a:t>
                      </a:r>
                    </a:p>
                  </a:txBody>
                  <a:tcPr marL="9525" marR="9525" marT="9525" marB="0" anchor="b">
                    <a:solidFill>
                      <a:srgbClr val="FFFF7D"/>
                    </a:solidFill>
                  </a:tcPr>
                </a:tc>
                <a:extLst>
                  <a:ext uri="{0D108BD9-81ED-4DB2-BD59-A6C34878D82A}">
                    <a16:rowId xmlns:a16="http://schemas.microsoft.com/office/drawing/2014/main" val="14341248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DSSD61</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Constrictibacter</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BIyi10</a:t>
                      </a:r>
                    </a:p>
                  </a:txBody>
                  <a:tcPr marL="9525" marR="9525" marT="9525" marB="0" anchor="b">
                    <a:solidFill>
                      <a:srgbClr val="FFFF7D"/>
                    </a:solidFill>
                  </a:tcPr>
                </a:tc>
                <a:extLst>
                  <a:ext uri="{0D108BD9-81ED-4DB2-BD59-A6C34878D82A}">
                    <a16:rowId xmlns:a16="http://schemas.microsoft.com/office/drawing/2014/main" val="1985009116"/>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Dechloromonas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Hydrogenispora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Afipia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229922658"/>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Methyloceanibacter</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Afipia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Brevifollis</a:t>
                      </a:r>
                    </a:p>
                  </a:txBody>
                  <a:tcPr marL="9525" marR="9525" marT="9525" marB="0" anchor="b">
                    <a:solidFill>
                      <a:schemeClr val="bg1"/>
                    </a:solidFill>
                  </a:tcPr>
                </a:tc>
                <a:extLst>
                  <a:ext uri="{0D108BD9-81ED-4DB2-BD59-A6C34878D82A}">
                    <a16:rowId xmlns:a16="http://schemas.microsoft.com/office/drawing/2014/main" val="1015200171"/>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Hydrogenispora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Methyloceanibacter</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Plot4-2H12</a:t>
                      </a:r>
                    </a:p>
                  </a:txBody>
                  <a:tcPr marL="9525" marR="9525" marT="9525" marB="0" anchor="b">
                    <a:solidFill>
                      <a:schemeClr val="bg1"/>
                    </a:solidFill>
                  </a:tcPr>
                </a:tc>
                <a:extLst>
                  <a:ext uri="{0D108BD9-81ED-4DB2-BD59-A6C34878D82A}">
                    <a16:rowId xmlns:a16="http://schemas.microsoft.com/office/drawing/2014/main" val="1180289669"/>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Inhella</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Ketobacter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Leeia</a:t>
                      </a:r>
                    </a:p>
                  </a:txBody>
                  <a:tcPr marL="9525" marR="9525" marT="9525" marB="0" anchor="b">
                    <a:solidFill>
                      <a:schemeClr val="bg1"/>
                    </a:solidFill>
                  </a:tcPr>
                </a:tc>
                <a:extLst>
                  <a:ext uri="{0D108BD9-81ED-4DB2-BD59-A6C34878D82A}">
                    <a16:rowId xmlns:a16="http://schemas.microsoft.com/office/drawing/2014/main" val="4211420371"/>
                  </a:ext>
                </a:extLst>
              </a:tr>
              <a:tr h="266681">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Plot4-2H12</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Brevifollis</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Ketobacter</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2622232106"/>
                  </a:ext>
                </a:extLst>
              </a:tr>
            </a:tbl>
          </a:graphicData>
        </a:graphic>
      </p:graphicFrame>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17146026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r>
              <a:rPr lang="en-US" sz="2400" dirty="0">
                <a:solidFill>
                  <a:srgbClr val="000000"/>
                </a:solidFill>
                <a:latin typeface="Times New Roman" panose="02020603050405020304" pitchFamily="18" charset="0"/>
                <a:cs typeface="Times New Roman" panose="02020603050405020304" pitchFamily="18" charset="0"/>
              </a:rPr>
              <a:t>Boxplot of the </a:t>
            </a:r>
            <a:r>
              <a:rPr lang="en-US" sz="2400" dirty="0">
                <a:solidFill>
                  <a:srgbClr val="FFFF00"/>
                </a:solidFill>
                <a:latin typeface="Times New Roman" panose="02020603050405020304" pitchFamily="18" charset="0"/>
                <a:cs typeface="Times New Roman" panose="02020603050405020304" pitchFamily="18" charset="0"/>
              </a:rPr>
              <a:t>Soil</a:t>
            </a:r>
            <a:r>
              <a:rPr lang="en-US" sz="2400" dirty="0">
                <a:solidFill>
                  <a:srgbClr val="000000"/>
                </a:solidFill>
                <a:latin typeface="Times New Roman" panose="02020603050405020304" pitchFamily="18" charset="0"/>
                <a:cs typeface="Times New Roman" panose="02020603050405020304" pitchFamily="18" charset="0"/>
              </a:rPr>
              <a:t> features abundance for </a:t>
            </a:r>
            <a:r>
              <a:rPr lang="en-US" sz="2400" dirty="0" err="1" smtClean="0">
                <a:solidFill>
                  <a:srgbClr val="FFFF00"/>
                </a:solidFill>
                <a:latin typeface="Times New Roman" panose="02020603050405020304" pitchFamily="18" charset="0"/>
                <a:cs typeface="Times New Roman" panose="02020603050405020304" pitchFamily="18" charset="0"/>
              </a:rPr>
              <a:t>Novaseq</a:t>
            </a:r>
            <a:r>
              <a:rPr lang="en-US" sz="2400" dirty="0">
                <a:solidFill>
                  <a:srgbClr val="FFFF00"/>
                </a:solidFill>
                <a:latin typeface="Times New Roman" panose="02020603050405020304" pitchFamily="18" charset="0"/>
                <a:cs typeface="Times New Roman" panose="02020603050405020304" pitchFamily="18" charset="0"/>
              </a:rPr>
              <a:t>, LSVM</a:t>
            </a:r>
            <a:endParaRPr lang="en-US" sz="2400" dirty="0" smtClean="0">
              <a:solidFill>
                <a:srgbClr val="00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905000"/>
            <a:ext cx="8843850" cy="4384766"/>
          </a:xfrm>
          <a:prstGeom prst="rect">
            <a:avLst/>
          </a:prstGeom>
        </p:spPr>
      </p:pic>
    </p:spTree>
    <p:extLst>
      <p:ext uri="{BB962C8B-B14F-4D97-AF65-F5344CB8AC3E}">
        <p14:creationId xmlns:p14="http://schemas.microsoft.com/office/powerpoint/2010/main" val="36832453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438400"/>
            <a:ext cx="7561262" cy="1157287"/>
          </a:xfrm>
        </p:spPr>
        <p:txBody>
          <a:bodyPr/>
          <a:lstStyle/>
          <a:p>
            <a:pPr marL="0" indent="0" algn="ctr">
              <a:buNone/>
            </a:pPr>
            <a:r>
              <a:rPr lang="en-US" b="1" dirty="0" smtClean="0">
                <a:latin typeface="Times New Roman" panose="02020603050405020304" pitchFamily="18" charset="0"/>
                <a:cs typeface="Times New Roman" panose="02020603050405020304" pitchFamily="18" charset="0"/>
              </a:rPr>
              <a:t>Next slides are related to SHAPG results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7584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524000" y="76200"/>
            <a:ext cx="7056438" cy="723900"/>
          </a:xfrm>
        </p:spPr>
        <p:txBody>
          <a:bodyPr/>
          <a:lstStyle/>
          <a:p>
            <a:r>
              <a:rPr lang="en-US" sz="2000" dirty="0" smtClean="0">
                <a:solidFill>
                  <a:srgbClr val="FFFF00"/>
                </a:solidFill>
                <a:latin typeface="Times New Roman" panose="02020603050405020304" pitchFamily="18" charset="0"/>
                <a:cs typeface="Times New Roman" panose="02020603050405020304" pitchFamily="18" charset="0"/>
              </a:rPr>
              <a:t>Accuracy results of Random Forest per each dataset (</a:t>
            </a:r>
            <a:r>
              <a:rPr lang="en-US" sz="2000" dirty="0" smtClean="0">
                <a:solidFill>
                  <a:schemeClr val="tx2"/>
                </a:solidFill>
                <a:latin typeface="Times New Roman" panose="02020603050405020304" pitchFamily="18" charset="0"/>
                <a:cs typeface="Times New Roman" panose="02020603050405020304" pitchFamily="18" charset="0"/>
              </a:rPr>
              <a:t>Feature selection/reduction applied</a:t>
            </a:r>
            <a:r>
              <a:rPr lang="en-US" sz="2000" dirty="0" smtClean="0">
                <a:solidFill>
                  <a:srgbClr val="FFFF00"/>
                </a:solidFill>
                <a:latin typeface="Times New Roman" panose="02020603050405020304" pitchFamily="18" charset="0"/>
                <a:cs typeface="Times New Roman" panose="02020603050405020304" pitchFamily="18"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4093439490"/>
              </p:ext>
            </p:extLst>
          </p:nvPr>
        </p:nvGraphicFramePr>
        <p:xfrm>
          <a:off x="1170653" y="1790710"/>
          <a:ext cx="3108030" cy="1307611"/>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65385">
                <a:tc gridSpan="4">
                  <a:txBody>
                    <a:bodyPr/>
                    <a:lstStyle/>
                    <a:p>
                      <a:pPr marL="0" marR="0" algn="l">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ea typeface="Calibri" panose="020F0502020204030204" pitchFamily="34" charset="0"/>
                          <a:cs typeface="Arial" panose="020B0604020202020204" pitchFamily="34" charset="0"/>
                        </a:rPr>
                        <a:t>Aviti</a:t>
                      </a:r>
                      <a:endParaRPr lang="en-US"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485775">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SHAPG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28569">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u="none"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0.88</a:t>
                      </a:r>
                      <a:endParaRPr lang="en-US" sz="1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21526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0.44</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sp>
        <p:nvSpPr>
          <p:cNvPr id="4" name="TextBox 3"/>
          <p:cNvSpPr txBox="1"/>
          <p:nvPr/>
        </p:nvSpPr>
        <p:spPr>
          <a:xfrm>
            <a:off x="1905000" y="1399258"/>
            <a:ext cx="1905000"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Binary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052913" y="1385010"/>
            <a:ext cx="2408238"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Multi-class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2843884061"/>
              </p:ext>
            </p:extLst>
          </p:nvPr>
        </p:nvGraphicFramePr>
        <p:xfrm>
          <a:off x="1145458" y="3276600"/>
          <a:ext cx="310803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4">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cs typeface="Times New Roman" panose="02020603050405020304" pitchFamily="18" charset="0"/>
                        </a:rPr>
                        <a:t>Miseq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SHAPG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555522926"/>
              </p:ext>
            </p:extLst>
          </p:nvPr>
        </p:nvGraphicFramePr>
        <p:xfrm>
          <a:off x="1143000" y="4780106"/>
          <a:ext cx="310803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4">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ea typeface="+mn-ea"/>
                          <a:cs typeface="Times New Roman" panose="02020603050405020304" pitchFamily="18" charset="0"/>
                        </a:rPr>
                        <a:t>Nova</a:t>
                      </a:r>
                      <a:r>
                        <a:rPr lang="en-US" sz="1100" b="1" dirty="0" err="1" smtClean="0">
                          <a:solidFill>
                            <a:srgbClr val="C00000"/>
                          </a:solidFill>
                          <a:effectLst/>
                          <a:latin typeface="Times New Roman" panose="02020603050405020304" pitchFamily="18" charset="0"/>
                          <a:cs typeface="Times New Roman" panose="02020603050405020304" pitchFamily="18" charset="0"/>
                        </a:rPr>
                        <a:t>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smtClean="0">
                          <a:effectLst/>
                          <a:latin typeface="Times New Roman" panose="02020603050405020304" pitchFamily="18" charset="0"/>
                          <a:ea typeface="Calibri" panose="020F0502020204030204" pitchFamily="34" charset="0"/>
                          <a:cs typeface="Times New Roman" panose="02020603050405020304" pitchFamily="18" charset="0"/>
                        </a:rPr>
                        <a:t>3 SHAPG </a:t>
                      </a: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720055011"/>
              </p:ext>
            </p:extLst>
          </p:nvPr>
        </p:nvGraphicFramePr>
        <p:xfrm>
          <a:off x="4876800" y="1806819"/>
          <a:ext cx="2440089"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2118">
                <a:tc gridSpan="3">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Aviti</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594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30</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118">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0.88</a:t>
                      </a: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200252848"/>
              </p:ext>
            </p:extLst>
          </p:nvPr>
        </p:nvGraphicFramePr>
        <p:xfrm>
          <a:off x="4886325" y="4854819"/>
          <a:ext cx="2440089"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1603">
                <a:tc gridSpan="3">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C00000"/>
                          </a:solidFill>
                          <a:effectLst/>
                          <a:latin typeface="Times New Roman" panose="02020603050405020304" pitchFamily="18" charset="0"/>
                          <a:cs typeface="Times New Roman" panose="02020603050405020304" pitchFamily="18" charset="0"/>
                        </a:rPr>
                        <a:t>Novaseq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637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32</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203">
                <a:tc>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Soil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4222660968"/>
              </p:ext>
            </p:extLst>
          </p:nvPr>
        </p:nvGraphicFramePr>
        <p:xfrm>
          <a:off x="4648201" y="3330821"/>
          <a:ext cx="2678214" cy="1314896"/>
        </p:xfrm>
        <a:graphic>
          <a:graphicData uri="http://schemas.openxmlformats.org/drawingml/2006/table">
            <a:tbl>
              <a:tblPr/>
              <a:tblGrid>
                <a:gridCol w="906059">
                  <a:extLst>
                    <a:ext uri="{9D8B030D-6E8A-4147-A177-3AD203B41FA5}">
                      <a16:colId xmlns:a16="http://schemas.microsoft.com/office/drawing/2014/main" val="2094267894"/>
                    </a:ext>
                  </a:extLst>
                </a:gridCol>
                <a:gridCol w="808540">
                  <a:extLst>
                    <a:ext uri="{9D8B030D-6E8A-4147-A177-3AD203B41FA5}">
                      <a16:colId xmlns:a16="http://schemas.microsoft.com/office/drawing/2014/main" val="4023436925"/>
                    </a:ext>
                  </a:extLst>
                </a:gridCol>
                <a:gridCol w="963615">
                  <a:extLst>
                    <a:ext uri="{9D8B030D-6E8A-4147-A177-3AD203B41FA5}">
                      <a16:colId xmlns:a16="http://schemas.microsoft.com/office/drawing/2014/main" val="82725009"/>
                    </a:ext>
                  </a:extLst>
                </a:gridCol>
              </a:tblGrid>
              <a:tr h="57210">
                <a:tc gridSpan="3">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Miseq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450604">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36</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r>
                        <a:rPr lang="en-US" sz="12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2 (not 3)</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57210">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a:effectLst/>
                          <a:latin typeface="Calibri" panose="020F0502020204030204" pitchFamily="34" charset="0"/>
                          <a:ea typeface="Calibri" panose="020F0502020204030204" pitchFamily="34" charset="0"/>
                          <a:cs typeface="Arial" panose="020B0604020202020204" pitchFamily="34" charset="0"/>
                        </a:rPr>
                        <a:t>1.0</a:t>
                      </a: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0.55</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sp>
        <p:nvSpPr>
          <p:cNvPr id="5" name="Oval Callout 4"/>
          <p:cNvSpPr/>
          <p:nvPr/>
        </p:nvSpPr>
        <p:spPr>
          <a:xfrm>
            <a:off x="7393407" y="3276600"/>
            <a:ext cx="1639306" cy="1044819"/>
          </a:xfrm>
          <a:prstGeom prst="wedgeEllipseCallou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accent4"/>
                </a:solidFill>
              </a:rPr>
              <a:t>There were only 2 common features. See slide </a:t>
            </a:r>
            <a:r>
              <a:rPr lang="en-US" sz="1100" dirty="0" smtClean="0">
                <a:solidFill>
                  <a:schemeClr val="accent4"/>
                </a:solidFill>
              </a:rPr>
              <a:t>25</a:t>
            </a:r>
            <a:endParaRPr lang="en-US" sz="1100" dirty="0">
              <a:solidFill>
                <a:schemeClr val="accent4"/>
              </a:solidFill>
            </a:endParaRPr>
          </a:p>
          <a:p>
            <a:pPr algn="ctr"/>
            <a:endParaRPr lang="en-US" sz="1100" dirty="0"/>
          </a:p>
        </p:txBody>
      </p:sp>
    </p:spTree>
    <p:extLst>
      <p:ext uri="{BB962C8B-B14F-4D97-AF65-F5344CB8AC3E}">
        <p14:creationId xmlns:p14="http://schemas.microsoft.com/office/powerpoint/2010/main" val="7343795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219200" y="76200"/>
            <a:ext cx="7848600" cy="723900"/>
          </a:xfrm>
        </p:spPr>
        <p:txBody>
          <a:bodyPr/>
          <a:lstStyle/>
          <a:p>
            <a:pPr algn="ctr"/>
            <a:r>
              <a:rPr lang="en-US" sz="2000" dirty="0" smtClean="0">
                <a:solidFill>
                  <a:srgbClr val="FFFF00"/>
                </a:solidFill>
                <a:latin typeface="Times New Roman" panose="02020603050405020304" pitchFamily="18" charset="0"/>
                <a:cs typeface="Times New Roman" panose="02020603050405020304" pitchFamily="18" charset="0"/>
              </a:rPr>
              <a:t>Accuracy results of LSVM per each dataset (</a:t>
            </a:r>
            <a:r>
              <a:rPr lang="en-US" sz="2000" dirty="0" smtClean="0">
                <a:solidFill>
                  <a:schemeClr val="tx2"/>
                </a:solidFill>
                <a:latin typeface="Times New Roman" panose="02020603050405020304" pitchFamily="18" charset="0"/>
                <a:cs typeface="Times New Roman" panose="02020603050405020304" pitchFamily="18" charset="0"/>
              </a:rPr>
              <a:t>Feature selection/reduction applied</a:t>
            </a:r>
            <a:r>
              <a:rPr lang="en-US" sz="2000" dirty="0" smtClean="0">
                <a:solidFill>
                  <a:srgbClr val="FFFF00"/>
                </a:solidFill>
                <a:latin typeface="Times New Roman" panose="02020603050405020304" pitchFamily="18" charset="0"/>
                <a:cs typeface="Times New Roman" panose="02020603050405020304" pitchFamily="18" charset="0"/>
              </a:rPr>
              <a:t>)</a:t>
            </a:r>
          </a:p>
        </p:txBody>
      </p:sp>
      <p:graphicFrame>
        <p:nvGraphicFramePr>
          <p:cNvPr id="3" name="Table 2"/>
          <p:cNvGraphicFramePr>
            <a:graphicFrameLocks noGrp="1"/>
          </p:cNvGraphicFramePr>
          <p:nvPr>
            <p:extLst>
              <p:ext uri="{D42A27DB-BD31-4B8C-83A1-F6EECF244321}">
                <p14:modId xmlns:p14="http://schemas.microsoft.com/office/powerpoint/2010/main" val="4246626186"/>
              </p:ext>
            </p:extLst>
          </p:nvPr>
        </p:nvGraphicFramePr>
        <p:xfrm>
          <a:off x="1463970" y="1790710"/>
          <a:ext cx="3108030" cy="1307611"/>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65385">
                <a:tc gridSpan="4">
                  <a:txBody>
                    <a:bodyPr/>
                    <a:lstStyle/>
                    <a:p>
                      <a:pPr marL="0" marR="0" algn="l">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a:solidFill>
                            <a:srgbClr val="C00000"/>
                          </a:solidFill>
                          <a:effectLst/>
                          <a:latin typeface="Times New Roman" panose="02020603050405020304" pitchFamily="18" charset="0"/>
                          <a:ea typeface="Calibri" panose="020F0502020204030204" pitchFamily="34" charset="0"/>
                          <a:cs typeface="Arial" panose="020B0604020202020204" pitchFamily="34" charset="0"/>
                        </a:rPr>
                        <a:t>Aviti</a:t>
                      </a:r>
                      <a:endParaRPr lang="en-US" sz="1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485775">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SHAPG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28569">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u="none"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0.77</a:t>
                      </a:r>
                      <a:endParaRPr lang="en-US" sz="1100" u="none"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77</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21526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kern="1200" dirty="0" smtClean="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kern="1200"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sp>
        <p:nvSpPr>
          <p:cNvPr id="4" name="TextBox 3"/>
          <p:cNvSpPr txBox="1"/>
          <p:nvPr/>
        </p:nvSpPr>
        <p:spPr>
          <a:xfrm>
            <a:off x="2209800" y="1393793"/>
            <a:ext cx="1905000"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Binary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486400" y="1386329"/>
            <a:ext cx="2408238" cy="307777"/>
          </a:xfrm>
          <a:prstGeom prst="rect">
            <a:avLst/>
          </a:prstGeom>
          <a:noFill/>
        </p:spPr>
        <p:txBody>
          <a:bodyPr wrap="square" rtlCol="0">
            <a:spAutoFit/>
          </a:bodyPr>
          <a:lstStyle/>
          <a:p>
            <a:r>
              <a:rPr lang="en-US" sz="1400" dirty="0" smtClean="0">
                <a:solidFill>
                  <a:srgbClr val="FF0000"/>
                </a:solidFill>
                <a:latin typeface="Times New Roman" panose="02020603050405020304" pitchFamily="18" charset="0"/>
                <a:cs typeface="Times New Roman" panose="02020603050405020304" pitchFamily="18" charset="0"/>
              </a:rPr>
              <a:t>Multi-class Classification</a:t>
            </a:r>
            <a:endParaRPr lang="en-US" sz="1400" dirty="0">
              <a:solidFill>
                <a:srgbClr val="FF0000"/>
              </a:solidFill>
              <a:latin typeface="Times New Roman" panose="02020603050405020304" pitchFamily="18" charset="0"/>
              <a:cs typeface="Times New Roman" panose="02020603050405020304" pitchFamily="18"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3444129320"/>
              </p:ext>
            </p:extLst>
          </p:nvPr>
        </p:nvGraphicFramePr>
        <p:xfrm>
          <a:off x="1438775" y="3276600"/>
          <a:ext cx="310803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4">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 </a:t>
                      </a:r>
                      <a:r>
                        <a:rPr lang="en-US" sz="1100" b="1" dirty="0" err="1" smtClean="0">
                          <a:solidFill>
                            <a:srgbClr val="C00000"/>
                          </a:solidFill>
                          <a:effectLst/>
                          <a:latin typeface="Times New Roman" panose="02020603050405020304" pitchFamily="18" charset="0"/>
                          <a:cs typeface="Times New Roman" panose="02020603050405020304" pitchFamily="18" charset="0"/>
                        </a:rPr>
                        <a:t>Miseq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SHAPG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0.77</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0.44</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0.66</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0.33</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471568982"/>
              </p:ext>
            </p:extLst>
          </p:nvPr>
        </p:nvGraphicFramePr>
        <p:xfrm>
          <a:off x="1436317" y="4780106"/>
          <a:ext cx="3108030" cy="1272663"/>
        </p:xfrm>
        <a:graphic>
          <a:graphicData uri="http://schemas.openxmlformats.org/drawingml/2006/table">
            <a:tbl>
              <a:tblPr/>
              <a:tblGrid>
                <a:gridCol w="767218">
                  <a:extLst>
                    <a:ext uri="{9D8B030D-6E8A-4147-A177-3AD203B41FA5}">
                      <a16:colId xmlns:a16="http://schemas.microsoft.com/office/drawing/2014/main" val="3324254240"/>
                    </a:ext>
                  </a:extLst>
                </a:gridCol>
                <a:gridCol w="757321">
                  <a:extLst>
                    <a:ext uri="{9D8B030D-6E8A-4147-A177-3AD203B41FA5}">
                      <a16:colId xmlns:a16="http://schemas.microsoft.com/office/drawing/2014/main" val="422101390"/>
                    </a:ext>
                  </a:extLst>
                </a:gridCol>
                <a:gridCol w="688474">
                  <a:extLst>
                    <a:ext uri="{9D8B030D-6E8A-4147-A177-3AD203B41FA5}">
                      <a16:colId xmlns:a16="http://schemas.microsoft.com/office/drawing/2014/main" val="4053123525"/>
                    </a:ext>
                  </a:extLst>
                </a:gridCol>
                <a:gridCol w="895017">
                  <a:extLst>
                    <a:ext uri="{9D8B030D-6E8A-4147-A177-3AD203B41FA5}">
                      <a16:colId xmlns:a16="http://schemas.microsoft.com/office/drawing/2014/main" val="149202433"/>
                    </a:ext>
                  </a:extLst>
                </a:gridCol>
              </a:tblGrid>
              <a:tr h="245544">
                <a:tc gridSpan="4">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Arial" panose="020B0604020202020204" pitchFamily="34" charset="0"/>
                        </a:rPr>
                        <a:t>Accuracy for</a:t>
                      </a:r>
                      <a:r>
                        <a:rPr lang="en-US" sz="1100" b="1" baseline="0" dirty="0" smtClean="0">
                          <a:effectLst/>
                          <a:latin typeface="Times New Roman" panose="02020603050405020304" pitchFamily="18" charset="0"/>
                          <a:ea typeface="Calibri" panose="020F0502020204030204" pitchFamily="34" charset="0"/>
                          <a:cs typeface="Arial" panose="020B0604020202020204" pitchFamily="34" charset="0"/>
                        </a:rPr>
                        <a:t> </a:t>
                      </a:r>
                      <a:r>
                        <a:rPr lang="en-US" sz="1100" b="1" dirty="0" err="1" smtClean="0">
                          <a:solidFill>
                            <a:srgbClr val="C00000"/>
                          </a:solidFill>
                          <a:effectLst/>
                          <a:latin typeface="Times New Roman" panose="02020603050405020304" pitchFamily="18" charset="0"/>
                          <a:ea typeface="+mn-ea"/>
                          <a:cs typeface="Times New Roman" panose="02020603050405020304" pitchFamily="18" charset="0"/>
                        </a:rPr>
                        <a:t>Nova</a:t>
                      </a:r>
                      <a:r>
                        <a:rPr lang="en-US" sz="1100" b="1" dirty="0" err="1" smtClean="0">
                          <a:solidFill>
                            <a:srgbClr val="C00000"/>
                          </a:solidFill>
                          <a:effectLst/>
                          <a:latin typeface="Times New Roman" panose="02020603050405020304" pitchFamily="18" charset="0"/>
                          <a:cs typeface="Times New Roman" panose="02020603050405020304" pitchFamily="18" charset="0"/>
                        </a:rPr>
                        <a:t>seq</a:t>
                      </a:r>
                      <a:endParaRPr lang="en-US" sz="1100" b="1" dirty="0" smtClean="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128919701"/>
                  </a:ext>
                </a:extLst>
              </a:tr>
              <a:tr h="591933">
                <a:tc>
                  <a:txBody>
                    <a:bodyPr/>
                    <a:lstStyle/>
                    <a:p>
                      <a:pPr marL="0" marR="0" algn="l">
                        <a:lnSpc>
                          <a:spcPct val="107000"/>
                        </a:lnSpc>
                        <a:spcBef>
                          <a:spcPts val="0"/>
                        </a:spcBef>
                        <a:spcAft>
                          <a:spcPts val="800"/>
                        </a:spcAft>
                      </a:pPr>
                      <a:r>
                        <a:rPr lang="en-US" sz="1100" b="1" dirty="0">
                          <a:effectLst/>
                          <a:latin typeface="Times New Roman" panose="02020603050405020304" pitchFamily="18" charset="0"/>
                          <a:ea typeface="Calibri" panose="020F0502020204030204" pitchFamily="34" charset="0"/>
                          <a:cs typeface="Times New Roman" panose="02020603050405020304" pitchFamily="18" charset="0"/>
                        </a:rPr>
                        <a:t>Condition</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20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7000"/>
                        </a:lnSpc>
                        <a:spcBef>
                          <a:spcPts val="0"/>
                        </a:spcBef>
                        <a:spcAft>
                          <a:spcPts val="800"/>
                        </a:spcAft>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10 SHAPG features</a:t>
                      </a: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b="1" dirty="0" smtClean="0">
                          <a:effectLst/>
                          <a:latin typeface="Times New Roman" panose="02020603050405020304" pitchFamily="18" charset="0"/>
                          <a:ea typeface="Calibri" panose="020F0502020204030204" pitchFamily="34" charset="0"/>
                          <a:cs typeface="Times New Roman" panose="02020603050405020304" pitchFamily="18" charset="0"/>
                        </a:rPr>
                        <a:t>3 SHAPG features</a:t>
                      </a:r>
                      <a:endParaRPr lang="en-US" sz="1100" dirty="0" smtClean="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endParaRPr lang="en-US" sz="1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25290798"/>
                  </a:ext>
                </a:extLst>
              </a:tr>
              <a:tr h="188185">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Autoclave</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0.88</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fa-IR"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88</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14418414"/>
                  </a:ext>
                </a:extLst>
              </a:tr>
              <a:tr h="199171">
                <a:tc>
                  <a:txBody>
                    <a:bodyPr/>
                    <a:lstStyle/>
                    <a:p>
                      <a:pPr marL="0" marR="0" algn="l">
                        <a:lnSpc>
                          <a:spcPct val="106000"/>
                        </a:lnSpc>
                        <a:spcBef>
                          <a:spcPts val="0"/>
                        </a:spcBef>
                        <a:spcAft>
                          <a:spcPts val="80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Heat root</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algn="ctr">
                        <a:lnSpc>
                          <a:spcPct val="106000"/>
                        </a:lnSpc>
                        <a:spcBef>
                          <a:spcPts val="0"/>
                        </a:spcBef>
                        <a:spcAft>
                          <a:spcPts val="800"/>
                        </a:spcAft>
                      </a:pPr>
                      <a:r>
                        <a:rPr lang="en-US" sz="1100" strike="noStrike"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0.55</a:t>
                      </a:r>
                      <a:endParaRPr lang="en-US" sz="1100" strike="noStrik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7121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55828458"/>
              </p:ext>
            </p:extLst>
          </p:nvPr>
        </p:nvGraphicFramePr>
        <p:xfrm>
          <a:off x="5234087" y="1806819"/>
          <a:ext cx="2440089"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2118">
                <a:tc gridSpan="3">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a:solidFill>
                            <a:srgbClr val="FF0000"/>
                          </a:solidFill>
                          <a:effectLst/>
                          <a:latin typeface="Calibri" panose="020F0502020204030204" pitchFamily="34" charset="0"/>
                          <a:ea typeface="Calibri" panose="020F0502020204030204" pitchFamily="34" charset="0"/>
                          <a:cs typeface="Arial" panose="020B0604020202020204" pitchFamily="34" charset="0"/>
                        </a:rPr>
                        <a:t>Aviti</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71268">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strike="noStrike"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30</a:t>
                      </a:r>
                      <a:r>
                        <a:rPr lang="en-US" sz="1100" b="1" strike="noStrike"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118">
                <a:tc>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Soil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0.88</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36038852"/>
              </p:ext>
            </p:extLst>
          </p:nvPr>
        </p:nvGraphicFramePr>
        <p:xfrm>
          <a:off x="5243612" y="4854819"/>
          <a:ext cx="2440089"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121603">
                <a:tc gridSpan="3">
                  <a:txBody>
                    <a:bodyPr/>
                    <a:lstStyle/>
                    <a:p>
                      <a:pPr marL="0" marR="0">
                        <a:lnSpc>
                          <a:spcPct val="107000"/>
                        </a:lnSpc>
                        <a:spcBef>
                          <a:spcPts val="0"/>
                        </a:spcBef>
                        <a:spcAft>
                          <a:spcPts val="800"/>
                        </a:spcAft>
                      </a:pPr>
                      <a:r>
                        <a:rPr lang="en-US" sz="1100" b="1" dirty="0" smtClean="0">
                          <a:effectLst/>
                          <a:latin typeface="Calibri" panose="020F0502020204030204" pitchFamily="34" charset="0"/>
                          <a:ea typeface="Calibri" panose="020F0502020204030204" pitchFamily="34" charset="0"/>
                          <a:cs typeface="Arial" panose="020B0604020202020204" pitchFamily="34" charset="0"/>
                        </a:rPr>
                        <a:t>Accuracy for </a:t>
                      </a:r>
                      <a:r>
                        <a:rPr lang="en-US" sz="1100" b="1" dirty="0" err="1" smtClean="0">
                          <a:solidFill>
                            <a:srgbClr val="FF0000"/>
                          </a:solidFill>
                          <a:effectLst/>
                          <a:latin typeface="Times New Roman" panose="02020603050405020304" pitchFamily="18" charset="0"/>
                          <a:cs typeface="Times New Roman" panose="02020603050405020304" pitchFamily="18" charset="0"/>
                        </a:rPr>
                        <a:t>Novaseq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616375">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32</a:t>
                      </a:r>
                      <a:r>
                        <a:rPr lang="en-US" sz="1100" b="1" baseline="0" dirty="0" smtClean="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SHAPG 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122203">
                <a:tc>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Soil</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167851386"/>
              </p:ext>
            </p:extLst>
          </p:nvPr>
        </p:nvGraphicFramePr>
        <p:xfrm>
          <a:off x="5243612" y="3330821"/>
          <a:ext cx="2440089" cy="1298576"/>
        </p:xfrm>
        <a:graphic>
          <a:graphicData uri="http://schemas.openxmlformats.org/drawingml/2006/table">
            <a:tbl>
              <a:tblPr/>
              <a:tblGrid>
                <a:gridCol w="825500">
                  <a:extLst>
                    <a:ext uri="{9D8B030D-6E8A-4147-A177-3AD203B41FA5}">
                      <a16:colId xmlns:a16="http://schemas.microsoft.com/office/drawing/2014/main" val="2094267894"/>
                    </a:ext>
                  </a:extLst>
                </a:gridCol>
                <a:gridCol w="736651">
                  <a:extLst>
                    <a:ext uri="{9D8B030D-6E8A-4147-A177-3AD203B41FA5}">
                      <a16:colId xmlns:a16="http://schemas.microsoft.com/office/drawing/2014/main" val="4023436925"/>
                    </a:ext>
                  </a:extLst>
                </a:gridCol>
                <a:gridCol w="877938">
                  <a:extLst>
                    <a:ext uri="{9D8B030D-6E8A-4147-A177-3AD203B41FA5}">
                      <a16:colId xmlns:a16="http://schemas.microsoft.com/office/drawing/2014/main" val="82725009"/>
                    </a:ext>
                  </a:extLst>
                </a:gridCol>
              </a:tblGrid>
              <a:tr h="57210">
                <a:tc gridSpan="3">
                  <a:txBody>
                    <a:bodyPr/>
                    <a:lstStyle/>
                    <a:p>
                      <a:pPr marL="0" marR="0">
                        <a:lnSpc>
                          <a:spcPct val="107000"/>
                        </a:lnSpc>
                        <a:spcBef>
                          <a:spcPts val="0"/>
                        </a:spcBef>
                        <a:spcAft>
                          <a:spcPts val="800"/>
                        </a:spcAft>
                      </a:pPr>
                      <a:r>
                        <a:rPr lang="en-US" sz="1100" b="1" dirty="0">
                          <a:effectLst/>
                          <a:latin typeface="Calibri" panose="020F0502020204030204" pitchFamily="34" charset="0"/>
                          <a:ea typeface="Calibri" panose="020F0502020204030204" pitchFamily="34" charset="0"/>
                          <a:cs typeface="Arial" panose="020B0604020202020204" pitchFamily="34" charset="0"/>
                        </a:rPr>
                        <a:t>Accuracy </a:t>
                      </a:r>
                      <a:r>
                        <a:rPr lang="en-US" sz="1100" b="1" dirty="0" smtClean="0">
                          <a:effectLst/>
                          <a:latin typeface="Calibri" panose="020F0502020204030204" pitchFamily="34" charset="0"/>
                          <a:ea typeface="Calibri" panose="020F0502020204030204" pitchFamily="34" charset="0"/>
                          <a:cs typeface="Arial" panose="020B0604020202020204" pitchFamily="34" charset="0"/>
                        </a:rPr>
                        <a:t>for </a:t>
                      </a:r>
                      <a:r>
                        <a:rPr lang="en-US" sz="1100" b="1" dirty="0" err="1"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Miseq</a:t>
                      </a:r>
                      <a:endParaRPr lang="en-US" sz="1100"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27018398"/>
                  </a:ext>
                </a:extLst>
              </a:tr>
              <a:tr h="450604">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Condition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37</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US" sz="1100" dirty="0">
                          <a:effectLst/>
                          <a:latin typeface="Calibri" panose="020F0502020204030204" pitchFamily="34" charset="0"/>
                          <a:ea typeface="Calibri" panose="020F0502020204030204" pitchFamily="34" charset="0"/>
                          <a:cs typeface="Arial" panose="020B0604020202020204" pitchFamily="34" charset="0"/>
                        </a:rPr>
                        <a:t> </a:t>
                      </a:r>
                      <a:r>
                        <a:rPr lang="en-US" sz="1100" b="1" dirty="0" smtClean="0">
                          <a:solidFill>
                            <a:srgbClr val="FF0000"/>
                          </a:solidFill>
                          <a:effectLst/>
                          <a:latin typeface="Calibri" panose="020F0502020204030204" pitchFamily="34" charset="0"/>
                          <a:ea typeface="Calibri" panose="020F0502020204030204" pitchFamily="34" charset="0"/>
                          <a:cs typeface="Arial" panose="020B0604020202020204" pitchFamily="34" charset="0"/>
                        </a:rPr>
                        <a:t>3</a:t>
                      </a:r>
                      <a:r>
                        <a:rPr lang="en-US" sz="1100" b="1" dirty="0" smtClean="0">
                          <a:effectLst/>
                          <a:latin typeface="Calibri" panose="020F0502020204030204" pitchFamily="34" charset="0"/>
                          <a:ea typeface="Calibri" panose="020F0502020204030204" pitchFamily="34" charset="0"/>
                          <a:cs typeface="Arial" panose="020B0604020202020204" pitchFamily="34" charset="0"/>
                        </a:rPr>
                        <a:t> SHAPG features</a:t>
                      </a:r>
                      <a:endParaRPr lang="en-US" sz="1100" dirty="0" smtClean="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endParaRPr lang="en-US" sz="1100" dirty="0">
                        <a:effectLst/>
                        <a:latin typeface="Calibri" panose="020F050202020403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1142913"/>
                  </a:ext>
                </a:extLst>
              </a:tr>
              <a:tr h="57210">
                <a:tc>
                  <a:txBody>
                    <a:bodyPr/>
                    <a:lstStyle/>
                    <a:p>
                      <a:pPr marL="0" marR="0">
                        <a:lnSpc>
                          <a:spcPct val="107000"/>
                        </a:lnSpc>
                        <a:spcBef>
                          <a:spcPts val="0"/>
                        </a:spcBef>
                        <a:spcAft>
                          <a:spcPts val="800"/>
                        </a:spcAft>
                      </a:pPr>
                      <a:r>
                        <a:rPr lang="en-US" sz="1100" b="1">
                          <a:effectLst/>
                          <a:latin typeface="Calibri" panose="020F0502020204030204" pitchFamily="34" charset="0"/>
                          <a:ea typeface="Calibri" panose="020F0502020204030204" pitchFamily="34" charset="0"/>
                          <a:cs typeface="Arial" panose="020B0604020202020204" pitchFamily="34" charset="0"/>
                        </a:rPr>
                        <a:t>Soil</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1.0</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1100" strike="noStrike" dirty="0" smtClean="0">
                          <a:effectLst/>
                          <a:latin typeface="Calibri" panose="020F0502020204030204" pitchFamily="34" charset="0"/>
                          <a:ea typeface="Calibri" panose="020F0502020204030204" pitchFamily="34" charset="0"/>
                          <a:cs typeface="Arial" panose="020B0604020202020204" pitchFamily="34" charset="0"/>
                        </a:rPr>
                        <a:t>0.88</a:t>
                      </a:r>
                      <a:endParaRPr lang="en-US" sz="1100" strike="noStrike"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758189"/>
                  </a:ext>
                </a:extLst>
              </a:tr>
            </a:tbl>
          </a:graphicData>
        </a:graphic>
      </p:graphicFrame>
    </p:spTree>
    <p:extLst>
      <p:ext uri="{BB962C8B-B14F-4D97-AF65-F5344CB8AC3E}">
        <p14:creationId xmlns:p14="http://schemas.microsoft.com/office/powerpoint/2010/main" val="223655549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smtClean="0">
                <a:solidFill>
                  <a:srgbClr val="000000"/>
                </a:solidFill>
                <a:latin typeface="Times New Roman" panose="02020603050405020304" pitchFamily="18" charset="0"/>
                <a:cs typeface="Times New Roman" panose="02020603050405020304" pitchFamily="18" charset="0"/>
              </a:rPr>
              <a:t>List of </a:t>
            </a:r>
            <a:r>
              <a:rPr lang="en-US" sz="2000" dirty="0" smtClean="0">
                <a:solidFill>
                  <a:srgbClr val="FFFF00"/>
                </a:solidFill>
                <a:latin typeface="Times New Roman" panose="02020603050405020304" pitchFamily="18" charset="0"/>
                <a:cs typeface="Times New Roman" panose="02020603050405020304" pitchFamily="18" charset="0"/>
              </a:rPr>
              <a:t>Top 20 </a:t>
            </a:r>
            <a:r>
              <a:rPr lang="en-US" sz="2000" dirty="0" smtClean="0">
                <a:solidFill>
                  <a:srgbClr val="000000"/>
                </a:solidFill>
                <a:latin typeface="Times New Roman" panose="02020603050405020304" pitchFamily="18" charset="0"/>
                <a:cs typeface="Times New Roman" panose="02020603050405020304" pitchFamily="18" charset="0"/>
              </a:rPr>
              <a:t>SHAP</a:t>
            </a:r>
            <a:r>
              <a:rPr lang="en-US" sz="2000" dirty="0" smtClean="0">
                <a:solidFill>
                  <a:srgbClr val="FFFF00"/>
                </a:solidFill>
                <a:latin typeface="Times New Roman" panose="02020603050405020304" pitchFamily="18" charset="0"/>
                <a:cs typeface="Times New Roman" panose="02020603050405020304" pitchFamily="18" charset="0"/>
              </a:rPr>
              <a:t>G</a:t>
            </a:r>
            <a:r>
              <a:rPr lang="en-US" sz="2000" dirty="0" smtClean="0">
                <a:solidFill>
                  <a:srgbClr val="000000"/>
                </a:solidFill>
                <a:latin typeface="Times New Roman" panose="02020603050405020304" pitchFamily="18" charset="0"/>
                <a:cs typeface="Times New Roman" panose="02020603050405020304" pitchFamily="18" charset="0"/>
              </a:rPr>
              <a:t> Features for </a:t>
            </a:r>
            <a:r>
              <a:rPr lang="en-US" sz="2000" dirty="0" err="1" smtClean="0">
                <a:solidFill>
                  <a:srgbClr val="FFFF00"/>
                </a:solidFill>
                <a:latin typeface="Times New Roman" panose="02020603050405020304" pitchFamily="18" charset="0"/>
                <a:cs typeface="Times New Roman" panose="02020603050405020304" pitchFamily="18" charset="0"/>
              </a:rPr>
              <a:t>Aviti</a:t>
            </a:r>
            <a:r>
              <a:rPr lang="en-US" sz="2000" dirty="0" smtClean="0">
                <a:solidFill>
                  <a:srgbClr val="FFFF00"/>
                </a:solidFill>
                <a:latin typeface="Times New Roman" panose="02020603050405020304" pitchFamily="18" charset="0"/>
                <a:cs typeface="Times New Roman" panose="02020603050405020304" pitchFamily="18" charset="0"/>
              </a:rPr>
              <a:t>, Random Forest</a:t>
            </a:r>
          </a:p>
        </p:txBody>
      </p:sp>
      <p:graphicFrame>
        <p:nvGraphicFramePr>
          <p:cNvPr id="5" name="Table 4"/>
          <p:cNvGraphicFramePr>
            <a:graphicFrameLocks noGrp="1"/>
          </p:cNvGraphicFramePr>
          <p:nvPr>
            <p:extLst>
              <p:ext uri="{D42A27DB-BD31-4B8C-83A1-F6EECF244321}">
                <p14:modId xmlns:p14="http://schemas.microsoft.com/office/powerpoint/2010/main" val="1623338082"/>
              </p:ext>
            </p:extLst>
          </p:nvPr>
        </p:nvGraphicFramePr>
        <p:xfrm>
          <a:off x="4191000" y="1193800"/>
          <a:ext cx="4495800" cy="492868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BIyi10  </a:t>
                      </a:r>
                    </a:p>
                  </a:txBody>
                  <a:tcPr marL="9525" marR="9525" marT="9525" marB="0" anchor="b">
                    <a:noFill/>
                  </a:tcPr>
                </a:tc>
                <a:tc>
                  <a:txBody>
                    <a:bodyPr/>
                    <a:lstStyle/>
                    <a:p>
                      <a:pPr algn="ctr" fontAlgn="b"/>
                      <a:r>
                        <a:rPr lang="en-US" sz="1100" b="1" i="0" u="none" strike="noStrike" dirty="0" err="1">
                          <a:solidFill>
                            <a:srgbClr val="000000"/>
                          </a:solidFill>
                          <a:effectLst/>
                          <a:latin typeface="Calibri" panose="020F0502020204030204" pitchFamily="34" charset="0"/>
                        </a:rPr>
                        <a:t>Pusillibacter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oc32  </a:t>
                      </a:r>
                    </a:p>
                  </a:txBody>
                  <a:tcPr marL="9525" marR="9525" marT="9525" marB="0" anchor="b">
                    <a:solidFill>
                      <a:srgbClr val="FFFF7D"/>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Pusillibacter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Sneathiella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Zavarzinella  </a:t>
                      </a:r>
                    </a:p>
                  </a:txBody>
                  <a:tcPr marL="9525" marR="9525" marT="9525" marB="0" anchor="b">
                    <a:no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C1-B045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Sneathiella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Methylobacter  </a:t>
                      </a:r>
                    </a:p>
                  </a:txBody>
                  <a:tcPr marL="9525" marR="9525" marT="9525" marB="0" anchor="b"/>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Planctopirus  </a:t>
                      </a:r>
                    </a:p>
                  </a:txBody>
                  <a:tcPr marL="9525" marR="9525" marT="9525" marB="0" anchor="b">
                    <a:no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YC-ZSS-LKJ147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Polycyclovorans</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Sphingorhabdus  </a:t>
                      </a:r>
                    </a:p>
                  </a:txBody>
                  <a:tcPr marL="9525" marR="9525" marT="9525" marB="0" anchor="b"/>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Parafilimonas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BIyi10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Labrys  </a:t>
                      </a:r>
                    </a:p>
                  </a:txBody>
                  <a:tcPr marL="9525" marR="9525" marT="9525" marB="0" anchor="b"/>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Fimbriiglobus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Methylobacter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Niveispirillum  </a:t>
                      </a:r>
                    </a:p>
                  </a:txBody>
                  <a:tcPr marL="9525" marR="9525" marT="9525" marB="0" anchor="b">
                    <a:no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Planifilum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Planifilum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Fermentimonas  </a:t>
                      </a:r>
                    </a:p>
                  </a:txBody>
                  <a:tcPr marL="9525" marR="9525" marT="9525" marB="0" anchor="b"/>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Roseimaritima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C1-B045  </a:t>
                      </a:r>
                    </a:p>
                  </a:txBody>
                  <a:tcPr marL="9525" marR="9525" marT="9525" marB="0" anchor="b"/>
                </a:tc>
                <a:tc>
                  <a:txBody>
                    <a:bodyPr/>
                    <a:lstStyle/>
                    <a:p>
                      <a:pPr algn="ctr" fontAlgn="b"/>
                      <a:r>
                        <a:rPr lang="en-US" sz="1100" b="0" i="0" u="none" strike="noStrike" dirty="0">
                          <a:solidFill>
                            <a:srgbClr val="000000"/>
                          </a:solidFill>
                          <a:effectLst/>
                          <a:latin typeface="Calibri" panose="020F0502020204030204" pitchFamily="34" charset="0"/>
                        </a:rPr>
                        <a:t>Agrobacterium  </a:t>
                      </a:r>
                    </a:p>
                  </a:txBody>
                  <a:tcPr marL="9525" marR="9525" marT="9525" marB="0" anchor="b">
                    <a:solidFill>
                      <a:srgbClr val="FFFF7D"/>
                    </a:solidFill>
                  </a:tcPr>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Zavarzinella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Zhengella  </a:t>
                      </a:r>
                    </a:p>
                  </a:txBody>
                  <a:tcPr marL="9525" marR="9525" marT="9525" marB="0" anchor="b">
                    <a:no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oc32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Candidatus Solibacter  </a:t>
                      </a:r>
                    </a:p>
                  </a:txBody>
                  <a:tcPr marL="9525" marR="9525" marT="9525" marB="0" anchor="b">
                    <a:no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Gemmata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Sphingorhabdus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Croceibacterium  </a:t>
                      </a:r>
                    </a:p>
                  </a:txBody>
                  <a:tcPr marL="9525" marR="9525" marT="9525" marB="0" anchor="b"/>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Ideonella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Roseimaritima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Ureibacillus  </a:t>
                      </a:r>
                    </a:p>
                  </a:txBody>
                  <a:tcPr marL="9525" marR="9525" marT="9525" marB="0" anchor="b"/>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Azotobacter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Planifilum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Croceibacterium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Fimbriiglobus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Spirochaeta 2  </a:t>
                      </a:r>
                    </a:p>
                  </a:txBody>
                  <a:tcPr marL="9525" marR="9525" marT="9525" marB="0" anchor="b">
                    <a:no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Agrobacterium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oc32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Pusillibacter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Agrobacterium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Acidovorax</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Spirochaeta</a:t>
                      </a:r>
                      <a:r>
                        <a:rPr lang="en-US" sz="1100" b="0" i="0" u="none" strike="noStrike" dirty="0">
                          <a:solidFill>
                            <a:srgbClr val="000000"/>
                          </a:solidFill>
                          <a:effectLst/>
                          <a:latin typeface="Calibri" panose="020F0502020204030204" pitchFamily="34" charset="0"/>
                        </a:rPr>
                        <a:t> 2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Zhengella</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Gemmata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13057911"/>
              </p:ext>
            </p:extLst>
          </p:nvPr>
        </p:nvGraphicFramePr>
        <p:xfrm>
          <a:off x="381000" y="1193800"/>
          <a:ext cx="3579813" cy="539391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Rhodovarius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Micropepsis  </a:t>
                      </a: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Xanthomonas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Thermaerobacter  </a:t>
                      </a: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Mesobacillus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Lacihabitans  </a:t>
                      </a: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Kaistia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Chryseotalea  </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Telmatocola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Algoriphagus  </a:t>
                      </a:r>
                    </a:p>
                  </a:txBody>
                  <a:tcPr marL="9525" marR="9525" marT="9525" marB="0" anchor="b"/>
                </a:tc>
                <a:extLst>
                  <a:ext uri="{0D108BD9-81ED-4DB2-BD59-A6C34878D82A}">
                    <a16:rowId xmlns:a16="http://schemas.microsoft.com/office/drawing/2014/main" val="4110988134"/>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Pseudofulvimonas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Spirochaeta  </a:t>
                      </a: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Gemmata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Acetobacter  </a:t>
                      </a: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Imperialibacter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Thermobacillus  </a:t>
                      </a: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Chthonobacter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Candidatus Arcanobacter  </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Emticicia  </a:t>
                      </a:r>
                    </a:p>
                  </a:txBody>
                  <a:tcPr marL="9525" marR="9525" marT="9525" marB="0" anchor="b"/>
                </a:tc>
                <a:tc>
                  <a:txBody>
                    <a:bodyPr/>
                    <a:lstStyle/>
                    <a:p>
                      <a:pPr algn="ctr" fontAlgn="b"/>
                      <a:r>
                        <a:rPr lang="en-US" sz="1100" b="0" i="0" u="none" strike="noStrike" dirty="0">
                          <a:solidFill>
                            <a:srgbClr val="000000"/>
                          </a:solidFill>
                          <a:effectLst/>
                          <a:latin typeface="Times New Roman" panose="02020603050405020304" pitchFamily="18" charset="0"/>
                          <a:cs typeface="Times New Roman" panose="02020603050405020304" pitchFamily="18" charset="0"/>
                        </a:rPr>
                        <a:t>[</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Polyangium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brachysporum</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group  </a:t>
                      </a: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Niallia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Niastella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Ramlibacter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Salinispira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Reyranella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Luteibacter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Baekduia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Halocella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UBA6140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Phreatobacter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BBMC-4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Tepidanaerobacter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Conexibacter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Bealeia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Bdellovibrio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Erythrobacter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AKYG587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Massilia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Neobacillus</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Leeia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35076023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FFFF00"/>
                </a:solidFill>
                <a:latin typeface="Times New Roman" panose="02020603050405020304" pitchFamily="18" charset="0"/>
                <a:cs typeface="Times New Roman" panose="02020603050405020304" pitchFamily="18" charset="0"/>
              </a:rPr>
              <a:t>shapG</a:t>
            </a:r>
            <a:r>
              <a:rPr lang="en-US" sz="2000" dirty="0" smtClean="0">
                <a:solidFill>
                  <a:srgbClr val="000000"/>
                </a:solidFill>
                <a:latin typeface="Times New Roman" panose="02020603050405020304" pitchFamily="18" charset="0"/>
                <a:cs typeface="Times New Roman" panose="02020603050405020304" pitchFamily="18" charset="0"/>
              </a:rPr>
              <a:t> features </a:t>
            </a:r>
            <a:r>
              <a:rPr lang="en-US" sz="2000" dirty="0">
                <a:solidFill>
                  <a:srgbClr val="000000"/>
                </a:solidFill>
                <a:latin typeface="Times New Roman" panose="02020603050405020304" pitchFamily="18" charset="0"/>
                <a:cs typeface="Times New Roman" panose="02020603050405020304" pitchFamily="18" charset="0"/>
              </a:rPr>
              <a:t>abundance for </a:t>
            </a:r>
            <a:r>
              <a:rPr lang="en-US" sz="2000" dirty="0" err="1">
                <a:solidFill>
                  <a:srgbClr val="FFFF00"/>
                </a:solidFill>
                <a:latin typeface="Times New Roman" panose="02020603050405020304" pitchFamily="18" charset="0"/>
                <a:cs typeface="Times New Roman" panose="02020603050405020304" pitchFamily="18" charset="0"/>
              </a:rPr>
              <a:t>Aviti</a:t>
            </a:r>
            <a:r>
              <a:rPr lang="en-US" sz="2000" dirty="0">
                <a:solidFill>
                  <a:srgbClr val="FFFF00"/>
                </a:solidFill>
                <a:latin typeface="Times New Roman" panose="02020603050405020304" pitchFamily="18" charset="0"/>
                <a:cs typeface="Times New Roman" panose="02020603050405020304" pitchFamily="18" charset="0"/>
              </a:rPr>
              <a:t>, Random Forest</a:t>
            </a:r>
            <a:endParaRPr lang="en-US" sz="2000" dirty="0" smtClean="0">
              <a:solidFill>
                <a:srgbClr val="FFFF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905000"/>
            <a:ext cx="8382000" cy="4155782"/>
          </a:xfrm>
          <a:prstGeom prst="rect">
            <a:avLst/>
          </a:prstGeom>
        </p:spPr>
      </p:pic>
    </p:spTree>
    <p:extLst>
      <p:ext uri="{BB962C8B-B14F-4D97-AF65-F5344CB8AC3E}">
        <p14:creationId xmlns:p14="http://schemas.microsoft.com/office/powerpoint/2010/main" val="31265936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2057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p:cNvGraphicFramePr>
            <a:graphicFrameLocks noGrp="1"/>
          </p:cNvGraphicFramePr>
          <p:nvPr>
            <p:extLst>
              <p:ext uri="{D42A27DB-BD31-4B8C-83A1-F6EECF244321}">
                <p14:modId xmlns:p14="http://schemas.microsoft.com/office/powerpoint/2010/main" val="2058734670"/>
              </p:ext>
            </p:extLst>
          </p:nvPr>
        </p:nvGraphicFramePr>
        <p:xfrm>
          <a:off x="704848" y="1222398"/>
          <a:ext cx="3124201" cy="5235612"/>
        </p:xfrm>
        <a:graphic>
          <a:graphicData uri="http://schemas.openxmlformats.org/drawingml/2006/table">
            <a:tbl>
              <a:tblPr>
                <a:tableStyleId>{616DA210-FB5B-4158-B5E0-FEB733F419BA}</a:tableStyleId>
              </a:tblPr>
              <a:tblGrid>
                <a:gridCol w="628748">
                  <a:extLst>
                    <a:ext uri="{9D8B030D-6E8A-4147-A177-3AD203B41FA5}">
                      <a16:colId xmlns:a16="http://schemas.microsoft.com/office/drawing/2014/main" val="1684629359"/>
                    </a:ext>
                  </a:extLst>
                </a:gridCol>
                <a:gridCol w="1276251">
                  <a:extLst>
                    <a:ext uri="{9D8B030D-6E8A-4147-A177-3AD203B41FA5}">
                      <a16:colId xmlns:a16="http://schemas.microsoft.com/office/drawing/2014/main" val="3958920733"/>
                    </a:ext>
                  </a:extLst>
                </a:gridCol>
                <a:gridCol w="1219202">
                  <a:extLst>
                    <a:ext uri="{9D8B030D-6E8A-4147-A177-3AD203B41FA5}">
                      <a16:colId xmlns:a16="http://schemas.microsoft.com/office/drawing/2014/main" val="806990348"/>
                    </a:ext>
                  </a:extLst>
                </a:gridCol>
              </a:tblGrid>
              <a:tr h="318783">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err="1" smtClean="0">
                          <a:effectLst/>
                          <a:latin typeface="Times New Roman" panose="02020603050405020304" pitchFamily="18" charset="0"/>
                          <a:cs typeface="Times New Roman" panose="02020603050405020304" pitchFamily="18" charset="0"/>
                        </a:rPr>
                        <a:t>'s</a:t>
                      </a:r>
                      <a:r>
                        <a:rPr lang="en-US" sz="1200" b="1" u="none" strike="noStrike" dirty="0" smtClean="0">
                          <a:effectLst/>
                          <a:latin typeface="Times New Roman" panose="02020603050405020304" pitchFamily="18" charset="0"/>
                          <a:cs typeface="Times New Roman" panose="02020603050405020304" pitchFamily="18" charset="0"/>
                        </a:rPr>
                        <a:t>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mle1-7  </a:t>
                      </a:r>
                    </a:p>
                  </a:txBody>
                  <a:tcPr marL="9525" marR="9525" marT="9525" marB="0" anchor="b"/>
                </a:tc>
                <a:tc>
                  <a:txBody>
                    <a:bodyPr/>
                    <a:lstStyle/>
                    <a:p>
                      <a:pPr algn="ctr" fontAlgn="b"/>
                      <a:r>
                        <a:rPr lang="en-US" sz="1100" b="0" i="0" u="none" strike="noStrike" dirty="0" err="1" smtClean="0">
                          <a:solidFill>
                            <a:srgbClr val="000000"/>
                          </a:solidFill>
                          <a:effectLst/>
                          <a:latin typeface="Calibri" panose="020F0502020204030204" pitchFamily="34" charset="0"/>
                        </a:rPr>
                        <a:t>Cytophaga</a:t>
                      </a:r>
                      <a:r>
                        <a:rPr lang="en-US" sz="1100" b="0" i="0" u="none" strike="noStrike" dirty="0" smtClean="0">
                          <a:solidFill>
                            <a:srgbClr val="000000"/>
                          </a:solidFill>
                          <a:effectLst/>
                          <a:latin typeface="Calibri" panose="020F0502020204030204" pitchFamily="34" charset="0"/>
                        </a:rPr>
                        <a:t>  </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3406850"/>
                  </a:ext>
                </a:extLst>
              </a:tr>
              <a:tr h="31697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Imperialibacter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Spirochaeta</a:t>
                      </a:r>
                      <a:r>
                        <a:rPr lang="en-US" sz="1100" b="0" i="0" u="none" strike="noStrike" dirty="0">
                          <a:solidFill>
                            <a:srgbClr val="000000"/>
                          </a:solidFill>
                          <a:effectLst/>
                          <a:latin typeface="Calibri" panose="020F0502020204030204" pitchFamily="34" charset="0"/>
                        </a:rPr>
                        <a:t> 2  </a:t>
                      </a:r>
                    </a:p>
                  </a:txBody>
                  <a:tcPr marL="9525" marR="9525" marT="9525" marB="0" anchor="b"/>
                </a:tc>
                <a:extLst>
                  <a:ext uri="{0D108BD9-81ED-4DB2-BD59-A6C34878D82A}">
                    <a16:rowId xmlns:a16="http://schemas.microsoft.com/office/drawing/2014/main" val="1874311317"/>
                  </a:ext>
                </a:extLst>
              </a:tr>
              <a:tr h="42066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Chryseotalea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Paludibaculum</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428526081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Dokdonella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Tepidisphaera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3953385741"/>
                  </a:ext>
                </a:extLst>
              </a:tr>
              <a:tr h="20617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YC-ZSS-LKJ147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Chitinophaga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4110988134"/>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Parageobacillus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Niastella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06533270"/>
                  </a:ext>
                </a:extLst>
              </a:tr>
              <a:tr h="3288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Ferruginibacter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Haliscomenobacter</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32505674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Hassallia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Ferruginibacter</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4118712325"/>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Rhodoplanes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Chitinophaga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118482760"/>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Phenylobacterium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Agriterribacter  </a:t>
                      </a:r>
                    </a:p>
                  </a:txBody>
                  <a:tcPr marL="9525" marR="9525" marT="9525" marB="0" anchor="b"/>
                </a:tc>
                <a:extLst>
                  <a:ext uri="{0D108BD9-81ED-4DB2-BD59-A6C34878D82A}">
                    <a16:rowId xmlns:a16="http://schemas.microsoft.com/office/drawing/2014/main" val="3095012359"/>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Dinghuibacter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Pedobacter</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917019206"/>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Ilumatobacter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Bdellovibrio</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3116390992"/>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Chryseolinea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Pseudorhodoplanes</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594773928"/>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Abditibacterium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Thermomonas</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43412487"/>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Chthoniobacter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Chryseotalea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985009116"/>
                  </a:ext>
                </a:extLst>
              </a:tr>
              <a:tr h="16897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Bauldia  </a:t>
                      </a:r>
                    </a:p>
                  </a:txBody>
                  <a:tcPr marL="9525" marR="9525" marT="9525" marB="0" anchor="b"/>
                </a:tc>
                <a:tc>
                  <a:txBody>
                    <a:bodyPr/>
                    <a:lstStyle/>
                    <a:p>
                      <a:pPr algn="ctr" fontAlgn="b"/>
                      <a:r>
                        <a:rPr lang="en-US" sz="1100" b="0" i="0" u="none" strike="noStrike" dirty="0">
                          <a:solidFill>
                            <a:srgbClr val="000000"/>
                          </a:solidFill>
                          <a:effectLst/>
                          <a:latin typeface="Calibri" panose="020F0502020204030204" pitchFamily="34" charset="0"/>
                        </a:rPr>
                        <a:t>OLB12  </a:t>
                      </a:r>
                    </a:p>
                  </a:txBody>
                  <a:tcPr marL="9525" marR="9525" marT="9525" marB="0" anchor="b"/>
                </a:tc>
                <a:extLst>
                  <a:ext uri="{0D108BD9-81ED-4DB2-BD59-A6C34878D82A}">
                    <a16:rowId xmlns:a16="http://schemas.microsoft.com/office/drawing/2014/main" val="229922658"/>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Sumerlaea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Hassallia</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015200171"/>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Hirschia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Ureibacillus</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180289669"/>
                  </a:ext>
                </a:extLst>
              </a:tr>
              <a:tr h="28304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Sediminibacterium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Phenylobacterium</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4211420371"/>
                  </a:ext>
                </a:extLst>
              </a:tr>
              <a:tr h="260937">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Methylobacillus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Luteolibacter</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622232106"/>
                  </a:ext>
                </a:extLst>
              </a:tr>
            </a:tbl>
          </a:graphicData>
        </a:graphic>
      </p:graphicFrame>
      <p:sp>
        <p:nvSpPr>
          <p:cNvPr id="10" name="Smiley Face 9"/>
          <p:cNvSpPr/>
          <p:nvPr/>
        </p:nvSpPr>
        <p:spPr>
          <a:xfrm>
            <a:off x="2971800" y="1676400"/>
            <a:ext cx="495299" cy="524100"/>
          </a:xfrm>
          <a:prstGeom prst="smileyFace">
            <a:avLst>
              <a:gd name="adj" fmla="val -465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1071341394"/>
              </p:ext>
            </p:extLst>
          </p:nvPr>
        </p:nvGraphicFramePr>
        <p:xfrm>
          <a:off x="4191000" y="1152750"/>
          <a:ext cx="4495800" cy="4962384"/>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295050">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Dokdonella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Arsenicitalea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Bosea  </a:t>
                      </a:r>
                    </a:p>
                  </a:txBody>
                  <a:tcPr marL="9525" marR="9525" marT="9525" marB="0" anchor="b">
                    <a:noFill/>
                  </a:tcPr>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Gemmata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1" i="0" u="none" strike="noStrike" dirty="0" err="1">
                          <a:solidFill>
                            <a:srgbClr val="000000"/>
                          </a:solidFill>
                          <a:effectLst/>
                          <a:latin typeface="Calibri" panose="020F0502020204030204" pitchFamily="34" charset="0"/>
                        </a:rPr>
                        <a:t>Ilumatobacter</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Shinella  </a:t>
                      </a:r>
                    </a:p>
                  </a:txBody>
                  <a:tcPr marL="9525" marR="9525" marT="9525" marB="0" anchor="b">
                    <a:noFill/>
                  </a:tcPr>
                </a:tc>
                <a:extLst>
                  <a:ext uri="{0D108BD9-81ED-4DB2-BD59-A6C34878D82A}">
                    <a16:rowId xmlns:a16="http://schemas.microsoft.com/office/drawing/2014/main" val="1874311317"/>
                  </a:ext>
                </a:extLst>
              </a:tr>
              <a:tr h="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Bradyrhizobium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Kineobactrum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Ferribacterium  </a:t>
                      </a:r>
                    </a:p>
                  </a:txBody>
                  <a:tcPr marL="9525" marR="9525" marT="9525" marB="0" anchor="b">
                    <a:noFill/>
                  </a:tcPr>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CL500-3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SWB02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Rubrivivax  </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Sphingopyxis</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Sphingopyxis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Sphingorhabdus  </a:t>
                      </a:r>
                    </a:p>
                  </a:txBody>
                  <a:tcPr marL="9525" marR="9525" marT="9525" marB="0" anchor="b">
                    <a:noFill/>
                  </a:tcPr>
                </a:tc>
                <a:extLst>
                  <a:ext uri="{0D108BD9-81ED-4DB2-BD59-A6C34878D82A}">
                    <a16:rowId xmlns:a16="http://schemas.microsoft.com/office/drawing/2014/main" val="4110988134"/>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Paludibaculum</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Massilia</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JGI 0001001-H03  </a:t>
                      </a:r>
                    </a:p>
                  </a:txBody>
                  <a:tcPr marL="9525" marR="9525" marT="9525" marB="0" anchor="b">
                    <a:noFill/>
                  </a:tcPr>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Arsenicitalea</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CL500-3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Methylophilus  </a:t>
                      </a:r>
                    </a:p>
                  </a:txBody>
                  <a:tcPr marL="9525" marR="9525" marT="9525" marB="0" anchor="b">
                    <a:noFill/>
                  </a:tcPr>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Shinella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Luteolibacter</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Pedomicrobium  </a:t>
                      </a:r>
                    </a:p>
                  </a:txBody>
                  <a:tcPr marL="9525" marR="9525" marT="9525" marB="0" anchor="b">
                    <a:noFill/>
                  </a:tcPr>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mle1-7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Planctomicrobium</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OLB12  </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JGI 0001001-H03  </a:t>
                      </a:r>
                    </a:p>
                  </a:txBody>
                  <a:tcPr marL="9525" marR="9525" marT="9525" marB="0" anchor="b">
                    <a:noFill/>
                  </a:tcPr>
                </a:tc>
                <a:tc>
                  <a:txBody>
                    <a:bodyPr/>
                    <a:lstStyle/>
                    <a:p>
                      <a:pPr algn="ctr" fontAlgn="b"/>
                      <a:r>
                        <a:rPr lang="en-US" sz="1100" b="0" i="0" u="none" strike="noStrike" dirty="0">
                          <a:solidFill>
                            <a:srgbClr val="000000"/>
                          </a:solidFill>
                          <a:effectLst/>
                          <a:latin typeface="Calibri" panose="020F0502020204030204" pitchFamily="34" charset="0"/>
                        </a:rPr>
                        <a:t>mle1-7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Dechloromonas  </a:t>
                      </a:r>
                    </a:p>
                  </a:txBody>
                  <a:tcPr marL="9525" marR="9525" marT="9525" marB="0" anchor="b">
                    <a:noFill/>
                  </a:tcPr>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Polycyclovorans</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Methylophilus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Dokdonella  </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Coxiella</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1" i="0" u="none" strike="noStrike" dirty="0" err="1">
                          <a:solidFill>
                            <a:srgbClr val="000000"/>
                          </a:solidFill>
                          <a:effectLst/>
                          <a:latin typeface="Calibri" panose="020F0502020204030204" pitchFamily="34" charset="0"/>
                        </a:rPr>
                        <a:t>Bradyrhizobium</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Luteolibacter  </a:t>
                      </a:r>
                    </a:p>
                  </a:txBody>
                  <a:tcPr marL="9525" marR="9525" marT="9525" marB="0" anchor="b">
                    <a:noFill/>
                  </a:tcPr>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Kineobactrum</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Gemmata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Pirellula  </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Geomonas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Asticcacaulis</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tc>
                  <a:txBody>
                    <a:bodyPr/>
                    <a:lstStyle/>
                    <a:p>
                      <a:pPr algn="ctr" fontAlgn="b"/>
                      <a:r>
                        <a:rPr lang="en-US" sz="1100" b="0" i="0" u="none" strike="noStrike">
                          <a:solidFill>
                            <a:srgbClr val="000000"/>
                          </a:solidFill>
                          <a:effectLst/>
                          <a:latin typeface="Calibri" panose="020F0502020204030204" pitchFamily="34" charset="0"/>
                        </a:rPr>
                        <a:t>Sphingomonas  </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Ilumatobacter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Coxiella</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Xylophilus  </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Croceibacterium  </a:t>
                      </a:r>
                    </a:p>
                  </a:txBody>
                  <a:tcPr marL="9525" marR="9525" marT="9525" marB="0" anchor="b">
                    <a:noFill/>
                  </a:tcPr>
                </a:tc>
                <a:tc>
                  <a:txBody>
                    <a:bodyPr/>
                    <a:lstStyle/>
                    <a:p>
                      <a:pPr algn="ctr" fontAlgn="b"/>
                      <a:r>
                        <a:rPr lang="en-US" sz="1100" b="0" i="0" u="none" strike="noStrike" dirty="0" err="1">
                          <a:solidFill>
                            <a:srgbClr val="000000"/>
                          </a:solidFill>
                          <a:effectLst/>
                          <a:latin typeface="Calibri" panose="020F0502020204030204" pitchFamily="34" charset="0"/>
                        </a:rPr>
                        <a:t>Pedomicrobium</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Gaiella</a:t>
                      </a:r>
                      <a:r>
                        <a:rPr lang="en-US" sz="1100" b="0" i="0" u="none" strike="noStrike" dirty="0">
                          <a:solidFill>
                            <a:srgbClr val="000000"/>
                          </a:solidFill>
                          <a:effectLst/>
                          <a:latin typeface="Calibri" panose="020F0502020204030204" pitchFamily="34" charset="0"/>
                        </a:rPr>
                        <a:t>  </a:t>
                      </a:r>
                    </a:p>
                  </a:txBody>
                  <a:tcPr marL="9525" marR="9525" marT="9525" marB="0" anchor="b">
                    <a:noFill/>
                  </a:tcPr>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Planctomicrobium</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Pseudomonas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Geomonas</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Ferribacterium</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Duganella  </a:t>
                      </a:r>
                    </a:p>
                  </a:txBody>
                  <a:tcPr marL="9525" marR="9525" marT="9525" marB="0" anchor="b"/>
                </a:tc>
                <a:tc>
                  <a:txBody>
                    <a:bodyPr/>
                    <a:lstStyle/>
                    <a:p>
                      <a:pPr algn="ctr" fontAlgn="b"/>
                      <a:r>
                        <a:rPr lang="en-US" sz="1100" b="1" i="0" u="none" strike="noStrike" dirty="0" err="1">
                          <a:solidFill>
                            <a:srgbClr val="000000"/>
                          </a:solidFill>
                          <a:effectLst/>
                          <a:latin typeface="Calibri" panose="020F0502020204030204" pitchFamily="34" charset="0"/>
                        </a:rPr>
                        <a:t>Bradyrhizobium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Dechloromonas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Methylibium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Methylibium</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Sphingorhabdus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a:solidFill>
                            <a:srgbClr val="000000"/>
                          </a:solidFill>
                          <a:effectLst/>
                          <a:latin typeface="Calibri" panose="020F0502020204030204" pitchFamily="34" charset="0"/>
                        </a:rPr>
                        <a:t>OLB12  </a:t>
                      </a:r>
                    </a:p>
                  </a:txBody>
                  <a:tcPr marL="9525" marR="9525" marT="9525" marB="0" anchor="b">
                    <a:noFill/>
                  </a:tcPr>
                </a:tc>
                <a:tc>
                  <a:txBody>
                    <a:bodyPr/>
                    <a:lstStyle/>
                    <a:p>
                      <a:pPr algn="ctr" fontAlgn="b"/>
                      <a:r>
                        <a:rPr lang="en-US" sz="1100" b="1" i="0" u="none" strike="noStrike" dirty="0" err="1">
                          <a:solidFill>
                            <a:srgbClr val="000000"/>
                          </a:solidFill>
                          <a:effectLst/>
                          <a:latin typeface="Calibri" panose="020F0502020204030204" pitchFamily="34" charset="0"/>
                        </a:rPr>
                        <a:t>Ilumatobacter</a:t>
                      </a:r>
                      <a:endParaRPr lang="en-US" sz="1100" b="1" i="0" u="none" strike="noStrike" dirty="0">
                        <a:solidFill>
                          <a:srgbClr val="000000"/>
                        </a:solidFill>
                        <a:effectLst/>
                        <a:latin typeface="Calibri" panose="020F0502020204030204" pitchFamily="34" charset="0"/>
                      </a:endParaRPr>
                    </a:p>
                  </a:txBody>
                  <a:tcPr marL="9525" marR="9525" marT="9525" marB="0" anchor="b">
                    <a:solidFill>
                      <a:srgbClr val="FFFF7D"/>
                    </a:solidFill>
                  </a:tcPr>
                </a:tc>
                <a:extLst>
                  <a:ext uri="{0D108BD9-81ED-4DB2-BD59-A6C34878D82A}">
                    <a16:rowId xmlns:a16="http://schemas.microsoft.com/office/drawing/2014/main" val="2622232106"/>
                  </a:ext>
                </a:extLst>
              </a:tr>
            </a:tbl>
          </a:graphicData>
        </a:graphic>
      </p:graphicFrame>
      <p:sp>
        <p:nvSpPr>
          <p:cNvPr id="13" name="Smiley Face 12"/>
          <p:cNvSpPr/>
          <p:nvPr/>
        </p:nvSpPr>
        <p:spPr>
          <a:xfrm>
            <a:off x="6324600" y="5739009"/>
            <a:ext cx="762000" cy="752250"/>
          </a:xfrm>
          <a:prstGeom prst="smileyFace">
            <a:avLst>
              <a:gd name="adj" fmla="val -4653"/>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2"/>
          <p:cNvSpPr txBox="1">
            <a:spLocks noChangeArrowheads="1"/>
          </p:cNvSpPr>
          <p:nvPr/>
        </p:nvSpPr>
        <p:spPr bwMode="auto">
          <a:xfrm>
            <a:off x="777240" y="232907"/>
            <a:ext cx="8382000" cy="723900"/>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a:lstStyle>
          <a:p>
            <a:pPr algn="ctr"/>
            <a:r>
              <a:rPr lang="en-US" sz="2000" kern="0" dirty="0" smtClean="0">
                <a:solidFill>
                  <a:srgbClr val="000000"/>
                </a:solidFill>
                <a:latin typeface="Times New Roman" panose="02020603050405020304" pitchFamily="18" charset="0"/>
                <a:cs typeface="Times New Roman" panose="02020603050405020304" pitchFamily="18" charset="0"/>
              </a:rPr>
              <a:t>List of </a:t>
            </a:r>
            <a:r>
              <a:rPr lang="en-US" sz="2000" kern="0" dirty="0" smtClean="0">
                <a:solidFill>
                  <a:schemeClr val="tx1"/>
                </a:solidFill>
                <a:latin typeface="Times New Roman" panose="02020603050405020304" pitchFamily="18" charset="0"/>
                <a:cs typeface="Times New Roman" panose="02020603050405020304" pitchFamily="18" charset="0"/>
              </a:rPr>
              <a:t>Top 20 SHAPG Features for </a:t>
            </a:r>
            <a:r>
              <a:rPr lang="en-US" sz="2000" kern="0" dirty="0" err="1" smtClean="0">
                <a:solidFill>
                  <a:schemeClr val="tx1"/>
                </a:solidFill>
                <a:latin typeface="Times New Roman" panose="02020603050405020304" pitchFamily="18" charset="0"/>
                <a:cs typeface="Times New Roman" panose="02020603050405020304" pitchFamily="18" charset="0"/>
              </a:rPr>
              <a:t>Miseq</a:t>
            </a:r>
            <a:r>
              <a:rPr lang="en-US" sz="2000" kern="0" dirty="0" smtClean="0">
                <a:solidFill>
                  <a:schemeClr val="tx1"/>
                </a:solidFill>
                <a:latin typeface="Times New Roman" panose="02020603050405020304" pitchFamily="18" charset="0"/>
                <a:cs typeface="Times New Roman" panose="02020603050405020304" pitchFamily="18" charset="0"/>
              </a:rPr>
              <a:t>, Random Forest</a:t>
            </a:r>
            <a:r>
              <a:rPr lang="en-US" sz="2000" kern="0" dirty="0" smtClean="0">
                <a:solidFill>
                  <a:srgbClr val="FFFF00"/>
                </a:solidFill>
                <a:latin typeface="Times New Roman" panose="02020603050405020304" pitchFamily="18" charset="0"/>
                <a:cs typeface="Times New Roman" panose="02020603050405020304" pitchFamily="18" charset="0"/>
              </a:rPr>
              <a:t/>
            </a:r>
            <a:br>
              <a:rPr lang="en-US" sz="2000" kern="0" dirty="0" smtClean="0">
                <a:solidFill>
                  <a:srgbClr val="FFFF00"/>
                </a:solidFill>
                <a:latin typeface="Times New Roman" panose="02020603050405020304" pitchFamily="18" charset="0"/>
                <a:cs typeface="Times New Roman" panose="02020603050405020304" pitchFamily="18" charset="0"/>
              </a:rPr>
            </a:br>
            <a:r>
              <a:rPr lang="en-US" sz="2000" kern="0" dirty="0" smtClean="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a:t>
            </a:r>
            <a:r>
              <a:rPr lang="en-US" sz="2000" kern="0" dirty="0" smtClean="0">
                <a:solidFill>
                  <a:srgbClr val="FFFF00"/>
                </a:solidFill>
                <a:latin typeface="Times New Roman" panose="02020603050405020304" pitchFamily="18" charset="0"/>
                <a:cs typeface="Times New Roman" panose="02020603050405020304" pitchFamily="18" charset="0"/>
                <a:sym typeface="Wingdings" panose="05000000000000000000" pitchFamily="2" charset="2"/>
              </a:rPr>
              <a:t> </a:t>
            </a:r>
            <a:r>
              <a:rPr lang="en-US" sz="2000" b="0" kern="0" dirty="0" smtClean="0">
                <a:solidFill>
                  <a:srgbClr val="FF0000"/>
                </a:solidFill>
                <a:latin typeface="Times New Roman" panose="02020603050405020304" pitchFamily="18" charset="0"/>
                <a:cs typeface="Times New Roman" panose="02020603050405020304" pitchFamily="18" charset="0"/>
              </a:rPr>
              <a:t>Features of </a:t>
            </a:r>
            <a:r>
              <a:rPr lang="en-US" sz="2000" b="0" kern="0" dirty="0" err="1" smtClean="0">
                <a:solidFill>
                  <a:srgbClr val="FF0000"/>
                </a:solidFill>
                <a:latin typeface="Times New Roman" panose="02020603050405020304" pitchFamily="18" charset="0"/>
                <a:cs typeface="Times New Roman" panose="02020603050405020304" pitchFamily="18" charset="0"/>
              </a:rPr>
              <a:t>HeatRoot</a:t>
            </a:r>
            <a:r>
              <a:rPr lang="en-US" sz="2000" b="0" kern="0" dirty="0" smtClean="0">
                <a:solidFill>
                  <a:srgbClr val="FF0000"/>
                </a:solidFill>
                <a:latin typeface="Times New Roman" panose="02020603050405020304" pitchFamily="18" charset="0"/>
                <a:cs typeface="Times New Roman" panose="02020603050405020304" pitchFamily="18" charset="0"/>
              </a:rPr>
              <a:t> had 0 importance</a:t>
            </a:r>
          </a:p>
        </p:txBody>
      </p:sp>
    </p:spTree>
    <p:extLst>
      <p:ext uri="{BB962C8B-B14F-4D97-AF65-F5344CB8AC3E}">
        <p14:creationId xmlns:p14="http://schemas.microsoft.com/office/powerpoint/2010/main" val="19924135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p:cNvSpPr txBox="1">
            <a:spLocks noChangeArrowheads="1"/>
          </p:cNvSpPr>
          <p:nvPr/>
        </p:nvSpPr>
        <p:spPr bwMode="auto">
          <a:xfrm>
            <a:off x="777240" y="232907"/>
            <a:ext cx="8382000" cy="723900"/>
          </a:xfrm>
          <a:prstGeom prst="rect">
            <a:avLst/>
          </a:prstGeom>
          <a:noFill/>
          <a:ln w="9525">
            <a:noFill/>
            <a:miter lim="800000"/>
            <a:headEnd/>
            <a:tailEnd/>
          </a:ln>
          <a:effectLst>
            <a:outerShdw dist="17961" dir="2700000" algn="ctr" rotWithShape="0">
              <a:schemeClr val="bg2"/>
            </a:outerShdw>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a:lstStyle>
          <a:p>
            <a:pPr algn="ctr"/>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smtClean="0">
                <a:solidFill>
                  <a:srgbClr val="FFFF00"/>
                </a:solidFill>
                <a:latin typeface="Times New Roman" panose="02020603050405020304" pitchFamily="18" charset="0"/>
                <a:cs typeface="Times New Roman" panose="02020603050405020304" pitchFamily="18" charset="0"/>
              </a:rPr>
              <a:t>shapG</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Miseq</a:t>
            </a:r>
            <a:r>
              <a:rPr lang="en-US" sz="2000" dirty="0" smtClean="0">
                <a:solidFill>
                  <a:srgbClr val="FFFF00"/>
                </a:solidFill>
                <a:latin typeface="Times New Roman" panose="02020603050405020304" pitchFamily="18" charset="0"/>
                <a:cs typeface="Times New Roman" panose="02020603050405020304" pitchFamily="18" charset="0"/>
              </a:rPr>
              <a:t>, </a:t>
            </a:r>
            <a:r>
              <a:rPr lang="en-US" sz="2000" dirty="0">
                <a:solidFill>
                  <a:srgbClr val="FFFF00"/>
                </a:solidFill>
                <a:latin typeface="Times New Roman" panose="02020603050405020304" pitchFamily="18" charset="0"/>
                <a:cs typeface="Times New Roman" panose="02020603050405020304" pitchFamily="18" charset="0"/>
              </a:rPr>
              <a:t>Random Forest</a:t>
            </a:r>
            <a:endParaRPr lang="en-US" sz="2000" b="0" kern="0" dirty="0" smtClean="0">
              <a:solidFill>
                <a:srgbClr val="FF00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905000"/>
            <a:ext cx="8458200" cy="4197089"/>
          </a:xfrm>
          <a:prstGeom prst="rect">
            <a:avLst/>
          </a:prstGeom>
        </p:spPr>
      </p:pic>
    </p:spTree>
    <p:extLst>
      <p:ext uri="{BB962C8B-B14F-4D97-AF65-F5344CB8AC3E}">
        <p14:creationId xmlns:p14="http://schemas.microsoft.com/office/powerpoint/2010/main" val="34806957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r>
              <a:rPr lang="en-US" sz="2000" dirty="0" smtClean="0">
                <a:solidFill>
                  <a:srgbClr val="000000"/>
                </a:solidFill>
                <a:latin typeface="Times New Roman" panose="02020603050405020304" pitchFamily="18" charset="0"/>
                <a:cs typeface="Times New Roman" panose="02020603050405020304" pitchFamily="18" charset="0"/>
              </a:rPr>
              <a:t>List </a:t>
            </a:r>
            <a:r>
              <a:rPr lang="en-US" sz="2000" dirty="0">
                <a:solidFill>
                  <a:srgbClr val="000000"/>
                </a:solidFill>
                <a:latin typeface="Times New Roman" panose="02020603050405020304" pitchFamily="18" charset="0"/>
                <a:cs typeface="Times New Roman" panose="02020603050405020304" pitchFamily="18" charset="0"/>
              </a:rPr>
              <a:t>of </a:t>
            </a:r>
            <a:r>
              <a:rPr lang="en-US" sz="2000" dirty="0">
                <a:solidFill>
                  <a:srgbClr val="FFFF00"/>
                </a:solidFill>
                <a:latin typeface="Times New Roman" panose="02020603050405020304" pitchFamily="18" charset="0"/>
                <a:cs typeface="Times New Roman" panose="02020603050405020304" pitchFamily="18" charset="0"/>
              </a:rPr>
              <a:t>Top 20 </a:t>
            </a:r>
            <a:r>
              <a:rPr lang="en-US" sz="2000" dirty="0" smtClean="0">
                <a:solidFill>
                  <a:srgbClr val="000000"/>
                </a:solidFill>
                <a:latin typeface="Times New Roman" panose="02020603050405020304" pitchFamily="18" charset="0"/>
                <a:cs typeface="Times New Roman" panose="02020603050405020304" pitchFamily="18" charset="0"/>
              </a:rPr>
              <a:t>SHAP</a:t>
            </a:r>
            <a:r>
              <a:rPr lang="en-US" sz="2000" dirty="0" smtClean="0">
                <a:solidFill>
                  <a:srgbClr val="FFFF00"/>
                </a:solidFill>
                <a:latin typeface="Times New Roman" panose="02020603050405020304" pitchFamily="18" charset="0"/>
                <a:cs typeface="Times New Roman" panose="02020603050405020304" pitchFamily="18" charset="0"/>
              </a:rPr>
              <a:t>G</a:t>
            </a:r>
            <a:r>
              <a:rPr lang="en-US" sz="2000" dirty="0" smtClean="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Features for </a:t>
            </a:r>
            <a:r>
              <a:rPr lang="en-US" sz="2000" dirty="0" err="1" smtClean="0">
                <a:solidFill>
                  <a:srgbClr val="FFFF00"/>
                </a:solidFill>
                <a:latin typeface="Times New Roman" panose="02020603050405020304" pitchFamily="18" charset="0"/>
                <a:cs typeface="Times New Roman" panose="02020603050405020304" pitchFamily="18" charset="0"/>
              </a:rPr>
              <a:t>Novaseq</a:t>
            </a:r>
            <a:r>
              <a:rPr lang="en-US" sz="2000" dirty="0">
                <a:solidFill>
                  <a:srgbClr val="FFFF00"/>
                </a:solidFill>
                <a:latin typeface="Times New Roman" panose="02020603050405020304" pitchFamily="18" charset="0"/>
                <a:cs typeface="Times New Roman" panose="02020603050405020304" pitchFamily="18" charset="0"/>
              </a:rPr>
              <a:t>, Random Forest</a:t>
            </a:r>
            <a:endParaRPr lang="en-US" sz="2000" dirty="0" smtClean="0">
              <a:solidFill>
                <a:srgbClr val="000000"/>
              </a:solidFill>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3788953965"/>
              </p:ext>
            </p:extLst>
          </p:nvPr>
        </p:nvGraphicFramePr>
        <p:xfrm>
          <a:off x="457201" y="1220559"/>
          <a:ext cx="3428999" cy="5546162"/>
        </p:xfrm>
        <a:graphic>
          <a:graphicData uri="http://schemas.openxmlformats.org/drawingml/2006/table">
            <a:tbl>
              <a:tblPr>
                <a:tableStyleId>{616DA210-FB5B-4158-B5E0-FEB733F419BA}</a:tableStyleId>
              </a:tblPr>
              <a:tblGrid>
                <a:gridCol w="606455">
                  <a:extLst>
                    <a:ext uri="{9D8B030D-6E8A-4147-A177-3AD203B41FA5}">
                      <a16:colId xmlns:a16="http://schemas.microsoft.com/office/drawing/2014/main" val="1684629359"/>
                    </a:ext>
                  </a:extLst>
                </a:gridCol>
                <a:gridCol w="1233471">
                  <a:extLst>
                    <a:ext uri="{9D8B030D-6E8A-4147-A177-3AD203B41FA5}">
                      <a16:colId xmlns:a16="http://schemas.microsoft.com/office/drawing/2014/main" val="3958920733"/>
                    </a:ext>
                  </a:extLst>
                </a:gridCol>
                <a:gridCol w="1589073">
                  <a:extLst>
                    <a:ext uri="{9D8B030D-6E8A-4147-A177-3AD203B41FA5}">
                      <a16:colId xmlns:a16="http://schemas.microsoft.com/office/drawing/2014/main" val="806990348"/>
                    </a:ext>
                  </a:extLst>
                </a:gridCol>
              </a:tblGrid>
              <a:tr h="270488">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Autoclave's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effectLst/>
                          <a:latin typeface="Times New Roman" panose="02020603050405020304" pitchFamily="18" charset="0"/>
                          <a:cs typeface="Times New Roman" panose="02020603050405020304" pitchFamily="18" charset="0"/>
                        </a:rPr>
                        <a:t>HeatRoot's</a:t>
                      </a:r>
                      <a:r>
                        <a:rPr lang="en-US" sz="1200" b="1" u="none" strike="noStrike" dirty="0" smtClean="0">
                          <a:effectLst/>
                          <a:latin typeface="Times New Roman" panose="02020603050405020304" pitchFamily="18" charset="0"/>
                          <a:cs typeface="Times New Roman" panose="02020603050405020304" pitchFamily="18" charset="0"/>
                        </a:rPr>
                        <a:t>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Mesobacillus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Erythrobacter  </a:t>
                      </a:r>
                    </a:p>
                  </a:txBody>
                  <a:tcPr marL="9525" marR="9525" marT="9525" marB="0" anchor="b"/>
                </a:tc>
                <a:extLst>
                  <a:ext uri="{0D108BD9-81ED-4DB2-BD59-A6C34878D82A}">
                    <a16:rowId xmlns:a16="http://schemas.microsoft.com/office/drawing/2014/main" val="1993406850"/>
                  </a:ext>
                </a:extLst>
              </a:tr>
              <a:tr h="268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Brucella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Algoriphagus  </a:t>
                      </a:r>
                    </a:p>
                  </a:txBody>
                  <a:tcPr marL="9525" marR="9525" marT="9525" marB="0" anchor="b"/>
                </a:tc>
                <a:extLst>
                  <a:ext uri="{0D108BD9-81ED-4DB2-BD59-A6C34878D82A}">
                    <a16:rowId xmlns:a16="http://schemas.microsoft.com/office/drawing/2014/main" val="1874311317"/>
                  </a:ext>
                </a:extLst>
              </a:tr>
              <a:tr h="35693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Ruficoccus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Lachnospiraceae UCG-004  </a:t>
                      </a:r>
                    </a:p>
                  </a:txBody>
                  <a:tcPr marL="9525" marR="9525" marT="9525" marB="0" anchor="b"/>
                </a:tc>
                <a:extLst>
                  <a:ext uri="{0D108BD9-81ED-4DB2-BD59-A6C34878D82A}">
                    <a16:rowId xmlns:a16="http://schemas.microsoft.com/office/drawing/2014/main" val="4285260815"/>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Kribbella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Apilactobacillus  </a:t>
                      </a:r>
                    </a:p>
                  </a:txBody>
                  <a:tcPr marL="9525" marR="9525" marT="9525" marB="0" anchor="b"/>
                </a:tc>
                <a:extLst>
                  <a:ext uri="{0D108BD9-81ED-4DB2-BD59-A6C34878D82A}">
                    <a16:rowId xmlns:a16="http://schemas.microsoft.com/office/drawing/2014/main" val="3953385741"/>
                  </a:ext>
                </a:extLst>
              </a:tr>
              <a:tr h="1749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Candidatus Protochlamydia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Diaphorobacter  </a:t>
                      </a:r>
                    </a:p>
                  </a:txBody>
                  <a:tcPr marL="9525" marR="9525" marT="9525" marB="0" anchor="b"/>
                </a:tc>
                <a:extLst>
                  <a:ext uri="{0D108BD9-81ED-4DB2-BD59-A6C34878D82A}">
                    <a16:rowId xmlns:a16="http://schemas.microsoft.com/office/drawing/2014/main" val="4110988134"/>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Gemmata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Phycocomes  </a:t>
                      </a:r>
                    </a:p>
                  </a:txBody>
                  <a:tcPr marL="9525" marR="9525" marT="9525" marB="0" anchor="b"/>
                </a:tc>
                <a:extLst>
                  <a:ext uri="{0D108BD9-81ED-4DB2-BD59-A6C34878D82A}">
                    <a16:rowId xmlns:a16="http://schemas.microsoft.com/office/drawing/2014/main" val="20653327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Noviherbaspirillum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Desulfopila  </a:t>
                      </a:r>
                    </a:p>
                  </a:txBody>
                  <a:tcPr marL="9525" marR="9525" marT="9525" marB="0" anchor="b"/>
                </a:tc>
                <a:extLst>
                  <a:ext uri="{0D108BD9-81ED-4DB2-BD59-A6C34878D82A}">
                    <a16:rowId xmlns:a16="http://schemas.microsoft.com/office/drawing/2014/main" val="2325056747"/>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Desulfovibrio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Phragmitibacter  </a:t>
                      </a:r>
                    </a:p>
                  </a:txBody>
                  <a:tcPr marL="9525" marR="9525" marT="9525" marB="0" anchor="b"/>
                </a:tc>
                <a:extLst>
                  <a:ext uri="{0D108BD9-81ED-4DB2-BD59-A6C34878D82A}">
                    <a16:rowId xmlns:a16="http://schemas.microsoft.com/office/drawing/2014/main" val="4118712325"/>
                  </a:ext>
                </a:extLst>
              </a:tr>
              <a:tr h="279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Snodgrassella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Bordetella  </a:t>
                      </a:r>
                    </a:p>
                  </a:txBody>
                  <a:tcPr marL="9525" marR="9525" marT="9525" marB="0" anchor="b"/>
                </a:tc>
                <a:extLst>
                  <a:ext uri="{0D108BD9-81ED-4DB2-BD59-A6C34878D82A}">
                    <a16:rowId xmlns:a16="http://schemas.microsoft.com/office/drawing/2014/main" val="2118482760"/>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Ramlibacter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Meiothermus  </a:t>
                      </a:r>
                    </a:p>
                  </a:txBody>
                  <a:tcPr marL="9525" marR="9525" marT="9525" marB="0" anchor="b"/>
                </a:tc>
                <a:extLst>
                  <a:ext uri="{0D108BD9-81ED-4DB2-BD59-A6C34878D82A}">
                    <a16:rowId xmlns:a16="http://schemas.microsoft.com/office/drawing/2014/main" val="309501235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Immundisolibacter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Actinokineospora  </a:t>
                      </a:r>
                    </a:p>
                  </a:txBody>
                  <a:tcPr marL="9525" marR="9525" marT="9525" marB="0" anchor="b"/>
                </a:tc>
                <a:extLst>
                  <a:ext uri="{0D108BD9-81ED-4DB2-BD59-A6C34878D82A}">
                    <a16:rowId xmlns:a16="http://schemas.microsoft.com/office/drawing/2014/main" val="917019206"/>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Ammoniphilus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Geothrix  </a:t>
                      </a:r>
                    </a:p>
                  </a:txBody>
                  <a:tcPr marL="9525" marR="9525" marT="9525" marB="0" anchor="b"/>
                </a:tc>
                <a:extLst>
                  <a:ext uri="{0D108BD9-81ED-4DB2-BD59-A6C34878D82A}">
                    <a16:rowId xmlns:a16="http://schemas.microsoft.com/office/drawing/2014/main" val="3116390992"/>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Subgroup 10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Fundidesulfovibrio  </a:t>
                      </a:r>
                    </a:p>
                  </a:txBody>
                  <a:tcPr marL="9525" marR="9525" marT="9525" marB="0" anchor="b"/>
                </a:tc>
                <a:extLst>
                  <a:ext uri="{0D108BD9-81ED-4DB2-BD59-A6C34878D82A}">
                    <a16:rowId xmlns:a16="http://schemas.microsoft.com/office/drawing/2014/main" val="1594773928"/>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Papillibacter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Imperialibacter  </a:t>
                      </a:r>
                    </a:p>
                  </a:txBody>
                  <a:tcPr marL="9525" marR="9525" marT="9525" marB="0" anchor="b"/>
                </a:tc>
                <a:extLst>
                  <a:ext uri="{0D108BD9-81ED-4DB2-BD59-A6C34878D82A}">
                    <a16:rowId xmlns:a16="http://schemas.microsoft.com/office/drawing/2014/main" val="143412487"/>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Altericroceibacterium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CL500-3  </a:t>
                      </a:r>
                    </a:p>
                  </a:txBody>
                  <a:tcPr marL="9525" marR="9525" marT="9525" marB="0" anchor="b"/>
                </a:tc>
                <a:extLst>
                  <a:ext uri="{0D108BD9-81ED-4DB2-BD59-A6C34878D82A}">
                    <a16:rowId xmlns:a16="http://schemas.microsoft.com/office/drawing/2014/main" val="1985009116"/>
                  </a:ext>
                </a:extLst>
              </a:tr>
              <a:tr h="1644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Sorangium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Caedibacter  </a:t>
                      </a:r>
                    </a:p>
                  </a:txBody>
                  <a:tcPr marL="9525" marR="9525" marT="9525" marB="0" anchor="b"/>
                </a:tc>
                <a:extLst>
                  <a:ext uri="{0D108BD9-81ED-4DB2-BD59-A6C34878D82A}">
                    <a16:rowId xmlns:a16="http://schemas.microsoft.com/office/drawing/2014/main" val="229922658"/>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Stenotrophobacter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Acrocarpospora  </a:t>
                      </a:r>
                    </a:p>
                  </a:txBody>
                  <a:tcPr marL="9525" marR="9525" marT="9525" marB="0" anchor="b"/>
                </a:tc>
                <a:extLst>
                  <a:ext uri="{0D108BD9-81ED-4DB2-BD59-A6C34878D82A}">
                    <a16:rowId xmlns:a16="http://schemas.microsoft.com/office/drawing/2014/main" val="1015200171"/>
                  </a:ext>
                </a:extLst>
              </a:tr>
              <a:tr h="240168">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Aquisphaera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Rhodovastum  </a:t>
                      </a:r>
                    </a:p>
                  </a:txBody>
                  <a:tcPr marL="9525" marR="9525" marT="9525" marB="0" anchor="b"/>
                </a:tc>
                <a:extLst>
                  <a:ext uri="{0D108BD9-81ED-4DB2-BD59-A6C34878D82A}">
                    <a16:rowId xmlns:a16="http://schemas.microsoft.com/office/drawing/2014/main" val="1180289669"/>
                  </a:ext>
                </a:extLst>
              </a:tr>
              <a:tr h="32014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Dechloromonas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Skermanella  </a:t>
                      </a:r>
                    </a:p>
                  </a:txBody>
                  <a:tcPr marL="9525" marR="9525" marT="9525" marB="0" anchor="b"/>
                </a:tc>
                <a:extLst>
                  <a:ext uri="{0D108BD9-81ED-4DB2-BD59-A6C34878D82A}">
                    <a16:rowId xmlns:a16="http://schemas.microsoft.com/office/drawing/2014/main" val="4211420371"/>
                  </a:ext>
                </a:extLst>
              </a:tr>
              <a:tr h="221406">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Methylobacillus</a:t>
                      </a:r>
                      <a:r>
                        <a:rPr lang="en-US" sz="11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Gemmobacter</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26222321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144733073"/>
              </p:ext>
            </p:extLst>
          </p:nvPr>
        </p:nvGraphicFramePr>
        <p:xfrm>
          <a:off x="4191000" y="1219200"/>
          <a:ext cx="4495800" cy="547514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2664">
                  <a:extLst>
                    <a:ext uri="{9D8B030D-6E8A-4147-A177-3AD203B41FA5}">
                      <a16:colId xmlns:a16="http://schemas.microsoft.com/office/drawing/2014/main" val="806990348"/>
                    </a:ext>
                  </a:extLst>
                </a:gridCol>
                <a:gridCol w="1447800">
                  <a:extLst>
                    <a:ext uri="{9D8B030D-6E8A-4147-A177-3AD203B41FA5}">
                      <a16:colId xmlns:a16="http://schemas.microsoft.com/office/drawing/2014/main" val="1588175367"/>
                    </a:ext>
                  </a:extLst>
                </a:gridCol>
              </a:tblGrid>
              <a:tr h="36581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effectLst/>
                          <a:latin typeface="Times New Roman" panose="02020603050405020304" pitchFamily="18" charset="0"/>
                          <a:cs typeface="Times New Roman" panose="02020603050405020304" pitchFamily="18" charset="0"/>
                        </a:rPr>
                        <a:t>Soil</a:t>
                      </a:r>
                      <a:r>
                        <a:rPr lang="en-US" sz="1200" b="1" u="none" strike="noStrike" baseline="0" dirty="0" smtClean="0">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Pusillibacter  </a:t>
                      </a:r>
                    </a:p>
                  </a:txBody>
                  <a:tcPr marL="9525" marR="9525" marT="9525" marB="0" anchor="b">
                    <a:no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Plot4-2H12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Pseudarthrobacter  </a:t>
                      </a:r>
                    </a:p>
                  </a:txBody>
                  <a:tcPr marL="9525" marR="9525" marT="9525" marB="0" anchor="b">
                    <a:noFill/>
                  </a:tcPr>
                </a:tc>
                <a:extLst>
                  <a:ext uri="{0D108BD9-81ED-4DB2-BD59-A6C34878D82A}">
                    <a16:rowId xmlns:a16="http://schemas.microsoft.com/office/drawing/2014/main" val="1993406850"/>
                  </a:ext>
                </a:extLst>
              </a:tr>
              <a:tr h="32395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Ruminofilibacter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Pseudarthrobacter  </a:t>
                      </a:r>
                    </a:p>
                  </a:txBody>
                  <a:tcPr marL="9525" marR="9525" marT="9525" marB="0" anchor="b">
                    <a:no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Plot4-2H12  </a:t>
                      </a:r>
                    </a:p>
                  </a:txBody>
                  <a:tcPr marL="9525" marR="9525" marT="9525" marB="0" anchor="b">
                    <a:solidFill>
                      <a:srgbClr val="FFFF7D"/>
                    </a:solidFill>
                  </a:tcPr>
                </a:tc>
                <a:extLst>
                  <a:ext uri="{0D108BD9-81ED-4DB2-BD59-A6C34878D82A}">
                    <a16:rowId xmlns:a16="http://schemas.microsoft.com/office/drawing/2014/main" val="1874311317"/>
                  </a:ext>
                </a:extLst>
              </a:tr>
              <a:tr h="42992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cs typeface="Times New Roman" panose="02020603050405020304" pitchFamily="18" charset="0"/>
                        </a:rPr>
                        <a:t>Plot4-2H12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Runella</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Runella</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extLst>
                  <a:ext uri="{0D108BD9-81ED-4DB2-BD59-A6C34878D82A}">
                    <a16:rowId xmlns:a16="http://schemas.microsoft.com/office/drawing/2014/main" val="4285260815"/>
                  </a:ext>
                </a:extLst>
              </a:tr>
              <a:tr h="33610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Constrictibacter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Pusillibacter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Inhella  </a:t>
                      </a:r>
                    </a:p>
                  </a:txBody>
                  <a:tcPr marL="9525" marR="9525" marT="9525" marB="0" anchor="b"/>
                </a:tc>
                <a:extLst>
                  <a:ext uri="{0D108BD9-81ED-4DB2-BD59-A6C34878D82A}">
                    <a16:rowId xmlns:a16="http://schemas.microsoft.com/office/drawing/2014/main" val="3953385741"/>
                  </a:ext>
                </a:extLst>
              </a:tr>
              <a:tr h="210717">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Ketobacter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Dyadobacter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Ferribacterium  </a:t>
                      </a:r>
                    </a:p>
                  </a:txBody>
                  <a:tcPr marL="9525" marR="9525" marT="9525" marB="0" anchor="b"/>
                </a:tc>
                <a:extLst>
                  <a:ext uri="{0D108BD9-81ED-4DB2-BD59-A6C34878D82A}">
                    <a16:rowId xmlns:a16="http://schemas.microsoft.com/office/drawing/2014/main" val="4110988134"/>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Dyella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Fimbriiglobus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Dyadobacter  </a:t>
                      </a:r>
                    </a:p>
                  </a:txBody>
                  <a:tcPr marL="9525" marR="9525" marT="9525" marB="0" anchor="b">
                    <a:noFill/>
                  </a:tcPr>
                </a:tc>
                <a:extLst>
                  <a:ext uri="{0D108BD9-81ED-4DB2-BD59-A6C34878D82A}">
                    <a16:rowId xmlns:a16="http://schemas.microsoft.com/office/drawing/2014/main" val="20653327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Cerasicoccus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Leeia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IS-44  </a:t>
                      </a:r>
                    </a:p>
                  </a:txBody>
                  <a:tcPr marL="9525" marR="9525" marT="9525" marB="0" anchor="b"/>
                </a:tc>
                <a:extLst>
                  <a:ext uri="{0D108BD9-81ED-4DB2-BD59-A6C34878D82A}">
                    <a16:rowId xmlns:a16="http://schemas.microsoft.com/office/drawing/2014/main" val="232505674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Methyloceanibacter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Amaricoccus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Brevifollis  </a:t>
                      </a:r>
                    </a:p>
                  </a:txBody>
                  <a:tcPr marL="9525" marR="9525" marT="9525" marB="0" anchor="b">
                    <a:noFill/>
                  </a:tcPr>
                </a:tc>
                <a:extLst>
                  <a:ext uri="{0D108BD9-81ED-4DB2-BD59-A6C34878D82A}">
                    <a16:rowId xmlns:a16="http://schemas.microsoft.com/office/drawing/2014/main" val="4118712325"/>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Ketobacter</a:t>
                      </a:r>
                      <a:r>
                        <a:rPr lang="en-US" sz="1100" b="0"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Pararhizobium  </a:t>
                      </a:r>
                    </a:p>
                  </a:txBody>
                  <a:tcPr marL="9525" marR="9525" marT="9525" marB="0" anchor="b">
                    <a:noFill/>
                  </a:tcPr>
                </a:tc>
                <a:extLst>
                  <a:ext uri="{0D108BD9-81ED-4DB2-BD59-A6C34878D82A}">
                    <a16:rowId xmlns:a16="http://schemas.microsoft.com/office/drawing/2014/main" val="2118482760"/>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Ferribacterium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Ruminofilibacter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Leeia  </a:t>
                      </a:r>
                    </a:p>
                  </a:txBody>
                  <a:tcPr marL="9525" marR="9525" marT="9525" marB="0" anchor="b"/>
                </a:tc>
                <a:extLst>
                  <a:ext uri="{0D108BD9-81ED-4DB2-BD59-A6C34878D82A}">
                    <a16:rowId xmlns:a16="http://schemas.microsoft.com/office/drawing/2014/main" val="3095012359"/>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Hydrogenispora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Rhodopila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Solimonas  </a:t>
                      </a:r>
                    </a:p>
                  </a:txBody>
                  <a:tcPr marL="9525" marR="9525" marT="9525" marB="0" anchor="b">
                    <a:noFill/>
                  </a:tcPr>
                </a:tc>
                <a:extLst>
                  <a:ext uri="{0D108BD9-81ED-4DB2-BD59-A6C34878D82A}">
                    <a16:rowId xmlns:a16="http://schemas.microsoft.com/office/drawing/2014/main" val="917019206"/>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Fimbriiglobus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Dechloromonas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Bauldia  </a:t>
                      </a:r>
                    </a:p>
                  </a:txBody>
                  <a:tcPr marL="9525" marR="9525" marT="9525" marB="0" anchor="b">
                    <a:noFill/>
                  </a:tcPr>
                </a:tc>
                <a:extLst>
                  <a:ext uri="{0D108BD9-81ED-4DB2-BD59-A6C34878D82A}">
                    <a16:rowId xmlns:a16="http://schemas.microsoft.com/office/drawing/2014/main" val="3116390992"/>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Methanosarcina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Brevifollis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Constrictibacter  </a:t>
                      </a:r>
                    </a:p>
                  </a:txBody>
                  <a:tcPr marL="9525" marR="9525" marT="9525" marB="0" anchor="b"/>
                </a:tc>
                <a:extLst>
                  <a:ext uri="{0D108BD9-81ED-4DB2-BD59-A6C34878D82A}">
                    <a16:rowId xmlns:a16="http://schemas.microsoft.com/office/drawing/2014/main" val="1594773928"/>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DSSD61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Bauldia  </a:t>
                      </a:r>
                    </a:p>
                  </a:txBody>
                  <a:tcPr marL="9525" marR="9525" marT="9525" marB="0" anchor="b"/>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Dechloromonas  </a:t>
                      </a:r>
                    </a:p>
                  </a:txBody>
                  <a:tcPr marL="9525" marR="9525" marT="9525" marB="0" anchor="b">
                    <a:noFill/>
                  </a:tcPr>
                </a:tc>
                <a:extLst>
                  <a:ext uri="{0D108BD9-81ED-4DB2-BD59-A6C34878D82A}">
                    <a16:rowId xmlns:a16="http://schemas.microsoft.com/office/drawing/2014/main" val="143412487"/>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Afipia  </a:t>
                      </a:r>
                    </a:p>
                  </a:txBody>
                  <a:tcPr marL="9525" marR="9525" marT="9525" marB="0" anchor="b">
                    <a:no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Afipia  </a:t>
                      </a:r>
                    </a:p>
                  </a:txBody>
                  <a:tcPr marL="9525" marR="9525" marT="9525" marB="0" anchor="b">
                    <a:noFill/>
                  </a:tcPr>
                </a:tc>
                <a:extLst>
                  <a:ext uri="{0D108BD9-81ED-4DB2-BD59-A6C34878D82A}">
                    <a16:rowId xmlns:a16="http://schemas.microsoft.com/office/drawing/2014/main" val="1985009116"/>
                  </a:ext>
                </a:extLst>
              </a:tr>
              <a:tr h="17269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BIyi10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Inhella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Dyella  </a:t>
                      </a:r>
                    </a:p>
                  </a:txBody>
                  <a:tcPr marL="9525" marR="9525" marT="9525" marB="0" anchor="b">
                    <a:noFill/>
                  </a:tcPr>
                </a:tc>
                <a:extLst>
                  <a:ext uri="{0D108BD9-81ED-4DB2-BD59-A6C34878D82A}">
                    <a16:rowId xmlns:a16="http://schemas.microsoft.com/office/drawing/2014/main" val="229922658"/>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Runella</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Solimonas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DSSD61  </a:t>
                      </a:r>
                    </a:p>
                  </a:txBody>
                  <a:tcPr marL="9525" marR="9525" marT="9525" marB="0" anchor="b">
                    <a:noFill/>
                  </a:tcPr>
                </a:tc>
                <a:extLst>
                  <a:ext uri="{0D108BD9-81ED-4DB2-BD59-A6C34878D82A}">
                    <a16:rowId xmlns:a16="http://schemas.microsoft.com/office/drawing/2014/main" val="1015200171"/>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IS-44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BIyi10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Caldicoprobacter  </a:t>
                      </a:r>
                    </a:p>
                  </a:txBody>
                  <a:tcPr marL="9525" marR="9525" marT="9525" marB="0" anchor="b"/>
                </a:tc>
                <a:extLst>
                  <a:ext uri="{0D108BD9-81ED-4DB2-BD59-A6C34878D82A}">
                    <a16:rowId xmlns:a16="http://schemas.microsoft.com/office/drawing/2014/main" val="1180289669"/>
                  </a:ext>
                </a:extLst>
              </a:tr>
              <a:tr h="289280">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Microbacterium  </a:t>
                      </a:r>
                    </a:p>
                  </a:txBody>
                  <a:tcPr marL="9525" marR="9525" marT="9525" marB="0" anchor="b">
                    <a:noFill/>
                  </a:tcPr>
                </a:tc>
                <a:tc>
                  <a:txBody>
                    <a:bodyPr/>
                    <a:lstStyle/>
                    <a:p>
                      <a:pPr algn="ctr" fontAlgn="b"/>
                      <a:r>
                        <a:rPr lang="en-US" sz="1100" b="0" i="0" u="none" strike="noStrike">
                          <a:solidFill>
                            <a:srgbClr val="000000"/>
                          </a:solidFill>
                          <a:effectLst/>
                          <a:latin typeface="Times New Roman" panose="02020603050405020304" pitchFamily="18" charset="0"/>
                          <a:cs typeface="Times New Roman" panose="02020603050405020304" pitchFamily="18" charset="0"/>
                        </a:rPr>
                        <a:t>Flavimaricola  </a:t>
                      </a:r>
                    </a:p>
                  </a:txBody>
                  <a:tcPr marL="9525" marR="9525" marT="9525" marB="0" anchor="b">
                    <a:noFill/>
                  </a:tcPr>
                </a:tc>
                <a:tc>
                  <a:txBody>
                    <a:bodyPr/>
                    <a:lstStyle/>
                    <a:p>
                      <a:pPr algn="ctr" fontAlgn="b"/>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Candidatus</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100" b="1" i="0" u="none" strike="noStrike" dirty="0" err="1">
                          <a:solidFill>
                            <a:srgbClr val="000000"/>
                          </a:solidFill>
                          <a:effectLst/>
                          <a:latin typeface="Times New Roman" panose="02020603050405020304" pitchFamily="18" charset="0"/>
                          <a:cs typeface="Times New Roman" panose="02020603050405020304" pitchFamily="18" charset="0"/>
                        </a:rPr>
                        <a:t>Berkiella</a:t>
                      </a:r>
                      <a:r>
                        <a:rPr lang="en-US" sz="1100" b="1" i="0" u="none" strike="noStrike" dirty="0">
                          <a:solidFill>
                            <a:srgbClr val="000000"/>
                          </a:solidFill>
                          <a:effectLst/>
                          <a:latin typeface="Times New Roman" panose="02020603050405020304" pitchFamily="18" charset="0"/>
                          <a:cs typeface="Times New Roman" panose="02020603050405020304" pitchFamily="18" charset="0"/>
                        </a:rPr>
                        <a:t>  </a:t>
                      </a:r>
                    </a:p>
                  </a:txBody>
                  <a:tcPr marL="9525" marR="9525" marT="9525" marB="0" anchor="b">
                    <a:solidFill>
                      <a:srgbClr val="FFFF7D"/>
                    </a:solidFill>
                  </a:tcPr>
                </a:tc>
                <a:extLst>
                  <a:ext uri="{0D108BD9-81ED-4DB2-BD59-A6C34878D82A}">
                    <a16:rowId xmlns:a16="http://schemas.microsoft.com/office/drawing/2014/main" val="4211420371"/>
                  </a:ext>
                </a:extLst>
              </a:tr>
              <a:tr h="266681">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Rhodopila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no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Pararhizobium</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noFill/>
                  </a:tcPr>
                </a:tc>
                <a:tc>
                  <a:txBody>
                    <a:bodyPr/>
                    <a:lstStyle/>
                    <a:p>
                      <a:pPr algn="ctr" fontAlgn="b"/>
                      <a:r>
                        <a:rPr lang="en-US" sz="1100" b="0" i="0" u="none" strike="noStrike" dirty="0" err="1">
                          <a:solidFill>
                            <a:srgbClr val="000000"/>
                          </a:solidFill>
                          <a:effectLst/>
                          <a:latin typeface="Times New Roman" panose="02020603050405020304" pitchFamily="18" charset="0"/>
                          <a:cs typeface="Times New Roman" panose="02020603050405020304" pitchFamily="18" charset="0"/>
                        </a:rPr>
                        <a:t>Hydrogenispora</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tc>
                <a:extLst>
                  <a:ext uri="{0D108BD9-81ED-4DB2-BD59-A6C34878D82A}">
                    <a16:rowId xmlns:a16="http://schemas.microsoft.com/office/drawing/2014/main" val="2622232106"/>
                  </a:ext>
                </a:extLst>
              </a:tr>
            </a:tbl>
          </a:graphicData>
        </a:graphic>
      </p:graphicFrame>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175319832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90600" y="152400"/>
            <a:ext cx="8229600" cy="723900"/>
          </a:xfrm>
        </p:spPr>
        <p:txBody>
          <a:bodyPr/>
          <a:lstStyle/>
          <a:p>
            <a:pPr algn="ctr"/>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FFFF00"/>
                </a:solidFill>
                <a:latin typeface="Times New Roman" panose="02020603050405020304" pitchFamily="18" charset="0"/>
                <a:cs typeface="Times New Roman" panose="02020603050405020304" pitchFamily="18" charset="0"/>
              </a:rPr>
              <a:t>shapG</a:t>
            </a:r>
            <a:r>
              <a:rPr lang="en-US" sz="2000" dirty="0">
                <a:solidFill>
                  <a:srgbClr val="000000"/>
                </a:solidFill>
                <a:latin typeface="Times New Roman" panose="02020603050405020304" pitchFamily="18" charset="0"/>
                <a:cs typeface="Times New Roman" panose="02020603050405020304" pitchFamily="18" charset="0"/>
              </a:rPr>
              <a:t> 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Novaseq</a:t>
            </a:r>
            <a:r>
              <a:rPr lang="en-US" sz="2000" dirty="0" smtClean="0">
                <a:solidFill>
                  <a:srgbClr val="FFFF00"/>
                </a:solidFill>
                <a:latin typeface="Times New Roman" panose="02020603050405020304" pitchFamily="18" charset="0"/>
                <a:cs typeface="Times New Roman" panose="02020603050405020304" pitchFamily="18" charset="0"/>
              </a:rPr>
              <a:t>, </a:t>
            </a:r>
            <a:r>
              <a:rPr lang="en-US" sz="2000" dirty="0">
                <a:solidFill>
                  <a:srgbClr val="FFFF00"/>
                </a:solidFill>
                <a:latin typeface="Times New Roman" panose="02020603050405020304" pitchFamily="18" charset="0"/>
                <a:cs typeface="Times New Roman" panose="02020603050405020304" pitchFamily="18" charset="0"/>
              </a:rPr>
              <a:t>Random Forest</a:t>
            </a:r>
            <a:endParaRPr lang="en-US" sz="2000" b="0" dirty="0">
              <a:solidFill>
                <a:srgbClr val="FF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4450813" y="3244334"/>
            <a:ext cx="242374" cy="369332"/>
          </a:xfrm>
          <a:prstGeom prst="rect">
            <a:avLst/>
          </a:prstGeom>
        </p:spPr>
        <p:txBody>
          <a:bodyPr wrap="none">
            <a:spAutoFit/>
          </a:bodyPr>
          <a:lstStyle/>
          <a:p>
            <a:r>
              <a:rPr lang="en-US" dirty="0">
                <a:solidFill>
                  <a:srgbClr val="000000"/>
                </a:solidFill>
                <a:latin typeface="Times New Roman" panose="02020603050405020304" pitchFamily="18" charset="0"/>
              </a:rPr>
              <a:t> </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752600"/>
            <a:ext cx="8229600" cy="4080222"/>
          </a:xfrm>
          <a:prstGeom prst="rect">
            <a:avLst/>
          </a:prstGeom>
        </p:spPr>
      </p:pic>
    </p:spTree>
    <p:extLst>
      <p:ext uri="{BB962C8B-B14F-4D97-AF65-F5344CB8AC3E}">
        <p14:creationId xmlns:p14="http://schemas.microsoft.com/office/powerpoint/2010/main" val="16198679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of </a:t>
            </a:r>
            <a:r>
              <a:rPr lang="en-US" sz="2400" dirty="0" smtClean="0">
                <a:solidFill>
                  <a:srgbClr val="FFFF00"/>
                </a:solidFill>
                <a:latin typeface="Times New Roman" panose="02020603050405020304" pitchFamily="18" charset="0"/>
                <a:cs typeface="Times New Roman" panose="02020603050405020304" pitchFamily="18" charset="0"/>
              </a:rPr>
              <a:t>Top 20 </a:t>
            </a:r>
            <a:r>
              <a:rPr lang="en-US" sz="2400" dirty="0" smtClean="0">
                <a:solidFill>
                  <a:srgbClr val="000000"/>
                </a:solidFill>
                <a:latin typeface="Times New Roman" panose="02020603050405020304" pitchFamily="18" charset="0"/>
                <a:cs typeface="Times New Roman" panose="02020603050405020304" pitchFamily="18" charset="0"/>
              </a:rPr>
              <a:t>SHAP</a:t>
            </a:r>
            <a:r>
              <a:rPr lang="en-US" sz="2400" dirty="0" smtClean="0">
                <a:solidFill>
                  <a:srgbClr val="FFFF00"/>
                </a:solidFill>
                <a:latin typeface="Times New Roman" panose="02020603050405020304" pitchFamily="18" charset="0"/>
                <a:cs typeface="Times New Roman" panose="02020603050405020304" pitchFamily="18" charset="0"/>
              </a:rPr>
              <a:t>G</a:t>
            </a:r>
            <a:r>
              <a:rPr lang="en-US" sz="2400" dirty="0" smtClean="0">
                <a:solidFill>
                  <a:srgbClr val="000000"/>
                </a:solidFill>
                <a:latin typeface="Times New Roman" panose="02020603050405020304" pitchFamily="18" charset="0"/>
                <a:cs typeface="Times New Roman" panose="02020603050405020304" pitchFamily="18" charset="0"/>
              </a:rPr>
              <a:t> Features for </a:t>
            </a:r>
            <a:r>
              <a:rPr lang="en-US" sz="2400" dirty="0" err="1" smtClean="0">
                <a:solidFill>
                  <a:srgbClr val="FFFF00"/>
                </a:solidFill>
                <a:latin typeface="Times New Roman" panose="02020603050405020304" pitchFamily="18" charset="0"/>
                <a:cs typeface="Times New Roman" panose="02020603050405020304" pitchFamily="18" charset="0"/>
              </a:rPr>
              <a:t>Aviti</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graphicFrame>
        <p:nvGraphicFramePr>
          <p:cNvPr id="5" name="Table 4"/>
          <p:cNvGraphicFramePr>
            <a:graphicFrameLocks noGrp="1"/>
          </p:cNvGraphicFramePr>
          <p:nvPr>
            <p:extLst>
              <p:ext uri="{D42A27DB-BD31-4B8C-83A1-F6EECF244321}">
                <p14:modId xmlns:p14="http://schemas.microsoft.com/office/powerpoint/2010/main" val="1593733187"/>
              </p:ext>
            </p:extLst>
          </p:nvPr>
        </p:nvGraphicFramePr>
        <p:xfrm>
          <a:off x="4191000" y="1193800"/>
          <a:ext cx="4495800" cy="498918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Pusillibacter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Methylobacter  </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oc32  </a:t>
                      </a:r>
                    </a:p>
                  </a:txBody>
                  <a:tcPr marL="9525" marR="9525" marT="9525" marB="0" anchor="b">
                    <a:solidFill>
                      <a:srgbClr val="FFFF7D"/>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BIyi10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Sneathiella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Sneathiella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Pusillibacter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Sphingorhabdus</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C1-B045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Labrys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Ideonella  </a:t>
                      </a:r>
                    </a:p>
                  </a:txBody>
                  <a:tcPr marL="9525" marR="9525" marT="9525" marB="0" anchor="b">
                    <a:solidFill>
                      <a:schemeClr val="bg1"/>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Methylobacter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BIyi10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Zavarzinella  </a:t>
                      </a:r>
                    </a:p>
                  </a:txBody>
                  <a:tcPr marL="9525" marR="9525" marT="9525" marB="0" anchor="b">
                    <a:solidFill>
                      <a:schemeClr val="bg1"/>
                    </a:solid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Ureibacillus  </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C1-B045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Labrys  </a:t>
                      </a:r>
                    </a:p>
                  </a:txBody>
                  <a:tcPr marL="9525" marR="9525" marT="9525" marB="0" anchor="b">
                    <a:solidFill>
                      <a:schemeClr val="bg1"/>
                    </a:solidFill>
                  </a:tcPr>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Parafilimonas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Niveispirillum  </a:t>
                      </a:r>
                    </a:p>
                  </a:txBody>
                  <a:tcPr marL="9525" marR="9525" marT="9525" marB="0" anchor="b">
                    <a:solidFill>
                      <a:schemeClr val="bg1"/>
                    </a:solidFill>
                  </a:tcPr>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Ideonella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Acidovorax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Planifilum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Roseimaritima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Planctopirus  </a:t>
                      </a:r>
                    </a:p>
                  </a:txBody>
                  <a:tcPr marL="9525" marR="9525" marT="9525" marB="0" anchor="b">
                    <a:solidFill>
                      <a:schemeClr val="bg1"/>
                    </a:solidFill>
                  </a:tcPr>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Planifilum</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Roseimaritima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Azotobacter  </a:t>
                      </a:r>
                    </a:p>
                  </a:txBody>
                  <a:tcPr marL="9525" marR="9525" marT="9525" marB="0" anchor="b">
                    <a:solidFill>
                      <a:schemeClr val="bg1"/>
                    </a:solidFill>
                  </a:tcPr>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Agrobacterium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Polycyclovorans  </a:t>
                      </a:r>
                    </a:p>
                  </a:txBody>
                  <a:tcPr marL="9525" marR="9525" marT="9525" marB="0" anchor="b">
                    <a:solidFill>
                      <a:schemeClr val="bg1"/>
                    </a:solid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Sphingorhabdus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Agrobacterium  </a:t>
                      </a:r>
                    </a:p>
                  </a:txBody>
                  <a:tcPr marL="9525" marR="9525" marT="9525" marB="0" anchor="b">
                    <a:solidFill>
                      <a:schemeClr val="bg1"/>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Zavarzinella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Acidovorax  </a:t>
                      </a:r>
                    </a:p>
                  </a:txBody>
                  <a:tcPr marL="9525" marR="9525" marT="9525" marB="0" anchor="b">
                    <a:solidFill>
                      <a:schemeClr val="bg1"/>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Solibacter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Hyphomicrobium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SWB02</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Gemmata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Chthonobacter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Spirochaeta 2  </a:t>
                      </a:r>
                    </a:p>
                  </a:txBody>
                  <a:tcPr marL="9525" marR="9525" marT="9525" marB="0" anchor="b">
                    <a:solidFill>
                      <a:schemeClr val="bg1"/>
                    </a:solidFill>
                  </a:tcPr>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Croceibacterium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Planifilum</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1" i="0" u="none" strike="noStrike" dirty="0">
                          <a:solidFill>
                            <a:srgbClr val="000000"/>
                          </a:solidFill>
                          <a:effectLst/>
                          <a:latin typeface="Calibri" panose="020F0502020204030204" pitchFamily="34" charset="0"/>
                        </a:rPr>
                        <a:t>BIyi10  </a:t>
                      </a:r>
                    </a:p>
                  </a:txBody>
                  <a:tcPr marL="9525" marR="9525" marT="9525" marB="0" anchor="b">
                    <a:solidFill>
                      <a:srgbClr val="FFFF7D"/>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Hyphomicrobium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Planctopirus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Candidatus Solibacter  </a:t>
                      </a:r>
                    </a:p>
                  </a:txBody>
                  <a:tcPr marL="9525" marR="9525" marT="9525" marB="0" anchor="b">
                    <a:solidFill>
                      <a:schemeClr val="bg1"/>
                    </a:solid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Polycyclovorans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Fermentimonas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Cellvibrio  </a:t>
                      </a:r>
                    </a:p>
                  </a:txBody>
                  <a:tcPr marL="9525" marR="9525" marT="9525" marB="0" anchor="b">
                    <a:solidFill>
                      <a:schemeClr val="bg1"/>
                    </a:solidFill>
                  </a:tcPr>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oc32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Cellvibrio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Ureibacillus  </a:t>
                      </a:r>
                    </a:p>
                  </a:txBody>
                  <a:tcPr marL="9525" marR="9525" marT="9525" marB="0" anchor="b">
                    <a:solidFill>
                      <a:schemeClr val="bg1"/>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Sphingorhabdus</a:t>
                      </a:r>
                      <a:endParaRPr lang="en-US" sz="1100" b="0" i="0" u="none" strike="noStrike" dirty="0">
                        <a:solidFill>
                          <a:srgbClr val="000000"/>
                        </a:solidFill>
                        <a:effectLst/>
                        <a:latin typeface="Calibri" panose="020F0502020204030204" pitchFamily="34" charset="0"/>
                      </a:endParaRPr>
                    </a:p>
                  </a:txBody>
                  <a:tcPr marL="9525" marR="9525" marT="9525" marB="0" anchor="b">
                    <a:solidFill>
                      <a:srgbClr val="FFFF7D"/>
                    </a:solidFill>
                  </a:tcPr>
                </a:tc>
                <a:tc>
                  <a:txBody>
                    <a:bodyPr/>
                    <a:lstStyle/>
                    <a:p>
                      <a:pPr algn="ctr" fontAlgn="b"/>
                      <a:r>
                        <a:rPr lang="en-US" sz="1100" b="0" i="0" u="none" strike="noStrike" dirty="0">
                          <a:solidFill>
                            <a:srgbClr val="000000"/>
                          </a:solidFill>
                          <a:effectLst/>
                          <a:latin typeface="Calibri" panose="020F0502020204030204" pitchFamily="34" charset="0"/>
                        </a:rPr>
                        <a:t>oc32</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2819579"/>
              </p:ext>
            </p:extLst>
          </p:nvPr>
        </p:nvGraphicFramePr>
        <p:xfrm>
          <a:off x="381000" y="1193800"/>
          <a:ext cx="3579813" cy="539391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Xanthomonas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Erythrobacter  </a:t>
                      </a: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Mesobacillus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Salinispira  </a:t>
                      </a: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Pseudofulvimonas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Acetobacter  </a:t>
                      </a: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Kaistia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Luteibacter  </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Pusillibacter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Spirochaeta  </a:t>
                      </a:r>
                    </a:p>
                  </a:txBody>
                  <a:tcPr marL="9525" marR="9525" marT="9525" marB="0" anchor="b"/>
                </a:tc>
                <a:extLst>
                  <a:ext uri="{0D108BD9-81ED-4DB2-BD59-A6C34878D82A}">
                    <a16:rowId xmlns:a16="http://schemas.microsoft.com/office/drawing/2014/main" val="4110988134"/>
                  </a:ext>
                </a:extLst>
              </a:tr>
              <a:tr h="56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Rhodovarius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Propionicicella  </a:t>
                      </a: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Imperialibacter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Tepidanaerobacter  </a:t>
                      </a: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Baekduia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Thermaerobacter  </a:t>
                      </a: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Methanosarcina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Leeia  </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Aetherobacter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[Polyangium] brachysporum group  </a:t>
                      </a: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Pelotalea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Mycobacterium  </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Erythrobacter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OLB13  </a:t>
                      </a: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OLB13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Lentzea  </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Hirschia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Roseateles  </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BBMC-4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Sediminibacterium  </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Niallia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Lacihabitans  </a:t>
                      </a: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Methylobacter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Candidatus Bealeia  </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Niastella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Candidatus Ovatusbacter  </a:t>
                      </a: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Tepidisphaera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Cavicella  </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Emticicia</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Allocatelliglobosispora</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29600917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7848600" cy="723900"/>
          </a:xfrm>
        </p:spPr>
        <p:txBody>
          <a:bodyPr/>
          <a:lstStyle/>
          <a:p>
            <a:r>
              <a:rPr lang="en-US" sz="2400" dirty="0">
                <a:solidFill>
                  <a:srgbClr val="000000"/>
                </a:solidFill>
                <a:latin typeface="Times New Roman" panose="02020603050405020304" pitchFamily="18" charset="0"/>
                <a:cs typeface="Times New Roman" panose="02020603050405020304" pitchFamily="18" charset="0"/>
              </a:rPr>
              <a:t>Boxplot of the </a:t>
            </a:r>
            <a:r>
              <a:rPr lang="en-US" sz="2400" dirty="0">
                <a:solidFill>
                  <a:srgbClr val="FFFF00"/>
                </a:solidFill>
                <a:latin typeface="Times New Roman" panose="02020603050405020304" pitchFamily="18" charset="0"/>
                <a:cs typeface="Times New Roman" panose="02020603050405020304" pitchFamily="18" charset="0"/>
              </a:rPr>
              <a:t>Soil</a:t>
            </a:r>
            <a:r>
              <a:rPr lang="en-US" sz="2400" dirty="0">
                <a:solidFill>
                  <a:srgbClr val="000000"/>
                </a:solidFill>
                <a:latin typeface="Times New Roman" panose="02020603050405020304" pitchFamily="18" charset="0"/>
                <a:cs typeface="Times New Roman" panose="02020603050405020304" pitchFamily="18" charset="0"/>
              </a:rPr>
              <a:t> </a:t>
            </a:r>
            <a:r>
              <a:rPr lang="en-US" sz="2400" dirty="0" err="1">
                <a:solidFill>
                  <a:srgbClr val="FFFF00"/>
                </a:solidFill>
                <a:latin typeface="Times New Roman" panose="02020603050405020304" pitchFamily="18" charset="0"/>
                <a:cs typeface="Times New Roman" panose="02020603050405020304" pitchFamily="18" charset="0"/>
              </a:rPr>
              <a:t>shapG</a:t>
            </a:r>
            <a:r>
              <a:rPr lang="en-US" sz="2400" dirty="0">
                <a:solidFill>
                  <a:srgbClr val="000000"/>
                </a:solidFill>
                <a:latin typeface="Times New Roman" panose="02020603050405020304" pitchFamily="18" charset="0"/>
                <a:cs typeface="Times New Roman" panose="02020603050405020304" pitchFamily="18" charset="0"/>
              </a:rPr>
              <a:t> features abundance for </a:t>
            </a:r>
            <a:r>
              <a:rPr lang="en-US" sz="2400" dirty="0" err="1" smtClean="0">
                <a:solidFill>
                  <a:srgbClr val="FFFF00"/>
                </a:solidFill>
                <a:latin typeface="Times New Roman" panose="02020603050405020304" pitchFamily="18" charset="0"/>
                <a:cs typeface="Times New Roman" panose="02020603050405020304" pitchFamily="18" charset="0"/>
              </a:rPr>
              <a:t>Aviti</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474" y="1676400"/>
            <a:ext cx="8682925" cy="4304980"/>
          </a:xfrm>
          <a:prstGeom prst="rect">
            <a:avLst/>
          </a:prstGeom>
        </p:spPr>
      </p:pic>
    </p:spTree>
    <p:extLst>
      <p:ext uri="{BB962C8B-B14F-4D97-AF65-F5344CB8AC3E}">
        <p14:creationId xmlns:p14="http://schemas.microsoft.com/office/powerpoint/2010/main" val="20152314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of </a:t>
            </a:r>
            <a:r>
              <a:rPr lang="en-US" sz="2400" dirty="0" smtClean="0">
                <a:solidFill>
                  <a:srgbClr val="FFFF00"/>
                </a:solidFill>
                <a:latin typeface="Times New Roman" panose="02020603050405020304" pitchFamily="18" charset="0"/>
                <a:cs typeface="Times New Roman" panose="02020603050405020304" pitchFamily="18" charset="0"/>
              </a:rPr>
              <a:t>Top 20 </a:t>
            </a:r>
            <a:r>
              <a:rPr lang="en-US" sz="2400" dirty="0" smtClean="0">
                <a:solidFill>
                  <a:srgbClr val="000000"/>
                </a:solidFill>
                <a:latin typeface="Times New Roman" panose="02020603050405020304" pitchFamily="18" charset="0"/>
                <a:cs typeface="Times New Roman" panose="02020603050405020304" pitchFamily="18" charset="0"/>
              </a:rPr>
              <a:t>SHAP</a:t>
            </a:r>
            <a:r>
              <a:rPr lang="en-US" sz="2400" dirty="0" smtClean="0">
                <a:solidFill>
                  <a:srgbClr val="FFFF00"/>
                </a:solidFill>
                <a:latin typeface="Times New Roman" panose="02020603050405020304" pitchFamily="18" charset="0"/>
                <a:cs typeface="Times New Roman" panose="02020603050405020304" pitchFamily="18" charset="0"/>
              </a:rPr>
              <a:t>G</a:t>
            </a:r>
            <a:r>
              <a:rPr lang="en-US" sz="2400" dirty="0" smtClean="0">
                <a:solidFill>
                  <a:srgbClr val="000000"/>
                </a:solidFill>
                <a:latin typeface="Times New Roman" panose="02020603050405020304" pitchFamily="18" charset="0"/>
                <a:cs typeface="Times New Roman" panose="02020603050405020304" pitchFamily="18" charset="0"/>
              </a:rPr>
              <a:t> Features for </a:t>
            </a:r>
            <a:r>
              <a:rPr lang="en-US" sz="2400" dirty="0" err="1" smtClean="0">
                <a:solidFill>
                  <a:srgbClr val="FFFF00"/>
                </a:solidFill>
                <a:latin typeface="Times New Roman" panose="02020603050405020304" pitchFamily="18" charset="0"/>
                <a:cs typeface="Times New Roman" panose="02020603050405020304" pitchFamily="18" charset="0"/>
              </a:rPr>
              <a:t>Miseq</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graphicFrame>
        <p:nvGraphicFramePr>
          <p:cNvPr id="5" name="Table 4"/>
          <p:cNvGraphicFramePr>
            <a:graphicFrameLocks noGrp="1"/>
          </p:cNvGraphicFramePr>
          <p:nvPr>
            <p:extLst>
              <p:ext uri="{D42A27DB-BD31-4B8C-83A1-F6EECF244321}">
                <p14:modId xmlns:p14="http://schemas.microsoft.com/office/powerpoint/2010/main" val="791084121"/>
              </p:ext>
            </p:extLst>
          </p:nvPr>
        </p:nvGraphicFramePr>
        <p:xfrm>
          <a:off x="4191000" y="1193800"/>
          <a:ext cx="4495800" cy="482154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160206">
                  <a:extLst>
                    <a:ext uri="{9D8B030D-6E8A-4147-A177-3AD203B41FA5}">
                      <a16:colId xmlns:a16="http://schemas.microsoft.com/office/drawing/2014/main" val="806990348"/>
                    </a:ext>
                  </a:extLst>
                </a:gridCol>
                <a:gridCol w="1450258">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Bradyrhizobium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Arsenicitalea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Shinella  </a:t>
                      </a:r>
                    </a:p>
                  </a:txBody>
                  <a:tcPr marL="9525" marR="9525" marT="9525" marB="0" anchor="b">
                    <a:solidFill>
                      <a:schemeClr val="bg1"/>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Dokdonella</a:t>
                      </a:r>
                      <a:r>
                        <a:rPr lang="en-US" sz="1100" b="1" i="0" u="none" strike="noStrike"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Ilumatobacter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Sphingorhabdus  </a:t>
                      </a:r>
                    </a:p>
                  </a:txBody>
                  <a:tcPr marL="9525" marR="9525" marT="9525" marB="0" anchor="b">
                    <a:solidFill>
                      <a:schemeClr val="bg1"/>
                    </a:solidFill>
                  </a:tcPr>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CL500-3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Sphingopyxis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Ferribacterium  </a:t>
                      </a:r>
                    </a:p>
                  </a:txBody>
                  <a:tcPr marL="9525" marR="9525" marT="9525" marB="0" anchor="b">
                    <a:solidFill>
                      <a:schemeClr val="bg1"/>
                    </a:solid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Arsenicitalea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Kineobactrum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Bosea  </a:t>
                      </a:r>
                    </a:p>
                  </a:txBody>
                  <a:tcPr marL="9525" marR="9525" marT="9525" marB="0" anchor="b">
                    <a:solidFill>
                      <a:schemeClr val="bg1"/>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Geomonas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Methylophilus</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Kineobactrum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Luteolibacter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Rubrivivax  </a:t>
                      </a:r>
                    </a:p>
                  </a:txBody>
                  <a:tcPr marL="9525" marR="9525" marT="9525" marB="0" anchor="b">
                    <a:solidFill>
                      <a:schemeClr val="bg1"/>
                    </a:solidFill>
                  </a:tcPr>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Polycyclovorans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Dokdonella</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Dechloromonas  </a:t>
                      </a:r>
                    </a:p>
                  </a:txBody>
                  <a:tcPr marL="9525" marR="9525" marT="9525" marB="0" anchor="b">
                    <a:solidFill>
                      <a:schemeClr val="bg1"/>
                    </a:solidFill>
                  </a:tcPr>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Gemmata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Planctomicrobium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Luteolibacter  </a:t>
                      </a:r>
                    </a:p>
                  </a:txBody>
                  <a:tcPr marL="9525" marR="9525" marT="9525" marB="0" anchor="b">
                    <a:solidFill>
                      <a:schemeClr val="bg1"/>
                    </a:solid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Ilumatobacter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Paludibaculum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Geomonas  </a:t>
                      </a:r>
                    </a:p>
                  </a:txBody>
                  <a:tcPr marL="9525" marR="9525" marT="9525" marB="0" anchor="b">
                    <a:solidFill>
                      <a:schemeClr val="bg1"/>
                    </a:solidFill>
                  </a:tcPr>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JGI 0001001-H03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OLB12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Pedomicrobium  </a:t>
                      </a:r>
                    </a:p>
                  </a:txBody>
                  <a:tcPr marL="9525" marR="9525" marT="9525" marB="0" anchor="b">
                    <a:solidFill>
                      <a:schemeClr val="bg1"/>
                    </a:solidFill>
                  </a:tcPr>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Croceibacterium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Massilia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CL500-29 marine group  </a:t>
                      </a:r>
                    </a:p>
                  </a:txBody>
                  <a:tcPr marL="9525" marR="9525" marT="9525" marB="0" anchor="b">
                    <a:solidFill>
                      <a:schemeClr val="bg1"/>
                    </a:solid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Planctomicrobium</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CL500-3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Dokdonella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Dechloromonas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Gemmata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Gaiella  </a:t>
                      </a:r>
                    </a:p>
                  </a:txBody>
                  <a:tcPr marL="9525" marR="9525" marT="9525" marB="0" anchor="b">
                    <a:solidFill>
                      <a:schemeClr val="bg1"/>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SWB02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Methylophilus</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Bradyrhizobium  </a:t>
                      </a:r>
                    </a:p>
                  </a:txBody>
                  <a:tcPr marL="9525" marR="9525" marT="9525" marB="0" anchor="b">
                    <a:solidFill>
                      <a:schemeClr val="bg1"/>
                    </a:solidFill>
                  </a:tcPr>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Paludibaculum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mle1-7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OLB12  </a:t>
                      </a:r>
                    </a:p>
                  </a:txBody>
                  <a:tcPr marL="9525" marR="9525" marT="9525" marB="0" anchor="b">
                    <a:solidFill>
                      <a:schemeClr val="bg1"/>
                    </a:solidFill>
                  </a:tcPr>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Coxiella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Pseudomonas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Pirellula  </a:t>
                      </a:r>
                    </a:p>
                  </a:txBody>
                  <a:tcPr marL="9525" marR="9525" marT="9525" marB="0" anchor="b">
                    <a:solidFill>
                      <a:schemeClr val="bg1"/>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Opitutus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Opitutus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Sphingomonas  </a:t>
                      </a:r>
                    </a:p>
                  </a:txBody>
                  <a:tcPr marL="9525" marR="9525" marT="9525" marB="0" anchor="b">
                    <a:solidFill>
                      <a:schemeClr val="bg1"/>
                    </a:solid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Ferribacterium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Pirellula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SWB02  </a:t>
                      </a:r>
                    </a:p>
                  </a:txBody>
                  <a:tcPr marL="9525" marR="9525" marT="9525" marB="0" anchor="b">
                    <a:solidFill>
                      <a:srgbClr val="FFFF7D"/>
                    </a:solidFill>
                  </a:tcPr>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Shinella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MND1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JGI 0001001-H03  </a:t>
                      </a:r>
                    </a:p>
                  </a:txBody>
                  <a:tcPr marL="9525" marR="9525" marT="9525" marB="0" anchor="b">
                    <a:solidFill>
                      <a:schemeClr val="bg1"/>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rPr>
                        <a:t>Methylophilus</a:t>
                      </a:r>
                      <a:endParaRPr lang="en-US" sz="1100" b="1" i="0" u="none" strike="noStrike" dirty="0">
                        <a:solidFill>
                          <a:srgbClr val="000000"/>
                        </a:solidFill>
                        <a:effectLst/>
                        <a:latin typeface="Times New Roman" panose="02020603050405020304" pitchFamily="18" charset="0"/>
                        <a:ea typeface="Tahoma" panose="020B0604030504040204" pitchFamily="34" charset="0"/>
                        <a:cs typeface="Times New Roman" panose="02020603050405020304" pitchFamily="18" charset="0"/>
                      </a:endParaRP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Aquicella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Acidibacter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nvPr>
        </p:nvGraphicFramePr>
        <p:xfrm>
          <a:off x="381000" y="1193800"/>
          <a:ext cx="3579813" cy="522627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Mesobacillus  </a:t>
                      </a: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Pelagibius</a:t>
                      </a:r>
                      <a:r>
                        <a:rPr lang="en-US" sz="1100" b="0" i="0" u="none" strike="noStrike" dirty="0">
                          <a:solidFill>
                            <a:srgbClr val="000000"/>
                          </a:solidFill>
                          <a:effectLst/>
                          <a:latin typeface="Calibri" panose="020F0502020204030204" pitchFamily="34" charset="0"/>
                        </a:rPr>
                        <a:t>  </a:t>
                      </a: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mle1-7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YC-ZSS-LKJ147  </a:t>
                      </a: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YC-ZSS-LKJ147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Methylotenera  </a:t>
                      </a: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Imperialibacter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UBA6140  </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Panacagrimonas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Hydrogenophaga  </a:t>
                      </a:r>
                    </a:p>
                  </a:txBody>
                  <a:tcPr marL="9525" marR="9525" marT="9525" marB="0" anchor="b"/>
                </a:tc>
                <a:extLst>
                  <a:ext uri="{0D108BD9-81ED-4DB2-BD59-A6C34878D82A}">
                    <a16:rowId xmlns:a16="http://schemas.microsoft.com/office/drawing/2014/main" val="4110988134"/>
                  </a:ext>
                </a:extLst>
              </a:tr>
              <a:tr h="56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Dinghuibacter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Pseudolabrys  </a:t>
                      </a: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Parageobacillus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Rhodoferax  </a:t>
                      </a: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Chryseotalea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Aetherobacter  </a:t>
                      </a: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Rhodoplanes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Pedobacter  </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Abditibacterium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Phaselicystis  </a:t>
                      </a: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Hassallia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Ilumatobacter  </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Ferruginibacter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Paludibaculum  </a:t>
                      </a: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Chryseobacterium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Chthonobacter  </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Bauldia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Cereibacter  </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Chthoniobacter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Cytophaga  </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Chryseolinea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Ellin6055  </a:t>
                      </a: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Dokdonella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Gemmobacter  </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Lelliottia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Legionella  </a:t>
                      </a: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Aquicella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Ferruginibacter  </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Methyloceanibacter</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Ureibacillus</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15847392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FFFF00"/>
                </a:solidFill>
                <a:latin typeface="Times New Roman" panose="02020603050405020304" pitchFamily="18" charset="0"/>
                <a:cs typeface="Times New Roman" panose="02020603050405020304" pitchFamily="18" charset="0"/>
              </a:rPr>
              <a:t>shapG</a:t>
            </a:r>
            <a:r>
              <a:rPr lang="en-US" sz="2000" dirty="0">
                <a:solidFill>
                  <a:srgbClr val="000000"/>
                </a:solidFill>
                <a:latin typeface="Times New Roman" panose="02020603050405020304" pitchFamily="18" charset="0"/>
                <a:cs typeface="Times New Roman" panose="02020603050405020304" pitchFamily="18" charset="0"/>
              </a:rPr>
              <a:t> 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Miseq</a:t>
            </a:r>
            <a:r>
              <a:rPr lang="en-US" sz="2000" dirty="0" smtClean="0">
                <a:solidFill>
                  <a:srgbClr val="FFFF00"/>
                </a:solidFill>
                <a:latin typeface="Times New Roman" panose="02020603050405020304" pitchFamily="18" charset="0"/>
                <a:cs typeface="Times New Roman" panose="02020603050405020304" pitchFamily="18" charset="0"/>
              </a:rPr>
              <a:t>, </a:t>
            </a:r>
            <a:r>
              <a:rPr lang="en-US" sz="2000" dirty="0">
                <a:solidFill>
                  <a:srgbClr val="FFFF00"/>
                </a:solidFill>
                <a:latin typeface="Times New Roman" panose="02020603050405020304" pitchFamily="18" charset="0"/>
                <a:cs typeface="Times New Roman" panose="02020603050405020304" pitchFamily="18" charset="0"/>
              </a:rPr>
              <a:t>LSVM</a:t>
            </a:r>
            <a:endParaRPr lang="en-US" sz="2000" dirty="0" smtClean="0">
              <a:solidFill>
                <a:srgbClr val="FFFF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752600"/>
            <a:ext cx="8229600" cy="4080222"/>
          </a:xfrm>
          <a:prstGeom prst="rect">
            <a:avLst/>
          </a:prstGeom>
        </p:spPr>
      </p:pic>
    </p:spTree>
    <p:extLst>
      <p:ext uri="{BB962C8B-B14F-4D97-AF65-F5344CB8AC3E}">
        <p14:creationId xmlns:p14="http://schemas.microsoft.com/office/powerpoint/2010/main" val="892750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400" dirty="0" smtClean="0">
                <a:solidFill>
                  <a:srgbClr val="000000"/>
                </a:solidFill>
                <a:latin typeface="Times New Roman" panose="02020603050405020304" pitchFamily="18" charset="0"/>
                <a:cs typeface="Times New Roman" panose="02020603050405020304" pitchFamily="18" charset="0"/>
              </a:rPr>
              <a:t>List of </a:t>
            </a:r>
            <a:r>
              <a:rPr lang="en-US" sz="2400" dirty="0" smtClean="0">
                <a:solidFill>
                  <a:srgbClr val="FFFF00"/>
                </a:solidFill>
                <a:latin typeface="Times New Roman" panose="02020603050405020304" pitchFamily="18" charset="0"/>
                <a:cs typeface="Times New Roman" panose="02020603050405020304" pitchFamily="18" charset="0"/>
              </a:rPr>
              <a:t>Top 20 </a:t>
            </a:r>
            <a:r>
              <a:rPr lang="en-US" sz="2400" dirty="0" smtClean="0">
                <a:solidFill>
                  <a:srgbClr val="000000"/>
                </a:solidFill>
                <a:latin typeface="Times New Roman" panose="02020603050405020304" pitchFamily="18" charset="0"/>
                <a:cs typeface="Times New Roman" panose="02020603050405020304" pitchFamily="18" charset="0"/>
              </a:rPr>
              <a:t>SHAP</a:t>
            </a:r>
            <a:r>
              <a:rPr lang="en-US" sz="2400" dirty="0" smtClean="0">
                <a:solidFill>
                  <a:srgbClr val="FFFF00"/>
                </a:solidFill>
                <a:latin typeface="Times New Roman" panose="02020603050405020304" pitchFamily="18" charset="0"/>
                <a:cs typeface="Times New Roman" panose="02020603050405020304" pitchFamily="18" charset="0"/>
              </a:rPr>
              <a:t>G</a:t>
            </a:r>
            <a:r>
              <a:rPr lang="en-US" sz="2400" dirty="0" smtClean="0">
                <a:solidFill>
                  <a:srgbClr val="000000"/>
                </a:solidFill>
                <a:latin typeface="Times New Roman" panose="02020603050405020304" pitchFamily="18" charset="0"/>
                <a:cs typeface="Times New Roman" panose="02020603050405020304" pitchFamily="18" charset="0"/>
              </a:rPr>
              <a:t> Features for </a:t>
            </a:r>
            <a:r>
              <a:rPr lang="en-US" sz="2400" dirty="0" err="1" smtClean="0">
                <a:solidFill>
                  <a:srgbClr val="FFFF00"/>
                </a:solidFill>
                <a:latin typeface="Times New Roman" panose="02020603050405020304" pitchFamily="18" charset="0"/>
                <a:cs typeface="Times New Roman" panose="02020603050405020304" pitchFamily="18" charset="0"/>
              </a:rPr>
              <a:t>Novaseq</a:t>
            </a:r>
            <a:r>
              <a:rPr lang="en-US" sz="2400" dirty="0" smtClean="0">
                <a:solidFill>
                  <a:srgbClr val="FFFF00"/>
                </a:solidFill>
                <a:latin typeface="Times New Roman" panose="02020603050405020304" pitchFamily="18" charset="0"/>
                <a:cs typeface="Times New Roman" panose="02020603050405020304" pitchFamily="18" charset="0"/>
              </a:rPr>
              <a:t>, LSVM</a:t>
            </a:r>
          </a:p>
        </p:txBody>
      </p:sp>
      <p:graphicFrame>
        <p:nvGraphicFramePr>
          <p:cNvPr id="5" name="Table 4"/>
          <p:cNvGraphicFramePr>
            <a:graphicFrameLocks noGrp="1"/>
          </p:cNvGraphicFramePr>
          <p:nvPr>
            <p:extLst>
              <p:ext uri="{D42A27DB-BD31-4B8C-83A1-F6EECF244321}">
                <p14:modId xmlns:p14="http://schemas.microsoft.com/office/powerpoint/2010/main" val="3422253247"/>
              </p:ext>
            </p:extLst>
          </p:nvPr>
        </p:nvGraphicFramePr>
        <p:xfrm>
          <a:off x="4191000" y="1193800"/>
          <a:ext cx="4495800" cy="5004425"/>
        </p:xfrm>
        <a:graphic>
          <a:graphicData uri="http://schemas.openxmlformats.org/drawingml/2006/table">
            <a:tbl>
              <a:tblPr>
                <a:tableStyleId>{616DA210-FB5B-4158-B5E0-FEB733F419BA}</a:tableStyleId>
              </a:tblPr>
              <a:tblGrid>
                <a:gridCol w="589617">
                  <a:extLst>
                    <a:ext uri="{9D8B030D-6E8A-4147-A177-3AD203B41FA5}">
                      <a16:colId xmlns:a16="http://schemas.microsoft.com/office/drawing/2014/main" val="1684629359"/>
                    </a:ext>
                  </a:extLst>
                </a:gridCol>
                <a:gridCol w="1295719">
                  <a:extLst>
                    <a:ext uri="{9D8B030D-6E8A-4147-A177-3AD203B41FA5}">
                      <a16:colId xmlns:a16="http://schemas.microsoft.com/office/drawing/2014/main" val="3958920733"/>
                    </a:ext>
                  </a:extLst>
                </a:gridCol>
                <a:gridCol w="1238864">
                  <a:extLst>
                    <a:ext uri="{9D8B030D-6E8A-4147-A177-3AD203B41FA5}">
                      <a16:colId xmlns:a16="http://schemas.microsoft.com/office/drawing/2014/main" val="806990348"/>
                    </a:ext>
                  </a:extLst>
                </a:gridCol>
                <a:gridCol w="1371600">
                  <a:extLst>
                    <a:ext uri="{9D8B030D-6E8A-4147-A177-3AD203B41FA5}">
                      <a16:colId xmlns:a16="http://schemas.microsoft.com/office/drawing/2014/main" val="1588175367"/>
                    </a:ext>
                  </a:extLst>
                </a:gridCol>
              </a:tblGrid>
              <a:tr h="300544">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(Manure)</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(Peat)</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Soil</a:t>
                      </a:r>
                      <a:r>
                        <a:rPr lang="en-US" sz="1200" b="1" u="none" strike="noStrike" baseline="0" dirty="0" smtClean="0">
                          <a:solidFill>
                            <a:srgbClr val="C00000"/>
                          </a:solidFill>
                          <a:effectLst/>
                          <a:latin typeface="Times New Roman" panose="02020603050405020304" pitchFamily="18" charset="0"/>
                          <a:cs typeface="Times New Roman" panose="02020603050405020304" pitchFamily="18" charset="0"/>
                        </a:rPr>
                        <a:t> (Sand)</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smtClean="0">
                        <a:solidFill>
                          <a:srgbClr val="000000"/>
                        </a:solidFill>
                        <a:effectLst/>
                        <a:latin typeface="Times New Roman" panose="02020603050405020304" pitchFamily="18" charset="0"/>
                        <a:cs typeface="Times New Roman" panose="02020603050405020304" pitchFamily="18" charset="0"/>
                      </a:endParaRPr>
                    </a:p>
                    <a:p>
                      <a:pPr algn="ctr" fontAlgn="b"/>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Pusillibacter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Pusillibacter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Pseudarthrobacter  </a:t>
                      </a:r>
                    </a:p>
                  </a:txBody>
                  <a:tcPr marL="9525" marR="9525" marT="9525" marB="0" anchor="b">
                    <a:solidFill>
                      <a:schemeClr val="bg1"/>
                    </a:solidFill>
                  </a:tcPr>
                </a:tc>
                <a:extLst>
                  <a:ext uri="{0D108BD9-81ED-4DB2-BD59-A6C34878D82A}">
                    <a16:rowId xmlns:a16="http://schemas.microsoft.com/office/drawing/2014/main" val="1993406850"/>
                  </a:ext>
                </a:extLst>
              </a:tr>
              <a:tr h="26615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Ruminofilibacter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Ruminofilibacter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Plot4-2H12  </a:t>
                      </a:r>
                    </a:p>
                  </a:txBody>
                  <a:tcPr marL="9525" marR="9525" marT="9525" marB="0" anchor="b">
                    <a:solidFill>
                      <a:srgbClr val="FFFF7D"/>
                    </a:solidFill>
                  </a:tcPr>
                </a:tc>
                <a:extLst>
                  <a:ext uri="{0D108BD9-81ED-4DB2-BD59-A6C34878D82A}">
                    <a16:rowId xmlns:a16="http://schemas.microsoft.com/office/drawing/2014/main" val="1874311317"/>
                  </a:ext>
                </a:extLst>
              </a:tr>
              <a:tr h="26081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Methyloceanibacter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1" i="0" u="none" strike="noStrike" dirty="0" err="1">
                          <a:solidFill>
                            <a:srgbClr val="000000"/>
                          </a:solidFill>
                          <a:effectLst/>
                          <a:latin typeface="Calibri" panose="020F0502020204030204" pitchFamily="34" charset="0"/>
                        </a:rPr>
                        <a:t>Constrictibacter</a:t>
                      </a:r>
                      <a:r>
                        <a:rPr lang="en-US" sz="1100" b="1" i="0" u="none" strike="noStrike" dirty="0">
                          <a:solidFill>
                            <a:srgbClr val="000000"/>
                          </a:solidFill>
                          <a:effectLst/>
                          <a:latin typeface="Calibri" panose="020F0502020204030204" pitchFamily="34" charset="0"/>
                        </a:rPr>
                        <a:t> </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Runella  </a:t>
                      </a:r>
                    </a:p>
                  </a:txBody>
                  <a:tcPr marL="9525" marR="9525" marT="9525" marB="0" anchor="b">
                    <a:solidFill>
                      <a:schemeClr val="bg1"/>
                    </a:solidFill>
                  </a:tcPr>
                </a:tc>
                <a:extLst>
                  <a:ext uri="{0D108BD9-81ED-4DB2-BD59-A6C34878D82A}">
                    <a16:rowId xmlns:a16="http://schemas.microsoft.com/office/drawing/2014/main" val="428526081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err="1">
                          <a:solidFill>
                            <a:srgbClr val="000000"/>
                          </a:solidFill>
                          <a:effectLst/>
                          <a:latin typeface="Calibri" panose="020F0502020204030204" pitchFamily="34" charset="0"/>
                        </a:rPr>
                        <a:t>Constrictibacter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Runella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Ferribacterium  </a:t>
                      </a:r>
                    </a:p>
                  </a:txBody>
                  <a:tcPr marL="9525" marR="9525" marT="9525" marB="0" anchor="b">
                    <a:solidFill>
                      <a:schemeClr val="bg1"/>
                    </a:solidFill>
                  </a:tcPr>
                </a:tc>
                <a:extLst>
                  <a:ext uri="{0D108BD9-81ED-4DB2-BD59-A6C34878D82A}">
                    <a16:rowId xmlns:a16="http://schemas.microsoft.com/office/drawing/2014/main" val="3953385741"/>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Ketobacter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Methyloceanibacter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Inhella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extLst>
                  <a:ext uri="{0D108BD9-81ED-4DB2-BD59-A6C34878D82A}">
                    <a16:rowId xmlns:a16="http://schemas.microsoft.com/office/drawing/2014/main" val="4110988134"/>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Dyella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Pseudarthrobacter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Dechloromonas  </a:t>
                      </a:r>
                    </a:p>
                  </a:txBody>
                  <a:tcPr marL="9525" marR="9525" marT="9525" marB="0" anchor="b">
                    <a:solidFill>
                      <a:schemeClr val="bg1"/>
                    </a:solidFill>
                  </a:tcPr>
                </a:tc>
                <a:extLst>
                  <a:ext uri="{0D108BD9-81ED-4DB2-BD59-A6C34878D82A}">
                    <a16:rowId xmlns:a16="http://schemas.microsoft.com/office/drawing/2014/main" val="20653327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Methanosarcina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Ketobacter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Leeia  </a:t>
                      </a:r>
                    </a:p>
                  </a:txBody>
                  <a:tcPr marL="9525" marR="9525" marT="9525" marB="0" anchor="b">
                    <a:solidFill>
                      <a:schemeClr val="bg1"/>
                    </a:solidFill>
                  </a:tcPr>
                </a:tc>
                <a:extLst>
                  <a:ext uri="{0D108BD9-81ED-4DB2-BD59-A6C34878D82A}">
                    <a16:rowId xmlns:a16="http://schemas.microsoft.com/office/drawing/2014/main" val="2325056747"/>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DSSD61  </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BIyi10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Dyella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4118712325"/>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Berkiella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Amaricoccus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IS-44  </a:t>
                      </a:r>
                    </a:p>
                  </a:txBody>
                  <a:tcPr marL="9525" marR="9525" marT="9525" marB="0" anchor="b">
                    <a:solidFill>
                      <a:schemeClr val="bg1"/>
                    </a:solidFill>
                  </a:tcPr>
                </a:tc>
                <a:extLst>
                  <a:ext uri="{0D108BD9-81ED-4DB2-BD59-A6C34878D82A}">
                    <a16:rowId xmlns:a16="http://schemas.microsoft.com/office/drawing/2014/main" val="2118482760"/>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Amaricoccus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1" i="0" u="none" strike="noStrike" dirty="0">
                          <a:solidFill>
                            <a:srgbClr val="000000"/>
                          </a:solidFill>
                          <a:effectLst/>
                          <a:latin typeface="Calibri" panose="020F0502020204030204" pitchFamily="34" charset="0"/>
                        </a:rPr>
                        <a:t>Plot4-2H12</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Brevifollis  </a:t>
                      </a:r>
                    </a:p>
                  </a:txBody>
                  <a:tcPr marL="9525" marR="9525" marT="9525" marB="0" anchor="b">
                    <a:solidFill>
                      <a:schemeClr val="bg1"/>
                    </a:solidFill>
                  </a:tcPr>
                </a:tc>
                <a:extLst>
                  <a:ext uri="{0D108BD9-81ED-4DB2-BD59-A6C34878D82A}">
                    <a16:rowId xmlns:a16="http://schemas.microsoft.com/office/drawing/2014/main" val="3095012359"/>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BIyi10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Flavimaricola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Pararhizobium  </a:t>
                      </a:r>
                    </a:p>
                  </a:txBody>
                  <a:tcPr marL="9525" marR="9525" marT="9525" marB="0" anchor="b">
                    <a:solidFill>
                      <a:schemeClr val="bg1"/>
                    </a:solidFill>
                  </a:tcPr>
                </a:tc>
                <a:extLst>
                  <a:ext uri="{0D108BD9-81ED-4DB2-BD59-A6C34878D82A}">
                    <a16:rowId xmlns:a16="http://schemas.microsoft.com/office/drawing/2014/main" val="917019206"/>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Microbacterium</a:t>
                      </a:r>
                      <a:endParaRPr lang="en-US" sz="11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Microbacterium</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Dyadobacter  </a:t>
                      </a:r>
                    </a:p>
                  </a:txBody>
                  <a:tcPr marL="9525" marR="9525" marT="9525" marB="0" anchor="b">
                    <a:solidFill>
                      <a:schemeClr val="bg1"/>
                    </a:solidFill>
                  </a:tcPr>
                </a:tc>
                <a:extLst>
                  <a:ext uri="{0D108BD9-81ED-4DB2-BD59-A6C34878D82A}">
                    <a16:rowId xmlns:a16="http://schemas.microsoft.com/office/drawing/2014/main" val="3116390992"/>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Flavimaricola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Candidatus</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Berkiella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Solimonas  </a:t>
                      </a:r>
                    </a:p>
                  </a:txBody>
                  <a:tcPr marL="9525" marR="9525" marT="9525" marB="0" anchor="b">
                    <a:solidFill>
                      <a:schemeClr val="bg1"/>
                    </a:solidFill>
                  </a:tcPr>
                </a:tc>
                <a:extLst>
                  <a:ext uri="{0D108BD9-81ED-4DB2-BD59-A6C34878D82A}">
                    <a16:rowId xmlns:a16="http://schemas.microsoft.com/office/drawing/2014/main" val="1594773928"/>
                  </a:ext>
                </a:extLst>
              </a:tr>
              <a:tr h="14188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Plot4-2H12  </a:t>
                      </a:r>
                    </a:p>
                  </a:txBody>
                  <a:tcPr marL="9525" marR="9525" marT="9525" marB="0" anchor="b">
                    <a:solidFill>
                      <a:srgbClr val="FFFF7D"/>
                    </a:solidFill>
                  </a:tcPr>
                </a:tc>
                <a:tc>
                  <a:txBody>
                    <a:bodyPr/>
                    <a:lstStyle/>
                    <a:p>
                      <a:pPr algn="ctr" fontAlgn="b"/>
                      <a:r>
                        <a:rPr lang="en-US" sz="1100" b="0" i="0" u="none" strike="noStrike" dirty="0" err="1">
                          <a:solidFill>
                            <a:srgbClr val="000000"/>
                          </a:solidFill>
                          <a:effectLst/>
                          <a:latin typeface="Calibri" panose="020F0502020204030204" pitchFamily="34" charset="0"/>
                        </a:rPr>
                        <a:t>Dyella</a:t>
                      </a:r>
                      <a:r>
                        <a:rPr lang="en-US" sz="1100" b="0"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tc>
                  <a:txBody>
                    <a:bodyPr/>
                    <a:lstStyle/>
                    <a:p>
                      <a:pPr algn="ctr" fontAlgn="b"/>
                      <a:r>
                        <a:rPr lang="en-US" sz="1100" b="0" i="0" u="none" strike="noStrike">
                          <a:solidFill>
                            <a:srgbClr val="000000"/>
                          </a:solidFill>
                          <a:effectLst/>
                          <a:latin typeface="Calibri" panose="020F0502020204030204" pitchFamily="34" charset="0"/>
                        </a:rPr>
                        <a:t>Caldicoprobacter  </a:t>
                      </a:r>
                    </a:p>
                  </a:txBody>
                  <a:tcPr marL="9525" marR="9525" marT="9525" marB="0" anchor="b">
                    <a:solidFill>
                      <a:schemeClr val="bg1"/>
                    </a:solidFill>
                  </a:tcPr>
                </a:tc>
                <a:extLst>
                  <a:ext uri="{0D108BD9-81ED-4DB2-BD59-A6C34878D82A}">
                    <a16:rowId xmlns:a16="http://schemas.microsoft.com/office/drawing/2014/main" val="143412487"/>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Cerasicoccus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Leeia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Bauldia  </a:t>
                      </a:r>
                    </a:p>
                  </a:txBody>
                  <a:tcPr marL="9525" marR="9525" marT="9525" marB="0" anchor="b">
                    <a:solidFill>
                      <a:schemeClr val="bg1"/>
                    </a:solidFill>
                  </a:tcPr>
                </a:tc>
                <a:extLst>
                  <a:ext uri="{0D108BD9-81ED-4DB2-BD59-A6C34878D82A}">
                    <a16:rowId xmlns:a16="http://schemas.microsoft.com/office/drawing/2014/main" val="1985009116"/>
                  </a:ext>
                </a:extLst>
              </a:tr>
              <a:tr h="276134">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Fimbriiglobus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Dyadobacter</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Methyloceanibacter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229922658"/>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Ferribacterium</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Dechloromonas</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1" i="0" u="none" strike="noStrike" dirty="0" err="1">
                          <a:solidFill>
                            <a:srgbClr val="000000"/>
                          </a:solidFill>
                          <a:effectLst/>
                          <a:latin typeface="Calibri" panose="020F0502020204030204" pitchFamily="34" charset="0"/>
                        </a:rPr>
                        <a:t>Constrictibacter</a:t>
                      </a:r>
                      <a:r>
                        <a:rPr lang="en-US" sz="1100" b="1" i="0" u="none" strike="noStrike" dirty="0">
                          <a:solidFill>
                            <a:srgbClr val="000000"/>
                          </a:solidFill>
                          <a:effectLst/>
                          <a:latin typeface="Calibri" panose="020F0502020204030204" pitchFamily="34" charset="0"/>
                        </a:rPr>
                        <a:t>  </a:t>
                      </a:r>
                    </a:p>
                  </a:txBody>
                  <a:tcPr marL="9525" marR="9525" marT="9525" marB="0" anchor="b">
                    <a:solidFill>
                      <a:srgbClr val="FFFF7D"/>
                    </a:solidFill>
                  </a:tcPr>
                </a:tc>
                <a:extLst>
                  <a:ext uri="{0D108BD9-81ED-4DB2-BD59-A6C34878D82A}">
                    <a16:rowId xmlns:a16="http://schemas.microsoft.com/office/drawing/2014/main" val="1015200171"/>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Caldicoprobacter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Pararhizobium</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Afipia  </a:t>
                      </a:r>
                    </a:p>
                  </a:txBody>
                  <a:tcPr marL="9525" marR="9525" marT="9525" marB="0" anchor="b">
                    <a:solidFill>
                      <a:schemeClr val="bg1"/>
                    </a:solidFill>
                  </a:tcPr>
                </a:tc>
                <a:extLst>
                  <a:ext uri="{0D108BD9-81ED-4DB2-BD59-A6C34878D82A}">
                    <a16:rowId xmlns:a16="http://schemas.microsoft.com/office/drawing/2014/main" val="1180289669"/>
                  </a:ext>
                </a:extLst>
              </a:tr>
              <a:tr h="237665">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Afipia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Bauldia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tc>
                  <a:txBody>
                    <a:bodyPr/>
                    <a:lstStyle/>
                    <a:p>
                      <a:pPr algn="ctr" fontAlgn="b"/>
                      <a:r>
                        <a:rPr lang="en-US" sz="1100" b="0" i="0" u="none" strike="noStrike">
                          <a:solidFill>
                            <a:srgbClr val="000000"/>
                          </a:solidFill>
                          <a:effectLst/>
                          <a:latin typeface="Calibri" panose="020F0502020204030204" pitchFamily="34" charset="0"/>
                        </a:rPr>
                        <a:t>Fimbriiglobus  </a:t>
                      </a:r>
                    </a:p>
                  </a:txBody>
                  <a:tcPr marL="9525" marR="9525" marT="9525" marB="0" anchor="b">
                    <a:solidFill>
                      <a:schemeClr val="bg1"/>
                    </a:solidFill>
                  </a:tcPr>
                </a:tc>
                <a:extLst>
                  <a:ext uri="{0D108BD9-81ED-4DB2-BD59-A6C34878D82A}">
                    <a16:rowId xmlns:a16="http://schemas.microsoft.com/office/drawing/2014/main" val="4211420371"/>
                  </a:ext>
                </a:extLst>
              </a:tr>
              <a:tr h="219098">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Subgroup 10  </a:t>
                      </a:r>
                    </a:p>
                  </a:txBody>
                  <a:tcPr marL="9525" marR="9525" marT="9525" marB="0" anchor="b">
                    <a:solidFill>
                      <a:schemeClr val="bg1"/>
                    </a:solidFill>
                  </a:tcPr>
                </a:tc>
                <a:tc>
                  <a:txBody>
                    <a:bodyPr/>
                    <a:lstStyle/>
                    <a:p>
                      <a:pPr algn="ctr" fontAlgn="b"/>
                      <a:r>
                        <a:rPr lang="en-US" sz="1100" b="0" i="0" u="none" strike="noStrike" dirty="0">
                          <a:solidFill>
                            <a:srgbClr val="000000"/>
                          </a:solidFill>
                          <a:effectLst/>
                          <a:latin typeface="Calibri" panose="020F0502020204030204" pitchFamily="34" charset="0"/>
                        </a:rPr>
                        <a:t>Subgroup 10  </a:t>
                      </a:r>
                    </a:p>
                  </a:txBody>
                  <a:tcPr marL="9525" marR="9525" marT="9525" marB="0" anchor="b">
                    <a:solidFill>
                      <a:schemeClr val="bg1"/>
                    </a:solidFill>
                  </a:tcPr>
                </a:tc>
                <a:tc>
                  <a:txBody>
                    <a:bodyPr/>
                    <a:lstStyle/>
                    <a:p>
                      <a:pPr algn="ctr" fontAlgn="b"/>
                      <a:r>
                        <a:rPr lang="en-US" sz="1100" b="0" i="0" u="none" strike="noStrike" dirty="0" err="1">
                          <a:solidFill>
                            <a:srgbClr val="000000"/>
                          </a:solidFill>
                          <a:effectLst/>
                          <a:latin typeface="Calibri" panose="020F0502020204030204" pitchFamily="34" charset="0"/>
                        </a:rPr>
                        <a:t>Hydrogenispora</a:t>
                      </a:r>
                      <a:r>
                        <a:rPr lang="en-US" sz="1100" b="0" i="0" u="none" strike="noStrike" dirty="0">
                          <a:solidFill>
                            <a:srgbClr val="000000"/>
                          </a:solidFill>
                          <a:effectLst/>
                          <a:latin typeface="Calibri" panose="020F0502020204030204" pitchFamily="34" charset="0"/>
                        </a:rPr>
                        <a:t>  </a:t>
                      </a:r>
                    </a:p>
                  </a:txBody>
                  <a:tcPr marL="9525" marR="9525" marT="9525" marB="0" anchor="b">
                    <a:solidFill>
                      <a:schemeClr val="bg1"/>
                    </a:solidFill>
                  </a:tcPr>
                </a:tc>
                <a:extLst>
                  <a:ext uri="{0D108BD9-81ED-4DB2-BD59-A6C34878D82A}">
                    <a16:rowId xmlns:a16="http://schemas.microsoft.com/office/drawing/2014/main" val="2622232106"/>
                  </a:ext>
                </a:extLst>
              </a:tr>
            </a:tbl>
          </a:graphicData>
        </a:graphic>
      </p:graphicFrame>
      <p:graphicFrame>
        <p:nvGraphicFramePr>
          <p:cNvPr id="6" name="Table 5"/>
          <p:cNvGraphicFramePr>
            <a:graphicFrameLocks noGrp="1"/>
          </p:cNvGraphicFramePr>
          <p:nvPr>
            <p:extLst/>
          </p:nvPr>
        </p:nvGraphicFramePr>
        <p:xfrm>
          <a:off x="381000" y="1193800"/>
          <a:ext cx="3579813" cy="5226272"/>
        </p:xfrm>
        <a:graphic>
          <a:graphicData uri="http://schemas.openxmlformats.org/drawingml/2006/table">
            <a:tbl>
              <a:tblPr>
                <a:tableStyleId>{616DA210-FB5B-4158-B5E0-FEB733F419BA}</a:tableStyleId>
              </a:tblPr>
              <a:tblGrid>
                <a:gridCol w="533400">
                  <a:extLst>
                    <a:ext uri="{9D8B030D-6E8A-4147-A177-3AD203B41FA5}">
                      <a16:colId xmlns:a16="http://schemas.microsoft.com/office/drawing/2014/main" val="1684629359"/>
                    </a:ext>
                  </a:extLst>
                </a:gridCol>
                <a:gridCol w="1598613">
                  <a:extLst>
                    <a:ext uri="{9D8B030D-6E8A-4147-A177-3AD203B41FA5}">
                      <a16:colId xmlns:a16="http://schemas.microsoft.com/office/drawing/2014/main" val="3958920733"/>
                    </a:ext>
                  </a:extLst>
                </a:gridCol>
                <a:gridCol w="1447800">
                  <a:extLst>
                    <a:ext uri="{9D8B030D-6E8A-4147-A177-3AD203B41FA5}">
                      <a16:colId xmlns:a16="http://schemas.microsoft.com/office/drawing/2014/main" val="806990348"/>
                    </a:ext>
                  </a:extLst>
                </a:gridCol>
              </a:tblGrid>
              <a:tr h="334235">
                <a:tc>
                  <a:txBody>
                    <a:bodyPr/>
                    <a:lstStyle/>
                    <a:p>
                      <a:pPr algn="ctr" fontAlgn="b"/>
                      <a:r>
                        <a:rPr lang="en-US" sz="1100" b="1" u="none" strike="noStrike" dirty="0" smtClean="0">
                          <a:effectLst/>
                          <a:latin typeface="Times New Roman" panose="02020603050405020304" pitchFamily="18" charset="0"/>
                          <a:cs typeface="Times New Roman" panose="02020603050405020304" pitchFamily="18" charset="0"/>
                        </a:rPr>
                        <a:t>Number</a:t>
                      </a:r>
                      <a:endParaRPr lang="en-US"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Autoclave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200" b="1" u="none" strike="noStrike" dirty="0" err="1" smtClean="0">
                          <a:solidFill>
                            <a:srgbClr val="C00000"/>
                          </a:solidFill>
                          <a:effectLst/>
                          <a:latin typeface="Times New Roman" panose="02020603050405020304" pitchFamily="18" charset="0"/>
                          <a:cs typeface="Times New Roman" panose="02020603050405020304" pitchFamily="18" charset="0"/>
                        </a:rPr>
                        <a:t>HeatRoot</a:t>
                      </a:r>
                      <a:r>
                        <a:rPr lang="en-US" sz="1200" b="1" u="none" strike="noStrike" dirty="0" smtClean="0">
                          <a:solidFill>
                            <a:srgbClr val="C00000"/>
                          </a:solidFill>
                          <a:effectLst/>
                          <a:latin typeface="Times New Roman" panose="02020603050405020304" pitchFamily="18" charset="0"/>
                          <a:cs typeface="Times New Roman" panose="02020603050405020304" pitchFamily="18" charset="0"/>
                        </a:rPr>
                        <a:t> (yes)</a:t>
                      </a:r>
                      <a:r>
                        <a:rPr lang="en-US" sz="1200" b="1" u="none" strike="noStrike" dirty="0" smtClean="0">
                          <a:effectLst/>
                          <a:latin typeface="Times New Roman" panose="02020603050405020304" pitchFamily="18" charset="0"/>
                          <a:cs typeface="Times New Roman" panose="02020603050405020304" pitchFamily="18" charset="0"/>
                        </a:rPr>
                        <a:t>'s SHAPG</a:t>
                      </a:r>
                      <a:endParaRPr lang="en-US" sz="1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021685774"/>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Mesobacillus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Erythrobacter  </a:t>
                      </a:r>
                    </a:p>
                  </a:txBody>
                  <a:tcPr marL="9525" marR="9525" marT="9525" marB="0" anchor="b"/>
                </a:tc>
                <a:extLst>
                  <a:ext uri="{0D108BD9-81ED-4DB2-BD59-A6C34878D82A}">
                    <a16:rowId xmlns:a16="http://schemas.microsoft.com/office/drawing/2014/main" val="1993406850"/>
                  </a:ext>
                </a:extLst>
              </a:tr>
              <a:tr h="33234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Brucella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Verticiella  </a:t>
                      </a:r>
                    </a:p>
                  </a:txBody>
                  <a:tcPr marL="9525" marR="9525" marT="9525" marB="0" anchor="b"/>
                </a:tc>
                <a:extLst>
                  <a:ext uri="{0D108BD9-81ED-4DB2-BD59-A6C34878D82A}">
                    <a16:rowId xmlns:a16="http://schemas.microsoft.com/office/drawing/2014/main" val="1874311317"/>
                  </a:ext>
                </a:extLst>
              </a:tr>
              <a:tr h="44105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Candidatus Protochlamydia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Lachnospiraceae UCG-004  </a:t>
                      </a:r>
                    </a:p>
                  </a:txBody>
                  <a:tcPr marL="9525" marR="9525" marT="9525" marB="0" anchor="b"/>
                </a:tc>
                <a:extLst>
                  <a:ext uri="{0D108BD9-81ED-4DB2-BD59-A6C34878D82A}">
                    <a16:rowId xmlns:a16="http://schemas.microsoft.com/office/drawing/2014/main" val="428526081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Ammoniphilus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Phragmitibacter  </a:t>
                      </a:r>
                    </a:p>
                  </a:txBody>
                  <a:tcPr marL="9525" marR="9525" marT="9525" marB="0" anchor="b"/>
                </a:tc>
                <a:extLst>
                  <a:ext uri="{0D108BD9-81ED-4DB2-BD59-A6C34878D82A}">
                    <a16:rowId xmlns:a16="http://schemas.microsoft.com/office/drawing/2014/main" val="3953385741"/>
                  </a:ext>
                </a:extLst>
              </a:tr>
              <a:tr h="216172">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Immundisolibacter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Meiothermus  </a:t>
                      </a:r>
                    </a:p>
                  </a:txBody>
                  <a:tcPr marL="9525" marR="9525" marT="9525" marB="0" anchor="b"/>
                </a:tc>
                <a:extLst>
                  <a:ext uri="{0D108BD9-81ED-4DB2-BD59-A6C34878D82A}">
                    <a16:rowId xmlns:a16="http://schemas.microsoft.com/office/drawing/2014/main" val="4110988134"/>
                  </a:ext>
                </a:extLst>
              </a:tr>
              <a:tr h="56043">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Desulfovibrio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Phycocomes  </a:t>
                      </a:r>
                    </a:p>
                  </a:txBody>
                  <a:tcPr marL="9525" marR="9525" marT="9525" marB="0" anchor="b"/>
                </a:tc>
                <a:extLst>
                  <a:ext uri="{0D108BD9-81ED-4DB2-BD59-A6C34878D82A}">
                    <a16:rowId xmlns:a16="http://schemas.microsoft.com/office/drawing/2014/main" val="20653327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Aquisphaera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Desulfopila  </a:t>
                      </a:r>
                    </a:p>
                  </a:txBody>
                  <a:tcPr marL="9525" marR="9525" marT="9525" marB="0" anchor="b"/>
                </a:tc>
                <a:extLst>
                  <a:ext uri="{0D108BD9-81ED-4DB2-BD59-A6C34878D82A}">
                    <a16:rowId xmlns:a16="http://schemas.microsoft.com/office/drawing/2014/main" val="232505674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Brevibacillus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Diaphorobacter  </a:t>
                      </a:r>
                    </a:p>
                  </a:txBody>
                  <a:tcPr marL="9525" marR="9525" marT="9525" marB="0" anchor="b"/>
                </a:tc>
                <a:extLst>
                  <a:ext uri="{0D108BD9-81ED-4DB2-BD59-A6C34878D82A}">
                    <a16:rowId xmlns:a16="http://schemas.microsoft.com/office/drawing/2014/main" val="4118712325"/>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Niallia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Caedibacter  </a:t>
                      </a:r>
                    </a:p>
                  </a:txBody>
                  <a:tcPr marL="9525" marR="9525" marT="9525" marB="0" anchor="b"/>
                </a:tc>
                <a:extLst>
                  <a:ext uri="{0D108BD9-81ED-4DB2-BD59-A6C34878D82A}">
                    <a16:rowId xmlns:a16="http://schemas.microsoft.com/office/drawing/2014/main" val="2118482760"/>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10</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Snodgrassella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Kribbella  </a:t>
                      </a:r>
                    </a:p>
                  </a:txBody>
                  <a:tcPr marL="9525" marR="9525" marT="9525" marB="0" anchor="b"/>
                </a:tc>
                <a:extLst>
                  <a:ext uri="{0D108BD9-81ED-4DB2-BD59-A6C34878D82A}">
                    <a16:rowId xmlns:a16="http://schemas.microsoft.com/office/drawing/2014/main" val="3095012359"/>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11</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Crocinitomix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Geothrix  </a:t>
                      </a:r>
                    </a:p>
                  </a:txBody>
                  <a:tcPr marL="9525" marR="9525" marT="9525" marB="0" anchor="b"/>
                </a:tc>
                <a:extLst>
                  <a:ext uri="{0D108BD9-81ED-4DB2-BD59-A6C34878D82A}">
                    <a16:rowId xmlns:a16="http://schemas.microsoft.com/office/drawing/2014/main" val="917019206"/>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12</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OLB13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Aquicella  </a:t>
                      </a:r>
                    </a:p>
                  </a:txBody>
                  <a:tcPr marL="9525" marR="9525" marT="9525" marB="0" anchor="b"/>
                </a:tc>
                <a:extLst>
                  <a:ext uri="{0D108BD9-81ED-4DB2-BD59-A6C34878D82A}">
                    <a16:rowId xmlns:a16="http://schemas.microsoft.com/office/drawing/2014/main" val="3116390992"/>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13</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Taonella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Actinokineospora  </a:t>
                      </a:r>
                    </a:p>
                  </a:txBody>
                  <a:tcPr marL="9525" marR="9525" marT="9525" marB="0" anchor="b"/>
                </a:tc>
                <a:extLst>
                  <a:ext uri="{0D108BD9-81ED-4DB2-BD59-A6C34878D82A}">
                    <a16:rowId xmlns:a16="http://schemas.microsoft.com/office/drawing/2014/main" val="1594773928"/>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14</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Pseudoxanthobacter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Bordetella  </a:t>
                      </a:r>
                    </a:p>
                  </a:txBody>
                  <a:tcPr marL="9525" marR="9525" marT="9525" marB="0" anchor="b"/>
                </a:tc>
                <a:extLst>
                  <a:ext uri="{0D108BD9-81ED-4DB2-BD59-A6C34878D82A}">
                    <a16:rowId xmlns:a16="http://schemas.microsoft.com/office/drawing/2014/main" val="143412487"/>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15</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Cupriavidus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Tuberibacillus  </a:t>
                      </a:r>
                    </a:p>
                  </a:txBody>
                  <a:tcPr marL="9525" marR="9525" marT="9525" marB="0" anchor="b"/>
                </a:tc>
                <a:extLst>
                  <a:ext uri="{0D108BD9-81ED-4DB2-BD59-A6C34878D82A}">
                    <a16:rowId xmlns:a16="http://schemas.microsoft.com/office/drawing/2014/main" val="1985009116"/>
                  </a:ext>
                </a:extLst>
              </a:tr>
              <a:tr h="170761">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16</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Povalibacter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Fundidesulfovibrio  </a:t>
                      </a:r>
                    </a:p>
                  </a:txBody>
                  <a:tcPr marL="9525" marR="9525" marT="9525" marB="0" anchor="b"/>
                </a:tc>
                <a:extLst>
                  <a:ext uri="{0D108BD9-81ED-4DB2-BD59-A6C34878D82A}">
                    <a16:rowId xmlns:a16="http://schemas.microsoft.com/office/drawing/2014/main" val="229922658"/>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17</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Sandaracinobacter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Thermoclostridium  </a:t>
                      </a:r>
                    </a:p>
                  </a:txBody>
                  <a:tcPr marL="9525" marR="9525" marT="9525" marB="0" anchor="b"/>
                </a:tc>
                <a:extLst>
                  <a:ext uri="{0D108BD9-81ED-4DB2-BD59-A6C34878D82A}">
                    <a16:rowId xmlns:a16="http://schemas.microsoft.com/office/drawing/2014/main" val="1015200171"/>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18</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Asticcacaulis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Hydrogenispora  </a:t>
                      </a:r>
                    </a:p>
                  </a:txBody>
                  <a:tcPr marL="9525" marR="9525" marT="9525" marB="0" anchor="b"/>
                </a:tc>
                <a:extLst>
                  <a:ext uri="{0D108BD9-81ED-4DB2-BD59-A6C34878D82A}">
                    <a16:rowId xmlns:a16="http://schemas.microsoft.com/office/drawing/2014/main" val="1180289669"/>
                  </a:ext>
                </a:extLst>
              </a:tr>
              <a:tr h="296769">
                <a:tc>
                  <a:txBody>
                    <a:bodyPr/>
                    <a:lstStyle/>
                    <a:p>
                      <a:pPr algn="ctr" fontAlgn="b"/>
                      <a:r>
                        <a:rPr lang="en-US" sz="1100" u="none" strike="noStrike" dirty="0" smtClean="0">
                          <a:effectLst/>
                          <a:latin typeface="Times New Roman" panose="02020603050405020304" pitchFamily="18" charset="0"/>
                          <a:cs typeface="Times New Roman" panose="02020603050405020304" pitchFamily="18" charset="0"/>
                        </a:rPr>
                        <a:t>19</a:t>
                      </a:r>
                      <a:endParaRPr lang="en-US"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a:solidFill>
                            <a:srgbClr val="000000"/>
                          </a:solidFill>
                          <a:effectLst/>
                          <a:latin typeface="Calibri" panose="020F0502020204030204" pitchFamily="34" charset="0"/>
                        </a:rPr>
                        <a:t>Ramlibacter  </a:t>
                      </a:r>
                    </a:p>
                  </a:txBody>
                  <a:tcPr marL="9525" marR="9525" marT="9525" marB="0" anchor="b"/>
                </a:tc>
                <a:tc>
                  <a:txBody>
                    <a:bodyPr/>
                    <a:lstStyle/>
                    <a:p>
                      <a:pPr algn="ctr" fontAlgn="b"/>
                      <a:r>
                        <a:rPr lang="en-US" sz="1100" b="0" i="0" u="none" strike="noStrike">
                          <a:solidFill>
                            <a:srgbClr val="000000"/>
                          </a:solidFill>
                          <a:effectLst/>
                          <a:latin typeface="Calibri" panose="020F0502020204030204" pitchFamily="34" charset="0"/>
                        </a:rPr>
                        <a:t>Edaphocola  </a:t>
                      </a:r>
                    </a:p>
                  </a:txBody>
                  <a:tcPr marL="9525" marR="9525" marT="9525" marB="0" anchor="b"/>
                </a:tc>
                <a:extLst>
                  <a:ext uri="{0D108BD9-81ED-4DB2-BD59-A6C34878D82A}">
                    <a16:rowId xmlns:a16="http://schemas.microsoft.com/office/drawing/2014/main" val="4211420371"/>
                  </a:ext>
                </a:extLst>
              </a:tr>
              <a:tr h="273585">
                <a:tc>
                  <a:txBody>
                    <a:bodyPr/>
                    <a:lstStyle/>
                    <a:p>
                      <a:pPr algn="ctr"/>
                      <a:r>
                        <a:rPr lang="en-US" sz="1100" dirty="0" smtClean="0">
                          <a:latin typeface="Times New Roman" panose="02020603050405020304" pitchFamily="18" charset="0"/>
                          <a:cs typeface="Times New Roman" panose="02020603050405020304" pitchFamily="18" charset="0"/>
                        </a:rPr>
                        <a:t>20</a:t>
                      </a:r>
                      <a:endParaRPr lang="en-US" sz="1100" dirty="0">
                        <a:latin typeface="Times New Roman" panose="02020603050405020304" pitchFamily="18" charset="0"/>
                        <a:cs typeface="Times New Roman" panose="02020603050405020304" pitchFamily="18" charset="0"/>
                      </a:endParaRPr>
                    </a:p>
                  </a:txBody>
                  <a:tcPr marL="9525" marR="9525" marT="9525" marB="0" anchor="b">
                    <a:solidFill>
                      <a:schemeClr val="accent1">
                        <a:lumMod val="20000"/>
                        <a:lumOff val="80000"/>
                      </a:schemeClr>
                    </a:solidFill>
                  </a:tcPr>
                </a:tc>
                <a:tc>
                  <a:txBody>
                    <a:bodyPr/>
                    <a:lstStyle/>
                    <a:p>
                      <a:pPr algn="ctr" fontAlgn="b"/>
                      <a:r>
                        <a:rPr lang="en-US" sz="1100" b="0" i="0" u="none" strike="noStrike" dirty="0" err="1">
                          <a:solidFill>
                            <a:srgbClr val="000000"/>
                          </a:solidFill>
                          <a:effectLst/>
                          <a:latin typeface="Calibri" panose="020F0502020204030204" pitchFamily="34" charset="0"/>
                        </a:rPr>
                        <a:t>Sorangium</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b="0" i="0" u="none" strike="noStrike" dirty="0" err="1">
                          <a:solidFill>
                            <a:srgbClr val="000000"/>
                          </a:solidFill>
                          <a:effectLst/>
                          <a:latin typeface="Calibri" panose="020F0502020204030204" pitchFamily="34" charset="0"/>
                        </a:rPr>
                        <a:t>Novosphingobium</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22232106"/>
                  </a:ext>
                </a:extLst>
              </a:tr>
            </a:tbl>
          </a:graphicData>
        </a:graphic>
      </p:graphicFrame>
    </p:spTree>
    <p:extLst>
      <p:ext uri="{BB962C8B-B14F-4D97-AF65-F5344CB8AC3E}">
        <p14:creationId xmlns:p14="http://schemas.microsoft.com/office/powerpoint/2010/main" val="334774253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66800" y="114300"/>
            <a:ext cx="8001000" cy="723900"/>
          </a:xfrm>
        </p:spPr>
        <p:txBody>
          <a:bodyPr/>
          <a:lstStyle/>
          <a:p>
            <a:r>
              <a:rPr lang="en-US" sz="2000" dirty="0">
                <a:solidFill>
                  <a:srgbClr val="000000"/>
                </a:solidFill>
                <a:latin typeface="Times New Roman" panose="02020603050405020304" pitchFamily="18" charset="0"/>
                <a:cs typeface="Times New Roman" panose="02020603050405020304" pitchFamily="18" charset="0"/>
              </a:rPr>
              <a:t>Boxplot of the </a:t>
            </a:r>
            <a:r>
              <a:rPr lang="en-US" sz="2000" dirty="0">
                <a:solidFill>
                  <a:srgbClr val="FFFF00"/>
                </a:solidFill>
                <a:latin typeface="Times New Roman" panose="02020603050405020304" pitchFamily="18" charset="0"/>
                <a:cs typeface="Times New Roman" panose="02020603050405020304" pitchFamily="18" charset="0"/>
              </a:rPr>
              <a:t>Soil</a:t>
            </a: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FFFF00"/>
                </a:solidFill>
                <a:latin typeface="Times New Roman" panose="02020603050405020304" pitchFamily="18" charset="0"/>
                <a:cs typeface="Times New Roman" panose="02020603050405020304" pitchFamily="18" charset="0"/>
              </a:rPr>
              <a:t>shapG</a:t>
            </a:r>
            <a:r>
              <a:rPr lang="en-US" sz="2000" dirty="0">
                <a:solidFill>
                  <a:srgbClr val="000000"/>
                </a:solidFill>
                <a:latin typeface="Times New Roman" panose="02020603050405020304" pitchFamily="18" charset="0"/>
                <a:cs typeface="Times New Roman" panose="02020603050405020304" pitchFamily="18" charset="0"/>
              </a:rPr>
              <a:t> features abundance for </a:t>
            </a:r>
            <a:r>
              <a:rPr lang="en-US" sz="2000" dirty="0" err="1" smtClean="0">
                <a:solidFill>
                  <a:srgbClr val="FFFF00"/>
                </a:solidFill>
                <a:latin typeface="Times New Roman" panose="02020603050405020304" pitchFamily="18" charset="0"/>
                <a:cs typeface="Times New Roman" panose="02020603050405020304" pitchFamily="18" charset="0"/>
              </a:rPr>
              <a:t>Novaseq</a:t>
            </a:r>
            <a:r>
              <a:rPr lang="en-US" sz="2000" dirty="0">
                <a:solidFill>
                  <a:srgbClr val="FFFF00"/>
                </a:solidFill>
                <a:latin typeface="Times New Roman" panose="02020603050405020304" pitchFamily="18" charset="0"/>
                <a:cs typeface="Times New Roman" panose="02020603050405020304" pitchFamily="18" charset="0"/>
              </a:rPr>
              <a:t>, LSVM</a:t>
            </a:r>
            <a:endParaRPr lang="en-US" sz="2000" dirty="0" smtClean="0">
              <a:solidFill>
                <a:srgbClr val="FFFF00"/>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1752600"/>
            <a:ext cx="8305800" cy="4118002"/>
          </a:xfrm>
          <a:prstGeom prst="rect">
            <a:avLst/>
          </a:prstGeom>
        </p:spPr>
      </p:pic>
    </p:spTree>
    <p:extLst>
      <p:ext uri="{BB962C8B-B14F-4D97-AF65-F5344CB8AC3E}">
        <p14:creationId xmlns:p14="http://schemas.microsoft.com/office/powerpoint/2010/main" val="15491573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2819400"/>
            <a:ext cx="7561262" cy="1309687"/>
          </a:xfrm>
        </p:spPr>
        <p:txBody>
          <a:bodyPr/>
          <a:lstStyle/>
          <a:p>
            <a:pPr marL="0" indent="0" algn="ctr">
              <a:buNone/>
            </a:pPr>
            <a:r>
              <a:rPr lang="en-US" sz="3200" dirty="0" smtClean="0">
                <a:latin typeface="Times New Roman" panose="02020603050405020304" pitchFamily="18" charset="0"/>
                <a:cs typeface="Times New Roman" panose="02020603050405020304" pitchFamily="18" charset="0"/>
              </a:rPr>
              <a:t>The End</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505593"/>
      </p:ext>
    </p:extLst>
  </p:cSld>
  <p:clrMapOvr>
    <a:masterClrMapping/>
  </p:clrMapOvr>
</p:sld>
</file>

<file path=ppt/theme/theme1.xml><?xml version="1.0" encoding="utf-8"?>
<a:theme xmlns:a="http://schemas.openxmlformats.org/drawingml/2006/main" name="template">
  <a:themeElements>
    <a:clrScheme name="template 15">
      <a:dk1>
        <a:srgbClr val="4D4D4D"/>
      </a:dk1>
      <a:lt1>
        <a:srgbClr val="FFFFFF"/>
      </a:lt1>
      <a:dk2>
        <a:srgbClr val="000000"/>
      </a:dk2>
      <a:lt2>
        <a:srgbClr val="197B00"/>
      </a:lt2>
      <a:accent1>
        <a:srgbClr val="407400"/>
      </a:accent1>
      <a:accent2>
        <a:srgbClr val="A1E451"/>
      </a:accent2>
      <a:accent3>
        <a:srgbClr val="FFFFFF"/>
      </a:accent3>
      <a:accent4>
        <a:srgbClr val="404040"/>
      </a:accent4>
      <a:accent5>
        <a:srgbClr val="AFBCAA"/>
      </a:accent5>
      <a:accent6>
        <a:srgbClr val="91CF49"/>
      </a:accent6>
      <a:hlink>
        <a:srgbClr val="339A0E"/>
      </a:hlink>
      <a:folHlink>
        <a:srgbClr val="EAEAEA"/>
      </a:folHlink>
    </a:clrScheme>
    <a:fontScheme name="template">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template 1">
        <a:dk1>
          <a:srgbClr val="4D4D4D"/>
        </a:dk1>
        <a:lt1>
          <a:srgbClr val="FFFFFF"/>
        </a:lt1>
        <a:dk2>
          <a:srgbClr val="000000"/>
        </a:dk2>
        <a:lt2>
          <a:srgbClr val="6E6046"/>
        </a:lt2>
        <a:accent1>
          <a:srgbClr val="B69E77"/>
        </a:accent1>
        <a:accent2>
          <a:srgbClr val="9E280E"/>
        </a:accent2>
        <a:accent3>
          <a:srgbClr val="FFFFFF"/>
        </a:accent3>
        <a:accent4>
          <a:srgbClr val="404040"/>
        </a:accent4>
        <a:accent5>
          <a:srgbClr val="D7CCBD"/>
        </a:accent5>
        <a:accent6>
          <a:srgbClr val="8F230C"/>
        </a:accent6>
        <a:hlink>
          <a:srgbClr val="FFC6A4"/>
        </a:hlink>
        <a:folHlink>
          <a:srgbClr val="EAEAEA"/>
        </a:folHlink>
      </a:clrScheme>
      <a:clrMap bg1="lt1" tx1="dk1" bg2="lt2" tx2="dk2" accent1="accent1" accent2="accent2" accent3="accent3" accent4="accent4" accent5="accent5" accent6="accent6" hlink="hlink" folHlink="folHlink"/>
    </a:extraClrScheme>
    <a:extraClrScheme>
      <a:clrScheme name="template 2">
        <a:dk1>
          <a:srgbClr val="4D4D4D"/>
        </a:dk1>
        <a:lt1>
          <a:srgbClr val="FFFFFF"/>
        </a:lt1>
        <a:dk2>
          <a:srgbClr val="000000"/>
        </a:dk2>
        <a:lt2>
          <a:srgbClr val="6E6046"/>
        </a:lt2>
        <a:accent1>
          <a:srgbClr val="B69E77"/>
        </a:accent1>
        <a:accent2>
          <a:srgbClr val="9E280E"/>
        </a:accent2>
        <a:accent3>
          <a:srgbClr val="FFFFFF"/>
        </a:accent3>
        <a:accent4>
          <a:srgbClr val="404040"/>
        </a:accent4>
        <a:accent5>
          <a:srgbClr val="D7CCBD"/>
        </a:accent5>
        <a:accent6>
          <a:srgbClr val="8F230C"/>
        </a:accent6>
        <a:hlink>
          <a:srgbClr val="E1C6A4"/>
        </a:hlink>
        <a:folHlink>
          <a:srgbClr val="EAEAEA"/>
        </a:folHlink>
      </a:clrScheme>
      <a:clrMap bg1="lt1" tx1="dk1" bg2="lt2" tx2="dk2" accent1="accent1" accent2="accent2" accent3="accent3" accent4="accent4" accent5="accent5" accent6="accent6" hlink="hlink" folHlink="folHlink"/>
    </a:extraClrScheme>
    <a:extraClrScheme>
      <a:clrScheme name="template 3">
        <a:dk1>
          <a:srgbClr val="4D4D4D"/>
        </a:dk1>
        <a:lt1>
          <a:srgbClr val="FFFFFF"/>
        </a:lt1>
        <a:dk2>
          <a:srgbClr val="000000"/>
        </a:dk2>
        <a:lt2>
          <a:srgbClr val="532F3C"/>
        </a:lt2>
        <a:accent1>
          <a:srgbClr val="CDC09A"/>
        </a:accent1>
        <a:accent2>
          <a:srgbClr val="AC9F55"/>
        </a:accent2>
        <a:accent3>
          <a:srgbClr val="FFFFFF"/>
        </a:accent3>
        <a:accent4>
          <a:srgbClr val="404040"/>
        </a:accent4>
        <a:accent5>
          <a:srgbClr val="E3DCCA"/>
        </a:accent5>
        <a:accent6>
          <a:srgbClr val="9B904C"/>
        </a:accent6>
        <a:hlink>
          <a:srgbClr val="DBD3C7"/>
        </a:hlink>
        <a:folHlink>
          <a:srgbClr val="EAEAEA"/>
        </a:folHlink>
      </a:clrScheme>
      <a:clrMap bg1="lt1" tx1="dk1" bg2="lt2" tx2="dk2" accent1="accent1" accent2="accent2" accent3="accent3" accent4="accent4" accent5="accent5" accent6="accent6" hlink="hlink" folHlink="folHlink"/>
    </a:extraClrScheme>
    <a:extraClrScheme>
      <a:clrScheme name="template 4">
        <a:dk1>
          <a:srgbClr val="4D4D4D"/>
        </a:dk1>
        <a:lt1>
          <a:srgbClr val="FFFFFF"/>
        </a:lt1>
        <a:dk2>
          <a:srgbClr val="000000"/>
        </a:dk2>
        <a:lt2>
          <a:srgbClr val="064300"/>
        </a:lt2>
        <a:accent1>
          <a:srgbClr val="AC927F"/>
        </a:accent1>
        <a:accent2>
          <a:srgbClr val="3AAE00"/>
        </a:accent2>
        <a:accent3>
          <a:srgbClr val="FFFFFF"/>
        </a:accent3>
        <a:accent4>
          <a:srgbClr val="404040"/>
        </a:accent4>
        <a:accent5>
          <a:srgbClr val="D2C7C0"/>
        </a:accent5>
        <a:accent6>
          <a:srgbClr val="349D00"/>
        </a:accent6>
        <a:hlink>
          <a:srgbClr val="D2B8A0"/>
        </a:hlink>
        <a:folHlink>
          <a:srgbClr val="EAEAEA"/>
        </a:folHlink>
      </a:clrScheme>
      <a:clrMap bg1="lt1" tx1="dk1" bg2="lt2" tx2="dk2" accent1="accent1" accent2="accent2" accent3="accent3" accent4="accent4" accent5="accent5" accent6="accent6" hlink="hlink" folHlink="folHlink"/>
    </a:extraClrScheme>
    <a:extraClrScheme>
      <a:clrScheme name="template 5">
        <a:dk1>
          <a:srgbClr val="4D4D4D"/>
        </a:dk1>
        <a:lt1>
          <a:srgbClr val="FFFFFF"/>
        </a:lt1>
        <a:dk2>
          <a:srgbClr val="000000"/>
        </a:dk2>
        <a:lt2>
          <a:srgbClr val="033100"/>
        </a:lt2>
        <a:accent1>
          <a:srgbClr val="2F9400"/>
        </a:accent1>
        <a:accent2>
          <a:srgbClr val="6C838B"/>
        </a:accent2>
        <a:accent3>
          <a:srgbClr val="FFFFFF"/>
        </a:accent3>
        <a:accent4>
          <a:srgbClr val="404040"/>
        </a:accent4>
        <a:accent5>
          <a:srgbClr val="ADC8AA"/>
        </a:accent5>
        <a:accent6>
          <a:srgbClr val="61767D"/>
        </a:accent6>
        <a:hlink>
          <a:srgbClr val="996E68"/>
        </a:hlink>
        <a:folHlink>
          <a:srgbClr val="EAEAEA"/>
        </a:folHlink>
      </a:clrScheme>
      <a:clrMap bg1="lt1" tx1="dk1" bg2="lt2" tx2="dk2" accent1="accent1" accent2="accent2" accent3="accent3" accent4="accent4" accent5="accent5" accent6="accent6" hlink="hlink" folHlink="folHlink"/>
    </a:extraClrScheme>
    <a:extraClrScheme>
      <a:clrScheme name="template 6">
        <a:dk1>
          <a:srgbClr val="4D4D4D"/>
        </a:dk1>
        <a:lt1>
          <a:srgbClr val="FFFFFF"/>
        </a:lt1>
        <a:dk2>
          <a:srgbClr val="000000"/>
        </a:dk2>
        <a:lt2>
          <a:srgbClr val="063B00"/>
        </a:lt2>
        <a:accent1>
          <a:srgbClr val="33A800"/>
        </a:accent1>
        <a:accent2>
          <a:srgbClr val="B26D33"/>
        </a:accent2>
        <a:accent3>
          <a:srgbClr val="FFFFFF"/>
        </a:accent3>
        <a:accent4>
          <a:srgbClr val="404040"/>
        </a:accent4>
        <a:accent5>
          <a:srgbClr val="ADD1AA"/>
        </a:accent5>
        <a:accent6>
          <a:srgbClr val="A1622D"/>
        </a:accent6>
        <a:hlink>
          <a:srgbClr val="CE7931"/>
        </a:hlink>
        <a:folHlink>
          <a:srgbClr val="EAEAEA"/>
        </a:folHlink>
      </a:clrScheme>
      <a:clrMap bg1="lt1" tx1="dk1" bg2="lt2" tx2="dk2" accent1="accent1" accent2="accent2" accent3="accent3" accent4="accent4" accent5="accent5" accent6="accent6" hlink="hlink" folHlink="folHlink"/>
    </a:extraClrScheme>
    <a:extraClrScheme>
      <a:clrScheme name="template 7">
        <a:dk1>
          <a:srgbClr val="4D4D4D"/>
        </a:dk1>
        <a:lt1>
          <a:srgbClr val="FFFFFF"/>
        </a:lt1>
        <a:dk2>
          <a:srgbClr val="000000"/>
        </a:dk2>
        <a:lt2>
          <a:srgbClr val="224700"/>
        </a:lt2>
        <a:accent1>
          <a:srgbClr val="68A500"/>
        </a:accent1>
        <a:accent2>
          <a:srgbClr val="8CB400"/>
        </a:accent2>
        <a:accent3>
          <a:srgbClr val="FFFFFF"/>
        </a:accent3>
        <a:accent4>
          <a:srgbClr val="404040"/>
        </a:accent4>
        <a:accent5>
          <a:srgbClr val="B9CFAA"/>
        </a:accent5>
        <a:accent6>
          <a:srgbClr val="7EA300"/>
        </a:accent6>
        <a:hlink>
          <a:srgbClr val="DC888D"/>
        </a:hlink>
        <a:folHlink>
          <a:srgbClr val="EAEAEA"/>
        </a:folHlink>
      </a:clrScheme>
      <a:clrMap bg1="lt1" tx1="dk1" bg2="lt2" tx2="dk2" accent1="accent1" accent2="accent2" accent3="accent3" accent4="accent4" accent5="accent5" accent6="accent6" hlink="hlink" folHlink="folHlink"/>
    </a:extraClrScheme>
    <a:extraClrScheme>
      <a:clrScheme name="template 8">
        <a:dk1>
          <a:srgbClr val="4D4D4D"/>
        </a:dk1>
        <a:lt1>
          <a:srgbClr val="FFFFFF"/>
        </a:lt1>
        <a:dk2>
          <a:srgbClr val="000000"/>
        </a:dk2>
        <a:lt2>
          <a:srgbClr val="224700"/>
        </a:lt2>
        <a:accent1>
          <a:srgbClr val="68A500"/>
        </a:accent1>
        <a:accent2>
          <a:srgbClr val="8CB400"/>
        </a:accent2>
        <a:accent3>
          <a:srgbClr val="FFFFFF"/>
        </a:accent3>
        <a:accent4>
          <a:srgbClr val="404040"/>
        </a:accent4>
        <a:accent5>
          <a:srgbClr val="B9CFAA"/>
        </a:accent5>
        <a:accent6>
          <a:srgbClr val="7EA300"/>
        </a:accent6>
        <a:hlink>
          <a:srgbClr val="C0C425"/>
        </a:hlink>
        <a:folHlink>
          <a:srgbClr val="EAEAEA"/>
        </a:folHlink>
      </a:clrScheme>
      <a:clrMap bg1="lt1" tx1="dk1" bg2="lt2" tx2="dk2" accent1="accent1" accent2="accent2" accent3="accent3" accent4="accent4" accent5="accent5" accent6="accent6" hlink="hlink" folHlink="folHlink"/>
    </a:extraClrScheme>
    <a:extraClrScheme>
      <a:clrScheme name="template 9">
        <a:dk1>
          <a:srgbClr val="4D4D4D"/>
        </a:dk1>
        <a:lt1>
          <a:srgbClr val="FFFFFF"/>
        </a:lt1>
        <a:dk2>
          <a:srgbClr val="000000"/>
        </a:dk2>
        <a:lt2>
          <a:srgbClr val="265400"/>
        </a:lt2>
        <a:accent1>
          <a:srgbClr val="37A091"/>
        </a:accent1>
        <a:accent2>
          <a:srgbClr val="CC8587"/>
        </a:accent2>
        <a:accent3>
          <a:srgbClr val="FFFFFF"/>
        </a:accent3>
        <a:accent4>
          <a:srgbClr val="404040"/>
        </a:accent4>
        <a:accent5>
          <a:srgbClr val="AECDC7"/>
        </a:accent5>
        <a:accent6>
          <a:srgbClr val="B9787A"/>
        </a:accent6>
        <a:hlink>
          <a:srgbClr val="FCE46D"/>
        </a:hlink>
        <a:folHlink>
          <a:srgbClr val="EAEAEA"/>
        </a:folHlink>
      </a:clrScheme>
      <a:clrMap bg1="lt1" tx1="dk1" bg2="lt2" tx2="dk2" accent1="accent1" accent2="accent2" accent3="accent3" accent4="accent4" accent5="accent5" accent6="accent6" hlink="hlink" folHlink="folHlink"/>
    </a:extraClrScheme>
    <a:extraClrScheme>
      <a:clrScheme name="template 10">
        <a:dk1>
          <a:srgbClr val="4D4D4D"/>
        </a:dk1>
        <a:lt1>
          <a:srgbClr val="FFFFFF"/>
        </a:lt1>
        <a:dk2>
          <a:srgbClr val="000000"/>
        </a:dk2>
        <a:lt2>
          <a:srgbClr val="546715"/>
        </a:lt2>
        <a:accent1>
          <a:srgbClr val="EF733A"/>
        </a:accent1>
        <a:accent2>
          <a:srgbClr val="C1D72E"/>
        </a:accent2>
        <a:accent3>
          <a:srgbClr val="FFFFFF"/>
        </a:accent3>
        <a:accent4>
          <a:srgbClr val="404040"/>
        </a:accent4>
        <a:accent5>
          <a:srgbClr val="F6BCAE"/>
        </a:accent5>
        <a:accent6>
          <a:srgbClr val="AFC329"/>
        </a:accent6>
        <a:hlink>
          <a:srgbClr val="F19545"/>
        </a:hlink>
        <a:folHlink>
          <a:srgbClr val="EAEAEA"/>
        </a:folHlink>
      </a:clrScheme>
      <a:clrMap bg1="lt1" tx1="dk1" bg2="lt2" tx2="dk2" accent1="accent1" accent2="accent2" accent3="accent3" accent4="accent4" accent5="accent5" accent6="accent6" hlink="hlink" folHlink="folHlink"/>
    </a:extraClrScheme>
    <a:extraClrScheme>
      <a:clrScheme name="template 11">
        <a:dk1>
          <a:srgbClr val="4D4D4D"/>
        </a:dk1>
        <a:lt1>
          <a:srgbClr val="FFFFFF"/>
        </a:lt1>
        <a:dk2>
          <a:srgbClr val="000000"/>
        </a:dk2>
        <a:lt2>
          <a:srgbClr val="406910"/>
        </a:lt2>
        <a:accent1>
          <a:srgbClr val="D04611"/>
        </a:accent1>
        <a:accent2>
          <a:srgbClr val="77BB0F"/>
        </a:accent2>
        <a:accent3>
          <a:srgbClr val="FFFFFF"/>
        </a:accent3>
        <a:accent4>
          <a:srgbClr val="404040"/>
        </a:accent4>
        <a:accent5>
          <a:srgbClr val="E4B0AA"/>
        </a:accent5>
        <a:accent6>
          <a:srgbClr val="6BA90C"/>
        </a:accent6>
        <a:hlink>
          <a:srgbClr val="6CA2C7"/>
        </a:hlink>
        <a:folHlink>
          <a:srgbClr val="EAEAEA"/>
        </a:folHlink>
      </a:clrScheme>
      <a:clrMap bg1="lt1" tx1="dk1" bg2="lt2" tx2="dk2" accent1="accent1" accent2="accent2" accent3="accent3" accent4="accent4" accent5="accent5" accent6="accent6" hlink="hlink" folHlink="folHlink"/>
    </a:extraClrScheme>
    <a:extraClrScheme>
      <a:clrScheme name="template 12">
        <a:dk1>
          <a:srgbClr val="4D4D4D"/>
        </a:dk1>
        <a:lt1>
          <a:srgbClr val="FFFFFF"/>
        </a:lt1>
        <a:dk2>
          <a:srgbClr val="000000"/>
        </a:dk2>
        <a:lt2>
          <a:srgbClr val="506314"/>
        </a:lt2>
        <a:accent1>
          <a:srgbClr val="C0D532"/>
        </a:accent1>
        <a:accent2>
          <a:srgbClr val="7F9D1E"/>
        </a:accent2>
        <a:accent3>
          <a:srgbClr val="FFFFFF"/>
        </a:accent3>
        <a:accent4>
          <a:srgbClr val="404040"/>
        </a:accent4>
        <a:accent5>
          <a:srgbClr val="DCE7AD"/>
        </a:accent5>
        <a:accent6>
          <a:srgbClr val="728E1A"/>
        </a:accent6>
        <a:hlink>
          <a:srgbClr val="A5A5A5"/>
        </a:hlink>
        <a:folHlink>
          <a:srgbClr val="EAEAEA"/>
        </a:folHlink>
      </a:clrScheme>
      <a:clrMap bg1="lt1" tx1="dk1" bg2="lt2" tx2="dk2" accent1="accent1" accent2="accent2" accent3="accent3" accent4="accent4" accent5="accent5" accent6="accent6" hlink="hlink" folHlink="folHlink"/>
    </a:extraClrScheme>
    <a:extraClrScheme>
      <a:clrScheme name="template 13">
        <a:dk1>
          <a:srgbClr val="4D4D4D"/>
        </a:dk1>
        <a:lt1>
          <a:srgbClr val="FFFFFF"/>
        </a:lt1>
        <a:dk2>
          <a:srgbClr val="000000"/>
        </a:dk2>
        <a:lt2>
          <a:srgbClr val="506314"/>
        </a:lt2>
        <a:accent1>
          <a:srgbClr val="C0D532"/>
        </a:accent1>
        <a:accent2>
          <a:srgbClr val="7F9D1E"/>
        </a:accent2>
        <a:accent3>
          <a:srgbClr val="FFFFFF"/>
        </a:accent3>
        <a:accent4>
          <a:srgbClr val="404040"/>
        </a:accent4>
        <a:accent5>
          <a:srgbClr val="DCE7AD"/>
        </a:accent5>
        <a:accent6>
          <a:srgbClr val="728E1A"/>
        </a:accent6>
        <a:hlink>
          <a:srgbClr val="336600"/>
        </a:hlink>
        <a:folHlink>
          <a:srgbClr val="EAEAEA"/>
        </a:folHlink>
      </a:clrScheme>
      <a:clrMap bg1="lt1" tx1="dk1" bg2="lt2" tx2="dk2" accent1="accent1" accent2="accent2" accent3="accent3" accent4="accent4" accent5="accent5" accent6="accent6" hlink="hlink" folHlink="folHlink"/>
    </a:extraClrScheme>
    <a:extraClrScheme>
      <a:clrScheme name="template 14">
        <a:dk1>
          <a:srgbClr val="4D4D4D"/>
        </a:dk1>
        <a:lt1>
          <a:srgbClr val="FFFFFF"/>
        </a:lt1>
        <a:dk2>
          <a:srgbClr val="000000"/>
        </a:dk2>
        <a:lt2>
          <a:srgbClr val="506314"/>
        </a:lt2>
        <a:accent1>
          <a:srgbClr val="C0D532"/>
        </a:accent1>
        <a:accent2>
          <a:srgbClr val="7F9D1E"/>
        </a:accent2>
        <a:accent3>
          <a:srgbClr val="FFFFFF"/>
        </a:accent3>
        <a:accent4>
          <a:srgbClr val="404040"/>
        </a:accent4>
        <a:accent5>
          <a:srgbClr val="DCE7AD"/>
        </a:accent5>
        <a:accent6>
          <a:srgbClr val="728E1A"/>
        </a:accent6>
        <a:hlink>
          <a:srgbClr val="8CA824"/>
        </a:hlink>
        <a:folHlink>
          <a:srgbClr val="EAEAEA"/>
        </a:folHlink>
      </a:clrScheme>
      <a:clrMap bg1="lt1" tx1="dk1" bg2="lt2" tx2="dk2" accent1="accent1" accent2="accent2" accent3="accent3" accent4="accent4" accent5="accent5" accent6="accent6" hlink="hlink" folHlink="folHlink"/>
    </a:extraClrScheme>
    <a:extraClrScheme>
      <a:clrScheme name="template 15">
        <a:dk1>
          <a:srgbClr val="4D4D4D"/>
        </a:dk1>
        <a:lt1>
          <a:srgbClr val="FFFFFF"/>
        </a:lt1>
        <a:dk2>
          <a:srgbClr val="000000"/>
        </a:dk2>
        <a:lt2>
          <a:srgbClr val="197B00"/>
        </a:lt2>
        <a:accent1>
          <a:srgbClr val="407400"/>
        </a:accent1>
        <a:accent2>
          <a:srgbClr val="A1E451"/>
        </a:accent2>
        <a:accent3>
          <a:srgbClr val="FFFFFF"/>
        </a:accent3>
        <a:accent4>
          <a:srgbClr val="404040"/>
        </a:accent4>
        <a:accent5>
          <a:srgbClr val="AFBCAA"/>
        </a:accent5>
        <a:accent6>
          <a:srgbClr val="91CF49"/>
        </a:accent6>
        <a:hlink>
          <a:srgbClr val="339A0E"/>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36029</TotalTime>
  <Words>3765</Words>
  <Application>Microsoft Office PowerPoint</Application>
  <PresentationFormat>On-screen Show (4:3)</PresentationFormat>
  <Paragraphs>2156</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Tahoma</vt:lpstr>
      <vt:lpstr>Times New Roman</vt:lpstr>
      <vt:lpstr>Wingdings</vt:lpstr>
      <vt:lpstr>template</vt:lpstr>
      <vt:lpstr>Soil microbiome classification using - Random Forest and SVM - SHAP and SHAPG</vt:lpstr>
      <vt:lpstr>Overview (Taken from Prof. Marroni’s instructions)</vt:lpstr>
      <vt:lpstr>Quick Review on SHAP plots</vt:lpstr>
      <vt:lpstr>Important Points</vt:lpstr>
      <vt:lpstr>Methodology’s Workflow</vt:lpstr>
      <vt:lpstr>Methodology’s Workflow</vt:lpstr>
      <vt:lpstr>Number of Features after Removing Zero-importance Features</vt:lpstr>
      <vt:lpstr>Accuracy results of Random Forest per each dataset (Feature selection/reduction applied)</vt:lpstr>
      <vt:lpstr>Accuracy results of LSVM per each dataset (Feature selection/reduction applied)</vt:lpstr>
      <vt:lpstr>List of Top 20 SHAP Features for Aviti, Random Forest</vt:lpstr>
      <vt:lpstr>Boxplot of the Soil features abundance for Aviti, Random Forest</vt:lpstr>
      <vt:lpstr>List of Top 20 SHAP Features for Miseq, Random Forest</vt:lpstr>
      <vt:lpstr>Boxplot of the Soil features abundance for Miseq, Random Forest</vt:lpstr>
      <vt:lpstr>List of Top 20 SHAP Features for Novaseq, Random Forest</vt:lpstr>
      <vt:lpstr>Boxplot of the Soil features abundance for Novaseq, Random Forest</vt:lpstr>
      <vt:lpstr>List of Top 20 SHAP Features for Aviti, LSVM</vt:lpstr>
      <vt:lpstr>Boxplot of the Soil features abundance for Aviti, LSVM</vt:lpstr>
      <vt:lpstr>List of Top 20 SHAP Features for Miseq, LSVM</vt:lpstr>
      <vt:lpstr>Boxplot of the Soil features abundance for Miseq, LSVM</vt:lpstr>
      <vt:lpstr>List of Top 20 SHAP Features for Novaseq, LSVM</vt:lpstr>
      <vt:lpstr>Boxplot of the Soil features abundance for Novaseq, LSVM</vt:lpstr>
      <vt:lpstr>PowerPoint Presentation</vt:lpstr>
      <vt:lpstr>Accuracy results of Random Forest per each dataset (Feature selection/reduction applied)</vt:lpstr>
      <vt:lpstr>Accuracy results of LSVM per each dataset (Feature selection/reduction applied)</vt:lpstr>
      <vt:lpstr>List of Top 20 SHAPG Features for Aviti, Random Forest</vt:lpstr>
      <vt:lpstr>Boxplot of the Soil  shapG features abundance for Aviti, Random Forest</vt:lpstr>
      <vt:lpstr>PowerPoint Presentation</vt:lpstr>
      <vt:lpstr>PowerPoint Presentation</vt:lpstr>
      <vt:lpstr>List of Top 20 SHAPG Features for Novaseq, Random Forest</vt:lpstr>
      <vt:lpstr>Boxplot of the Soil shapG features abundance for Novaseq, Random Forest</vt:lpstr>
      <vt:lpstr>List of Top 20 SHAPG Features for Aviti, LSVM</vt:lpstr>
      <vt:lpstr>Boxplot of the Soil shapG features abundance for Aviti, LSVM</vt:lpstr>
      <vt:lpstr>List of Top 20 SHAPG Features for Miseq, LSVM</vt:lpstr>
      <vt:lpstr>Boxplot of the Soil shapG features abundance for Miseq, LSVM</vt:lpstr>
      <vt:lpstr>List of Top 20 SHAPG Features for Novaseq, LSVM</vt:lpstr>
      <vt:lpstr>Boxplot of the Soil shapG features abundance for Novaseq, LSVM</vt:lpstr>
      <vt:lpstr>PowerPoint Presentation</vt:lpstr>
    </vt:vector>
  </TitlesOfParts>
  <Company>diakov.net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Soil microbiome classification using Random Forest</dc:title>
  <dc:creator>Fa Hass</dc:creator>
  <cp:lastModifiedBy>Fa Hass</cp:lastModifiedBy>
  <cp:revision>739</cp:revision>
  <dcterms:created xsi:type="dcterms:W3CDTF">2025-06-30T16:28:59Z</dcterms:created>
  <dcterms:modified xsi:type="dcterms:W3CDTF">2026-06-01T22:59:24Z</dcterms:modified>
</cp:coreProperties>
</file>